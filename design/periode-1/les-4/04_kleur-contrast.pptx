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bij les 4. Kleur is een van de krachtigste tools in design. Vandaag leren studenten hoe kleurtheorie werkt en hoe ze dat toepassen in hun goed doel project.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 de agenda kort door. Kleur is een breed onderwerp - vandaag richten we ons op praktische toepassing voor het goed doel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HSL is intuItiever dan RGB voor designers. Uitleggen: je kunt gewoon de L aanpassen voor lichtere/donkerdere varianten, of de S voor minder/meer levendige kleuren. Laat zien in Figma hoe de HSL sliders werken.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Toon voorbeelden van bekende merken bij elke harmonievorm. Aanvullend: Netflix (rood+zwart). Analoog: veel natuur-apps. Triadisch: kindgerichte merken. De 60/30/10 regel is een praktische vuistregel voor webdesign.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WCAG staat voor Web Content Accessibility Guidelines. Leg uit dat AA verplicht is voor overheidswebsites in Nederland en dat het goed doel project minimaal AA moet halen. Gebruik webaim.org/resources/contrastchecker live in de 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Semantische kleuren zijn kleuren met een vaste betekenis. Studenten kennen dit al van verkeerslichten. Op websites gebruiken we deze conventie consistent zodat gebruikers weten wat ze kunnen verwachten. Laat zien in voorbeelden van bekende websites.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shade systeem (50-900) komt uit Tailwind CSS en is de industriestandaard geworden. Studenten hoeven niet alle shades zelf te bedenken, ze kunnen dit als startpunt nemen en aanpassen. De 500 waarde is altijd de 'pure' merkkleur.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Neutrals worden vaak onderschat maar ze zijn net zo belangrijk als de merkkleur. Een warme neutral (licht bruin/beige tinten) past goed bij oranje of rode merkkleuren. Een koele neutral (licht blauwachtig) past goed bij blauw. Dit maakt het ontwerp samenhangend.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dit live zien in Figma. Open een lege file, maak een rechthoek, ga naar Fill, klik het vierkantje en maak een stijl brand/primary. Wissel dan naar een andere rechthoek en laat zien hoe je dezelfde stijl kunt hergebruiken. Als je de stijl aanpast, update alles tegelijk.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het moment waarop studenten al moeten nadenken over hun specifieke goed doel. Vraag een paar studenten wat hun goed doel is en bespreek samen welke kleur daarbij past. Laat studenten coolors.co openen op hun eigen laptop.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Geef studenten 8-10 minuten voor deze opdrachten. Loop rond en help waar nodig. Bespreek daarna de bevindingen klassikaal. Vraag wie er een contrast ratio gevonden heeft die niet AA haalt - dat komt vaker voor dan je denkt.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Kleurpsychologie is cultureel bepaald, maar in westerse context zijn deze associaties vrij consistent. Vraag studenten: welke kleur past bij jullie goed doel? Een voedselbank heeft andere behoeften dan een kinderhospitaal of een milieuorganisatie.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Deel deze links ook in de Brightspace pagina voor les 4 zodat studenten thuis kunnen oefenen. Coolors en ColorHunt zijn goede starters voor studenten die moeite hebben met kleurkeuzes.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de huiswerkopdracht. Leg nadruk op stap 5: het contrast checken. Veel studenten vergeten dit en kiezen kleuren die niet voldoen. Stap 6 (Figma stijlen) is ook nieuw - loop hier kort doorheen aan het einde van de 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Sluit af met enthousiasme voor les 5. Componenten en design systems zijn het fundament van moderne UI design - het wordt duidelijk waarom we al die basis-theorie nodig hadden. Zorg dat studenten hun kleurpalet af hebben want dat gaan we in les 5 direct gebruiken.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64592" cy="6858000"/>
          </a:xfrm>
          <a:prstGeom prst="rect">
            <a:avLst/>
          </a:prstGeom>
          <a:gradFill rotWithShape="1">
            <a:gsLst>
              <a:gs pos="0">
                <a:srgbClr val="EA580C"/>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7772400" cy="2286000"/>
          </a:xfrm>
          <a:prstGeom prst="rect">
            <a:avLst/>
          </a:prstGeom>
          <a:noFill/>
        </p:spPr>
        <p:txBody>
          <a:bodyPr wrap="square">
            <a:spAutoFit/>
          </a:bodyPr>
          <a:lstStyle/>
          <a:p>
            <a:pPr algn="l"/>
            <a:r>
              <a:rPr sz="5600" b="1" i="0">
                <a:solidFill>
                  <a:srgbClr val="FFFFFF"/>
                </a:solidFill>
                <a:latin typeface="Calibri"/>
              </a:rPr>
              <a:t>Kleur
en Contrast</a:t>
            </a:r>
          </a:p>
        </p:txBody>
      </p:sp>
      <p:sp>
        <p:nvSpPr>
          <p:cNvPr id="5" name="Rectangle 4"/>
          <p:cNvSpPr/>
          <p:nvPr/>
        </p:nvSpPr>
        <p:spPr>
          <a:xfrm>
            <a:off x="914400" y="3337560"/>
            <a:ext cx="2743200" cy="91440"/>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520440"/>
            <a:ext cx="7315200" cy="457200"/>
          </a:xfrm>
          <a:prstGeom prst="rect">
            <a:avLst/>
          </a:prstGeom>
          <a:noFill/>
        </p:spPr>
        <p:txBody>
          <a:bodyPr wrap="square">
            <a:spAutoFit/>
          </a:bodyPr>
          <a:lstStyle/>
          <a:p>
            <a:pPr algn="l"/>
            <a:r>
              <a:rPr sz="1800" b="0" i="0">
                <a:solidFill>
                  <a:srgbClr val="C8C8E6"/>
                </a:solidFill>
                <a:latin typeface="Calibri"/>
              </a:rPr>
              <a:t>Periode 1 . Les 4</a:t>
            </a:r>
          </a:p>
        </p:txBody>
      </p:sp>
      <p:sp>
        <p:nvSpPr>
          <p:cNvPr id="7" name="TextBox 6"/>
          <p:cNvSpPr txBox="1"/>
          <p:nvPr/>
        </p:nvSpPr>
        <p:spPr>
          <a:xfrm>
            <a:off x="914400" y="4069080"/>
            <a:ext cx="8229600" cy="548640"/>
          </a:xfrm>
          <a:prstGeom prst="rect">
            <a:avLst/>
          </a:prstGeom>
          <a:noFill/>
        </p:spPr>
        <p:txBody>
          <a:bodyPr wrap="square">
            <a:spAutoFit/>
          </a:bodyPr>
          <a:lstStyle/>
          <a:p>
            <a:pPr algn="l"/>
            <a:r>
              <a:rPr sz="2000" b="0" i="1">
                <a:solidFill>
                  <a:srgbClr val="F0D2B4"/>
                </a:solidFill>
                <a:latin typeface="Calibri"/>
              </a:rPr>
              <a:t>Hoe kleur emotie en hierarchie stuurt</a:t>
            </a:r>
          </a:p>
        </p:txBody>
      </p:sp>
      <p:sp>
        <p:nvSpPr>
          <p:cNvPr id="8" name="Oval 7"/>
          <p:cNvSpPr/>
          <p:nvPr/>
        </p:nvSpPr>
        <p:spPr>
          <a:xfrm>
            <a:off x="10625328" y="5321808"/>
            <a:ext cx="329184" cy="329184"/>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228832" y="5010912"/>
            <a:ext cx="219456" cy="219456"/>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Vandaag</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Les 4: Kleur en Contrast</a:t>
            </a:r>
          </a:p>
        </p:txBody>
      </p:sp>
      <p:sp>
        <p:nvSpPr>
          <p:cNvPr id="6" name="Oval 5"/>
          <p:cNvSpPr/>
          <p:nvPr/>
        </p:nvSpPr>
        <p:spPr>
          <a:xfrm>
            <a:off x="1088136" y="1883664"/>
            <a:ext cx="292608" cy="2926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08760" y="1828800"/>
            <a:ext cx="4389120" cy="1097280"/>
          </a:xfrm>
          <a:prstGeom prst="rect">
            <a:avLst/>
          </a:prstGeom>
          <a:noFill/>
        </p:spPr>
        <p:txBody>
          <a:bodyPr wrap="square">
            <a:spAutoFit/>
          </a:bodyPr>
          <a:lstStyle/>
          <a:p>
            <a:pPr algn="l"/>
            <a:r>
              <a:rPr sz="1700" b="0" i="0">
                <a:solidFill>
                  <a:srgbClr val="0F172A"/>
                </a:solidFill>
                <a:latin typeface="Calibri"/>
              </a:rPr>
              <a:t>1. Kleurmodel: RGB, HSL en het kleurwiel</a:t>
            </a:r>
          </a:p>
        </p:txBody>
      </p:sp>
      <p:sp>
        <p:nvSpPr>
          <p:cNvPr id="8" name="Oval 7"/>
          <p:cNvSpPr/>
          <p:nvPr/>
        </p:nvSpPr>
        <p:spPr>
          <a:xfrm>
            <a:off x="1088136" y="3209544"/>
            <a:ext cx="292608" cy="29260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3154680"/>
            <a:ext cx="4389120" cy="1097280"/>
          </a:xfrm>
          <a:prstGeom prst="rect">
            <a:avLst/>
          </a:prstGeom>
          <a:noFill/>
        </p:spPr>
        <p:txBody>
          <a:bodyPr wrap="square">
            <a:spAutoFit/>
          </a:bodyPr>
          <a:lstStyle/>
          <a:p>
            <a:pPr algn="l"/>
            <a:r>
              <a:rPr sz="1700" b="0" i="0">
                <a:solidFill>
                  <a:srgbClr val="0F172A"/>
                </a:solidFill>
                <a:latin typeface="Calibri"/>
              </a:rPr>
              <a:t>2. Kleurharmonie: welke combinaties werken</a:t>
            </a:r>
          </a:p>
        </p:txBody>
      </p:sp>
      <p:sp>
        <p:nvSpPr>
          <p:cNvPr id="10" name="Oval 9"/>
          <p:cNvSpPr/>
          <p:nvPr/>
        </p:nvSpPr>
        <p:spPr>
          <a:xfrm>
            <a:off x="1088136" y="4535424"/>
            <a:ext cx="292608" cy="29260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8760" y="4480560"/>
            <a:ext cx="4389120" cy="1097280"/>
          </a:xfrm>
          <a:prstGeom prst="rect">
            <a:avLst/>
          </a:prstGeom>
          <a:noFill/>
        </p:spPr>
        <p:txBody>
          <a:bodyPr wrap="square">
            <a:spAutoFit/>
          </a:bodyPr>
          <a:lstStyle/>
          <a:p>
            <a:pPr algn="l"/>
            <a:r>
              <a:rPr sz="1700" b="0" i="0">
                <a:solidFill>
                  <a:srgbClr val="0F172A"/>
                </a:solidFill>
                <a:latin typeface="Calibri"/>
              </a:rPr>
              <a:t>3. WCAG contrast ratios voor toegankelijkheid</a:t>
            </a:r>
          </a:p>
        </p:txBody>
      </p:sp>
      <p:sp>
        <p:nvSpPr>
          <p:cNvPr id="12" name="Oval 11"/>
          <p:cNvSpPr/>
          <p:nvPr/>
        </p:nvSpPr>
        <p:spPr>
          <a:xfrm>
            <a:off x="6391656" y="1883664"/>
            <a:ext cx="292608" cy="29260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1828800"/>
            <a:ext cx="4389120" cy="1097280"/>
          </a:xfrm>
          <a:prstGeom prst="rect">
            <a:avLst/>
          </a:prstGeom>
          <a:noFill/>
        </p:spPr>
        <p:txBody>
          <a:bodyPr wrap="square">
            <a:spAutoFit/>
          </a:bodyPr>
          <a:lstStyle/>
          <a:p>
            <a:pPr algn="l"/>
            <a:r>
              <a:rPr sz="1700" b="0" i="0">
                <a:solidFill>
                  <a:srgbClr val="0F172A"/>
                </a:solidFill>
                <a:latin typeface="Calibri"/>
              </a:rPr>
              <a:t>4. Semantische kleuren: success, error, warning</a:t>
            </a:r>
          </a:p>
        </p:txBody>
      </p:sp>
      <p:sp>
        <p:nvSpPr>
          <p:cNvPr id="14" name="Oval 13"/>
          <p:cNvSpPr/>
          <p:nvPr/>
        </p:nvSpPr>
        <p:spPr>
          <a:xfrm>
            <a:off x="6391656" y="3209544"/>
            <a:ext cx="292608" cy="29260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3154680"/>
            <a:ext cx="4389120" cy="1097280"/>
          </a:xfrm>
          <a:prstGeom prst="rect">
            <a:avLst/>
          </a:prstGeom>
          <a:noFill/>
        </p:spPr>
        <p:txBody>
          <a:bodyPr wrap="square">
            <a:spAutoFit/>
          </a:bodyPr>
          <a:lstStyle/>
          <a:p>
            <a:pPr algn="l"/>
            <a:r>
              <a:rPr sz="1700" b="0" i="0">
                <a:solidFill>
                  <a:srgbClr val="0F172A"/>
                </a:solidFill>
                <a:latin typeface="Calibri"/>
              </a:rPr>
              <a:t>5. Kleurpaletten opzetten met shades</a:t>
            </a:r>
          </a:p>
        </p:txBody>
      </p:sp>
      <p:sp>
        <p:nvSpPr>
          <p:cNvPr id="16" name="Oval 15"/>
          <p:cNvSpPr/>
          <p:nvPr/>
        </p:nvSpPr>
        <p:spPr>
          <a:xfrm>
            <a:off x="6391656" y="4535424"/>
            <a:ext cx="292608" cy="29260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4480560"/>
            <a:ext cx="4389120" cy="1097280"/>
          </a:xfrm>
          <a:prstGeom prst="rect">
            <a:avLst/>
          </a:prstGeom>
          <a:noFill/>
        </p:spPr>
        <p:txBody>
          <a:bodyPr wrap="square">
            <a:spAutoFit/>
          </a:bodyPr>
          <a:lstStyle/>
          <a:p>
            <a:pPr algn="l"/>
            <a:r>
              <a:rPr sz="1700" b="0" i="0">
                <a:solidFill>
                  <a:srgbClr val="0F172A"/>
                </a:solidFill>
                <a:latin typeface="Calibri"/>
              </a:rPr>
              <a:t>6. Figma: kleurstijlen instellen voor het project</a:t>
            </a:r>
          </a:p>
        </p:txBody>
      </p:sp>
      <p:sp>
        <p:nvSpPr>
          <p:cNvPr id="18" name="TextBox 17"/>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5486400" cy="6858000"/>
          </a:xfrm>
          <a:prstGeom prst="rect">
            <a:avLst/>
          </a:prstGeom>
          <a:solidFill>
            <a:srgbClr val="0C1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10972800" cy="731520"/>
          </a:xfrm>
          <a:prstGeom prst="rect">
            <a:avLst/>
          </a:prstGeom>
          <a:noFill/>
        </p:spPr>
        <p:txBody>
          <a:bodyPr wrap="square">
            <a:spAutoFit/>
          </a:bodyPr>
          <a:lstStyle/>
          <a:p>
            <a:pPr algn="l"/>
            <a:r>
              <a:rPr sz="3200" b="1" i="0">
                <a:solidFill>
                  <a:srgbClr val="FFFFFF"/>
                </a:solidFill>
                <a:latin typeface="Calibri"/>
              </a:rPr>
              <a:t>Het kleurwiel en HSL</a:t>
            </a:r>
          </a:p>
        </p:txBody>
      </p:sp>
      <p:sp>
        <p:nvSpPr>
          <p:cNvPr id="5" name="Rectangle 4"/>
          <p:cNvSpPr/>
          <p:nvPr/>
        </p:nvSpPr>
        <p:spPr>
          <a:xfrm>
            <a:off x="365760" y="1078992"/>
            <a:ext cx="1828800" cy="64008"/>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04288" y="2075688"/>
            <a:ext cx="694944" cy="694944"/>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531723" y="2784348"/>
            <a:ext cx="694944" cy="694944"/>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531723" y="4201668"/>
            <a:ext cx="694944" cy="694944"/>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304288" y="4910328"/>
            <a:ext cx="694944" cy="694944"/>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76852" y="4201668"/>
            <a:ext cx="694944" cy="69494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6852" y="2784348"/>
            <a:ext cx="694944" cy="69494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50592" y="2926080"/>
            <a:ext cx="402336" cy="402336"/>
          </a:xfrm>
          <a:prstGeom prst="ellipse">
            <a:avLst/>
          </a:prstGeom>
          <a:solidFill>
            <a:srgbClr val="FCA5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068269" y="3282696"/>
            <a:ext cx="402336" cy="402336"/>
          </a:xfrm>
          <a:prstGeom prst="ellipse">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8269" y="3995928"/>
            <a:ext cx="402336" cy="402336"/>
          </a:xfrm>
          <a:prstGeom prst="ellipse">
            <a:avLst/>
          </a:prstGeom>
          <a:solidFill>
            <a:srgbClr val="FDE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450592" y="4352544"/>
            <a:ext cx="402336" cy="402336"/>
          </a:xfrm>
          <a:prstGeom prst="ellipse">
            <a:avLst/>
          </a:prstGeom>
          <a:solidFill>
            <a:srgbClr val="86EF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32914" y="3995928"/>
            <a:ext cx="402336" cy="402336"/>
          </a:xfrm>
          <a:prstGeom prst="ellipse">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832914" y="3282696"/>
            <a:ext cx="402336" cy="402336"/>
          </a:xfrm>
          <a:prstGeom prst="ellipse">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468880" y="365760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126480"/>
            <a:ext cx="4572000" cy="457200"/>
          </a:xfrm>
          <a:prstGeom prst="rect">
            <a:avLst/>
          </a:prstGeom>
          <a:noFill/>
        </p:spPr>
        <p:txBody>
          <a:bodyPr wrap="square">
            <a:spAutoFit/>
          </a:bodyPr>
          <a:lstStyle/>
          <a:p>
            <a:pPr algn="ctr"/>
            <a:r>
              <a:rPr sz="1300" b="0" i="1">
                <a:solidFill>
                  <a:srgbClr val="B4BEDC"/>
                </a:solidFill>
                <a:latin typeface="Calibri"/>
              </a:rPr>
              <a:t>Het kleurwiel</a:t>
            </a:r>
          </a:p>
        </p:txBody>
      </p:sp>
      <p:sp>
        <p:nvSpPr>
          <p:cNvPr id="20" name="TextBox 19"/>
          <p:cNvSpPr txBox="1"/>
          <p:nvPr/>
        </p:nvSpPr>
        <p:spPr>
          <a:xfrm>
            <a:off x="5760720" y="1371600"/>
            <a:ext cx="5943600" cy="640080"/>
          </a:xfrm>
          <a:prstGeom prst="rect">
            <a:avLst/>
          </a:prstGeom>
          <a:noFill/>
        </p:spPr>
        <p:txBody>
          <a:bodyPr wrap="square">
            <a:spAutoFit/>
          </a:bodyPr>
          <a:lstStyle/>
          <a:p>
            <a:pPr algn="l"/>
            <a:r>
              <a:rPr sz="2600" b="1" i="0">
                <a:solidFill>
                  <a:srgbClr val="0F172A"/>
                </a:solidFill>
                <a:latin typeface="Calibri"/>
              </a:rPr>
              <a:t>Het HSL model</a:t>
            </a:r>
          </a:p>
        </p:txBody>
      </p:sp>
      <p:sp>
        <p:nvSpPr>
          <p:cNvPr id="21" name="Oval 20"/>
          <p:cNvSpPr/>
          <p:nvPr/>
        </p:nvSpPr>
        <p:spPr>
          <a:xfrm>
            <a:off x="5861304" y="2203704"/>
            <a:ext cx="256032" cy="256032"/>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2148840"/>
            <a:ext cx="5303520" cy="411480"/>
          </a:xfrm>
          <a:prstGeom prst="rect">
            <a:avLst/>
          </a:prstGeom>
          <a:noFill/>
        </p:spPr>
        <p:txBody>
          <a:bodyPr wrap="square">
            <a:spAutoFit/>
          </a:bodyPr>
          <a:lstStyle/>
          <a:p>
            <a:pPr algn="l"/>
            <a:r>
              <a:rPr sz="1700" b="1" i="0">
                <a:solidFill>
                  <a:srgbClr val="0F172A"/>
                </a:solidFill>
                <a:latin typeface="Calibri"/>
              </a:rPr>
              <a:t>H = Hue (tint)</a:t>
            </a:r>
          </a:p>
        </p:txBody>
      </p:sp>
      <p:sp>
        <p:nvSpPr>
          <p:cNvPr id="23" name="TextBox 22"/>
          <p:cNvSpPr txBox="1"/>
          <p:nvPr/>
        </p:nvSpPr>
        <p:spPr>
          <a:xfrm>
            <a:off x="6263640" y="2532888"/>
            <a:ext cx="5303520" cy="457200"/>
          </a:xfrm>
          <a:prstGeom prst="rect">
            <a:avLst/>
          </a:prstGeom>
          <a:noFill/>
        </p:spPr>
        <p:txBody>
          <a:bodyPr wrap="square">
            <a:spAutoFit/>
          </a:bodyPr>
          <a:lstStyle/>
          <a:p>
            <a:pPr algn="l"/>
            <a:r>
              <a:rPr sz="1400" b="0" i="0">
                <a:solidFill>
                  <a:srgbClr val="334155"/>
                </a:solidFill>
                <a:latin typeface="Calibri"/>
              </a:rPr>
              <a:t>0 tot 360 graden op het kleurwiel</a:t>
            </a:r>
          </a:p>
        </p:txBody>
      </p:sp>
      <p:sp>
        <p:nvSpPr>
          <p:cNvPr id="24" name="Oval 23"/>
          <p:cNvSpPr/>
          <p:nvPr/>
        </p:nvSpPr>
        <p:spPr>
          <a:xfrm>
            <a:off x="5861304" y="3392424"/>
            <a:ext cx="256032" cy="25603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3337560"/>
            <a:ext cx="5303520" cy="411480"/>
          </a:xfrm>
          <a:prstGeom prst="rect">
            <a:avLst/>
          </a:prstGeom>
          <a:noFill/>
        </p:spPr>
        <p:txBody>
          <a:bodyPr wrap="square">
            <a:spAutoFit/>
          </a:bodyPr>
          <a:lstStyle/>
          <a:p>
            <a:pPr algn="l"/>
            <a:r>
              <a:rPr sz="1700" b="1" i="0">
                <a:solidFill>
                  <a:srgbClr val="0F172A"/>
                </a:solidFill>
                <a:latin typeface="Calibri"/>
              </a:rPr>
              <a:t>S = Saturation (verzadiging)</a:t>
            </a:r>
          </a:p>
        </p:txBody>
      </p:sp>
      <p:sp>
        <p:nvSpPr>
          <p:cNvPr id="26" name="TextBox 25"/>
          <p:cNvSpPr txBox="1"/>
          <p:nvPr/>
        </p:nvSpPr>
        <p:spPr>
          <a:xfrm>
            <a:off x="6263640" y="3721608"/>
            <a:ext cx="5303520" cy="457200"/>
          </a:xfrm>
          <a:prstGeom prst="rect">
            <a:avLst/>
          </a:prstGeom>
          <a:noFill/>
        </p:spPr>
        <p:txBody>
          <a:bodyPr wrap="square">
            <a:spAutoFit/>
          </a:bodyPr>
          <a:lstStyle/>
          <a:p>
            <a:pPr algn="l"/>
            <a:r>
              <a:rPr sz="1400" b="0" i="0">
                <a:solidFill>
                  <a:srgbClr val="334155"/>
                </a:solidFill>
                <a:latin typeface="Calibri"/>
              </a:rPr>
              <a:t>0% grijs tot 100% volledig vol</a:t>
            </a:r>
          </a:p>
        </p:txBody>
      </p:sp>
      <p:sp>
        <p:nvSpPr>
          <p:cNvPr id="27" name="Oval 26"/>
          <p:cNvSpPr/>
          <p:nvPr/>
        </p:nvSpPr>
        <p:spPr>
          <a:xfrm>
            <a:off x="5861304" y="4581144"/>
            <a:ext cx="256032" cy="25603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4526280"/>
            <a:ext cx="5303520" cy="411480"/>
          </a:xfrm>
          <a:prstGeom prst="rect">
            <a:avLst/>
          </a:prstGeom>
          <a:noFill/>
        </p:spPr>
        <p:txBody>
          <a:bodyPr wrap="square">
            <a:spAutoFit/>
          </a:bodyPr>
          <a:lstStyle/>
          <a:p>
            <a:pPr algn="l"/>
            <a:r>
              <a:rPr sz="1700" b="1" i="0">
                <a:solidFill>
                  <a:srgbClr val="0F172A"/>
                </a:solidFill>
                <a:latin typeface="Calibri"/>
              </a:rPr>
              <a:t>L = Lightness (helderheid)</a:t>
            </a:r>
          </a:p>
        </p:txBody>
      </p:sp>
      <p:sp>
        <p:nvSpPr>
          <p:cNvPr id="29" name="TextBox 28"/>
          <p:cNvSpPr txBox="1"/>
          <p:nvPr/>
        </p:nvSpPr>
        <p:spPr>
          <a:xfrm>
            <a:off x="6263640" y="4910328"/>
            <a:ext cx="5303520" cy="457200"/>
          </a:xfrm>
          <a:prstGeom prst="rect">
            <a:avLst/>
          </a:prstGeom>
          <a:noFill/>
        </p:spPr>
        <p:txBody>
          <a:bodyPr wrap="square">
            <a:spAutoFit/>
          </a:bodyPr>
          <a:lstStyle/>
          <a:p>
            <a:pPr algn="l"/>
            <a:r>
              <a:rPr sz="1400" b="0" i="0">
                <a:solidFill>
                  <a:srgbClr val="334155"/>
                </a:solidFill>
                <a:latin typeface="Calibri"/>
              </a:rPr>
              <a:t>0% zwart tot 100% wit</a:t>
            </a:r>
          </a:p>
        </p:txBody>
      </p:sp>
      <p:sp>
        <p:nvSpPr>
          <p:cNvPr id="30" name="Rectangle 29"/>
          <p:cNvSpPr/>
          <p:nvPr/>
        </p:nvSpPr>
        <p:spPr>
          <a:xfrm>
            <a:off x="5760720" y="5486400"/>
            <a:ext cx="6080760"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25312" y="5577840"/>
            <a:ext cx="548640" cy="365760"/>
          </a:xfrm>
          <a:prstGeom prst="rect">
            <a:avLst/>
          </a:prstGeom>
          <a:noFill/>
        </p:spPr>
        <p:txBody>
          <a:bodyPr wrap="square">
            <a:spAutoFit/>
          </a:bodyPr>
          <a:lstStyle/>
          <a:p>
            <a:pPr algn="l"/>
            <a:r>
              <a:rPr sz="1400" b="1" i="0">
                <a:solidFill>
                  <a:srgbClr val="FFFFFF"/>
                </a:solidFill>
                <a:latin typeface="Calibri"/>
              </a:rPr>
              <a:t>Tip:</a:t>
            </a:r>
          </a:p>
        </p:txBody>
      </p:sp>
      <p:sp>
        <p:nvSpPr>
          <p:cNvPr id="32" name="TextBox 31"/>
          <p:cNvSpPr txBox="1"/>
          <p:nvPr/>
        </p:nvSpPr>
        <p:spPr>
          <a:xfrm>
            <a:off x="5925312" y="5833872"/>
            <a:ext cx="5751576" cy="530352"/>
          </a:xfrm>
          <a:prstGeom prst="rect">
            <a:avLst/>
          </a:prstGeom>
          <a:noFill/>
        </p:spPr>
        <p:txBody>
          <a:bodyPr wrap="square">
            <a:spAutoFit/>
          </a:bodyPr>
          <a:lstStyle/>
          <a:p>
            <a:pPr algn="l"/>
            <a:r>
              <a:rPr sz="1300" b="0" i="1">
                <a:solidFill>
                  <a:srgbClr val="FFFFFF"/>
                </a:solidFill>
                <a:latin typeface="Calibri"/>
              </a:rPr>
              <a:t>Gebruik HSL in CSS en Figma voor consistentere paletten dan met RGB</a:t>
            </a:r>
          </a:p>
        </p:txBody>
      </p:sp>
      <p:sp>
        <p:nvSpPr>
          <p:cNvPr id="33" name="TextBox 32"/>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Kleurharmonie: combinaties die werken</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49808" y="1600200"/>
            <a:ext cx="3520440" cy="47548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3520440" cy="411480"/>
          </a:xfrm>
          <a:prstGeom prst="rect">
            <a:avLst/>
          </a:prstGeom>
          <a:noFill/>
        </p:spPr>
        <p:txBody>
          <a:bodyPr wrap="square">
            <a:spAutoFit/>
          </a:bodyPr>
          <a:lstStyle/>
          <a:p>
            <a:pPr algn="ctr"/>
            <a:r>
              <a:rPr sz="2000" b="1" i="0">
                <a:solidFill>
                  <a:srgbClr val="FFFFFF"/>
                </a:solidFill>
                <a:latin typeface="Calibri"/>
              </a:rPr>
              <a:t>Aanvullend</a:t>
            </a:r>
          </a:p>
        </p:txBody>
      </p:sp>
      <p:sp>
        <p:nvSpPr>
          <p:cNvPr id="7" name="Rectangle 6"/>
          <p:cNvSpPr/>
          <p:nvPr/>
        </p:nvSpPr>
        <p:spPr>
          <a:xfrm>
            <a:off x="749808" y="2084831"/>
            <a:ext cx="3520440" cy="32918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176272"/>
            <a:ext cx="3355848" cy="2286000"/>
          </a:xfrm>
          <a:prstGeom prst="rect">
            <a:avLst/>
          </a:prstGeom>
          <a:noFill/>
        </p:spPr>
        <p:txBody>
          <a:bodyPr wrap="square">
            <a:spAutoFit/>
          </a:bodyPr>
          <a:lstStyle/>
          <a:p>
            <a:pPr>
              <a:spcBef>
                <a:spcPts val="800"/>
              </a:spcBef>
            </a:pPr>
            <a:r>
              <a:rPr sz="1400">
                <a:solidFill>
                  <a:srgbClr val="334155"/>
                </a:solidFill>
                <a:latin typeface="Calibri"/>
              </a:rPr>
              <a:t>  •  Tegenovergestelde kleuren op het wiel</a:t>
            </a:r>
          </a:p>
          <a:p>
            <a:pPr>
              <a:spcBef>
                <a:spcPts val="800"/>
              </a:spcBef>
            </a:pPr>
            <a:r>
              <a:rPr sz="1400">
                <a:solidFill>
                  <a:srgbClr val="334155"/>
                </a:solidFill>
                <a:latin typeface="Calibri"/>
              </a:rPr>
              <a:t>  •  Hoog contrast, krachtig en energiek</a:t>
            </a:r>
          </a:p>
          <a:p>
            <a:pPr>
              <a:spcBef>
                <a:spcPts val="800"/>
              </a:spcBef>
            </a:pPr>
            <a:r>
              <a:rPr sz="1400">
                <a:solidFill>
                  <a:srgbClr val="334155"/>
                </a:solidFill>
                <a:latin typeface="Calibri"/>
              </a:rPr>
              <a:t>  •  Goed voor accenten en call-to-action</a:t>
            </a:r>
          </a:p>
        </p:txBody>
      </p:sp>
      <p:sp>
        <p:nvSpPr>
          <p:cNvPr id="9" name="TextBox 8"/>
          <p:cNvSpPr txBox="1"/>
          <p:nvPr/>
        </p:nvSpPr>
        <p:spPr>
          <a:xfrm>
            <a:off x="859536" y="4315968"/>
            <a:ext cx="3355848" cy="502920"/>
          </a:xfrm>
          <a:prstGeom prst="rect">
            <a:avLst/>
          </a:prstGeom>
          <a:noFill/>
        </p:spPr>
        <p:txBody>
          <a:bodyPr wrap="square">
            <a:spAutoFit/>
          </a:bodyPr>
          <a:lstStyle/>
          <a:p>
            <a:pPr algn="l"/>
            <a:r>
              <a:rPr sz="1200" b="0" i="1">
                <a:solidFill>
                  <a:srgbClr val="647487"/>
                </a:solidFill>
                <a:latin typeface="Calibri"/>
              </a:rPr>
              <a:t>Bv. rood + groen, blauw + oranje</a:t>
            </a:r>
          </a:p>
        </p:txBody>
      </p:sp>
      <p:sp>
        <p:nvSpPr>
          <p:cNvPr id="10" name="Rectangle 9"/>
          <p:cNvSpPr/>
          <p:nvPr/>
        </p:nvSpPr>
        <p:spPr>
          <a:xfrm>
            <a:off x="4471416" y="1600200"/>
            <a:ext cx="3520440" cy="47548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1664208"/>
            <a:ext cx="3520440" cy="411480"/>
          </a:xfrm>
          <a:prstGeom prst="rect">
            <a:avLst/>
          </a:prstGeom>
          <a:noFill/>
        </p:spPr>
        <p:txBody>
          <a:bodyPr wrap="square">
            <a:spAutoFit/>
          </a:bodyPr>
          <a:lstStyle/>
          <a:p>
            <a:pPr algn="ctr"/>
            <a:r>
              <a:rPr sz="2000" b="1" i="0">
                <a:solidFill>
                  <a:srgbClr val="FFFFFF"/>
                </a:solidFill>
                <a:latin typeface="Calibri"/>
              </a:rPr>
              <a:t>Analoog</a:t>
            </a:r>
          </a:p>
        </p:txBody>
      </p:sp>
      <p:sp>
        <p:nvSpPr>
          <p:cNvPr id="12" name="Rectangle 11"/>
          <p:cNvSpPr/>
          <p:nvPr/>
        </p:nvSpPr>
        <p:spPr>
          <a:xfrm>
            <a:off x="4471416" y="2084831"/>
            <a:ext cx="3520440" cy="32918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176272"/>
            <a:ext cx="3355848" cy="2286000"/>
          </a:xfrm>
          <a:prstGeom prst="rect">
            <a:avLst/>
          </a:prstGeom>
          <a:noFill/>
        </p:spPr>
        <p:txBody>
          <a:bodyPr wrap="square">
            <a:spAutoFit/>
          </a:bodyPr>
          <a:lstStyle/>
          <a:p>
            <a:pPr>
              <a:spcBef>
                <a:spcPts val="800"/>
              </a:spcBef>
            </a:pPr>
            <a:r>
              <a:rPr sz="1400">
                <a:solidFill>
                  <a:srgbClr val="334155"/>
                </a:solidFill>
                <a:latin typeface="Calibri"/>
              </a:rPr>
              <a:t>  •  Kleuren naast elkaar op het wiel</a:t>
            </a:r>
          </a:p>
          <a:p>
            <a:pPr>
              <a:spcBef>
                <a:spcPts val="800"/>
              </a:spcBef>
            </a:pPr>
            <a:r>
              <a:rPr sz="1400">
                <a:solidFill>
                  <a:srgbClr val="334155"/>
                </a:solidFill>
                <a:latin typeface="Calibri"/>
              </a:rPr>
              <a:t>  •  Harmonieus en kalm gevoel</a:t>
            </a:r>
          </a:p>
          <a:p>
            <a:pPr>
              <a:spcBef>
                <a:spcPts val="800"/>
              </a:spcBef>
            </a:pPr>
            <a:r>
              <a:rPr sz="1400">
                <a:solidFill>
                  <a:srgbClr val="334155"/>
                </a:solidFill>
                <a:latin typeface="Calibri"/>
              </a:rPr>
              <a:t>  •  Populair in natuur-gerelateerde merken</a:t>
            </a:r>
          </a:p>
        </p:txBody>
      </p:sp>
      <p:sp>
        <p:nvSpPr>
          <p:cNvPr id="14" name="TextBox 13"/>
          <p:cNvSpPr txBox="1"/>
          <p:nvPr/>
        </p:nvSpPr>
        <p:spPr>
          <a:xfrm>
            <a:off x="4581144" y="4315968"/>
            <a:ext cx="3355848" cy="502920"/>
          </a:xfrm>
          <a:prstGeom prst="rect">
            <a:avLst/>
          </a:prstGeom>
          <a:noFill/>
        </p:spPr>
        <p:txBody>
          <a:bodyPr wrap="square">
            <a:spAutoFit/>
          </a:bodyPr>
          <a:lstStyle/>
          <a:p>
            <a:pPr algn="l"/>
            <a:r>
              <a:rPr sz="1200" b="0" i="1">
                <a:solidFill>
                  <a:srgbClr val="647487"/>
                </a:solidFill>
                <a:latin typeface="Calibri"/>
              </a:rPr>
              <a:t>Bv. geel + oranje + rood</a:t>
            </a:r>
          </a:p>
        </p:txBody>
      </p:sp>
      <p:sp>
        <p:nvSpPr>
          <p:cNvPr id="15" name="Rectangle 14"/>
          <p:cNvSpPr/>
          <p:nvPr/>
        </p:nvSpPr>
        <p:spPr>
          <a:xfrm>
            <a:off x="8193024" y="1600200"/>
            <a:ext cx="3520440" cy="4754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1664208"/>
            <a:ext cx="3520440" cy="411480"/>
          </a:xfrm>
          <a:prstGeom prst="rect">
            <a:avLst/>
          </a:prstGeom>
          <a:noFill/>
        </p:spPr>
        <p:txBody>
          <a:bodyPr wrap="square">
            <a:spAutoFit/>
          </a:bodyPr>
          <a:lstStyle/>
          <a:p>
            <a:pPr algn="ctr"/>
            <a:r>
              <a:rPr sz="2000" b="1" i="0">
                <a:solidFill>
                  <a:srgbClr val="FFFFFF"/>
                </a:solidFill>
                <a:latin typeface="Calibri"/>
              </a:rPr>
              <a:t>Triadisch</a:t>
            </a:r>
          </a:p>
        </p:txBody>
      </p:sp>
      <p:sp>
        <p:nvSpPr>
          <p:cNvPr id="17" name="Rectangle 16"/>
          <p:cNvSpPr/>
          <p:nvPr/>
        </p:nvSpPr>
        <p:spPr>
          <a:xfrm>
            <a:off x="8193024" y="2084831"/>
            <a:ext cx="3520440" cy="3291840"/>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176272"/>
            <a:ext cx="3355848" cy="2286000"/>
          </a:xfrm>
          <a:prstGeom prst="rect">
            <a:avLst/>
          </a:prstGeom>
          <a:noFill/>
        </p:spPr>
        <p:txBody>
          <a:bodyPr wrap="square">
            <a:spAutoFit/>
          </a:bodyPr>
          <a:lstStyle/>
          <a:p>
            <a:pPr>
              <a:spcBef>
                <a:spcPts val="800"/>
              </a:spcBef>
            </a:pPr>
            <a:r>
              <a:rPr sz="1400">
                <a:solidFill>
                  <a:srgbClr val="334155"/>
                </a:solidFill>
                <a:latin typeface="Calibri"/>
              </a:rPr>
              <a:t>  •  Drie kleuren op gelijke afstanden</a:t>
            </a:r>
          </a:p>
          <a:p>
            <a:pPr>
              <a:spcBef>
                <a:spcPts val="800"/>
              </a:spcBef>
            </a:pPr>
            <a:r>
              <a:rPr sz="1400">
                <a:solidFill>
                  <a:srgbClr val="334155"/>
                </a:solidFill>
                <a:latin typeface="Calibri"/>
              </a:rPr>
              <a:t>  •  Levendig maar evenwichtig</a:t>
            </a:r>
          </a:p>
          <a:p>
            <a:pPr>
              <a:spcBef>
                <a:spcPts val="800"/>
              </a:spcBef>
            </a:pPr>
            <a:r>
              <a:rPr sz="1400">
                <a:solidFill>
                  <a:srgbClr val="334155"/>
                </a:solidFill>
                <a:latin typeface="Calibri"/>
              </a:rPr>
              <a:t>  •  Werkt goed voor speelse merken</a:t>
            </a:r>
          </a:p>
        </p:txBody>
      </p:sp>
      <p:sp>
        <p:nvSpPr>
          <p:cNvPr id="19" name="TextBox 18"/>
          <p:cNvSpPr txBox="1"/>
          <p:nvPr/>
        </p:nvSpPr>
        <p:spPr>
          <a:xfrm>
            <a:off x="8302752" y="4315968"/>
            <a:ext cx="3355848" cy="502920"/>
          </a:xfrm>
          <a:prstGeom prst="rect">
            <a:avLst/>
          </a:prstGeom>
          <a:noFill/>
        </p:spPr>
        <p:txBody>
          <a:bodyPr wrap="square">
            <a:spAutoFit/>
          </a:bodyPr>
          <a:lstStyle/>
          <a:p>
            <a:pPr algn="l"/>
            <a:r>
              <a:rPr sz="1200" b="0" i="1">
                <a:solidFill>
                  <a:srgbClr val="647487"/>
                </a:solidFill>
                <a:latin typeface="Calibri"/>
              </a:rPr>
              <a:t>Bv. rood + blauw + geel</a:t>
            </a:r>
          </a:p>
        </p:txBody>
      </p:sp>
      <p:sp>
        <p:nvSpPr>
          <p:cNvPr id="20" name="Rectangle 19"/>
          <p:cNvSpPr/>
          <p:nvPr/>
        </p:nvSpPr>
        <p:spPr>
          <a:xfrm>
            <a:off x="749808" y="5532120"/>
            <a:ext cx="10698480" cy="841248"/>
          </a:xfrm>
          <a:prstGeom prst="rect">
            <a:avLst/>
          </a:prstGeom>
          <a:solidFill>
            <a:srgbClr val="FFF7ED"/>
          </a:solidFill>
          <a:ln w="9525">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623560"/>
            <a:ext cx="2011680" cy="365760"/>
          </a:xfrm>
          <a:prstGeom prst="rect">
            <a:avLst/>
          </a:prstGeom>
          <a:noFill/>
        </p:spPr>
        <p:txBody>
          <a:bodyPr wrap="square">
            <a:spAutoFit/>
          </a:bodyPr>
          <a:lstStyle/>
          <a:p>
            <a:pPr algn="l"/>
            <a:r>
              <a:rPr sz="1400" b="1" i="0">
                <a:solidFill>
                  <a:srgbClr val="EA580C"/>
                </a:solidFill>
                <a:latin typeface="Calibri"/>
              </a:rPr>
              <a:t>60/30/10 regel:</a:t>
            </a:r>
          </a:p>
        </p:txBody>
      </p:sp>
      <p:sp>
        <p:nvSpPr>
          <p:cNvPr id="22" name="TextBox 21"/>
          <p:cNvSpPr txBox="1"/>
          <p:nvPr/>
        </p:nvSpPr>
        <p:spPr>
          <a:xfrm>
            <a:off x="2852928" y="5623560"/>
            <a:ext cx="8412480" cy="548640"/>
          </a:xfrm>
          <a:prstGeom prst="rect">
            <a:avLst/>
          </a:prstGeom>
          <a:noFill/>
        </p:spPr>
        <p:txBody>
          <a:bodyPr wrap="square">
            <a:spAutoFit/>
          </a:bodyPr>
          <a:lstStyle/>
          <a:p>
            <a:pPr algn="l"/>
            <a:r>
              <a:rPr sz="1400" b="0" i="0">
                <a:solidFill>
                  <a:srgbClr val="334155"/>
                </a:solidFill>
                <a:latin typeface="Calibri"/>
              </a:rPr>
              <a:t>60% basiskleur, 30% aanvullende kleur, 10% accent. Dit zorgt voor balans zonder saai te zijn.</a:t>
            </a:r>
          </a:p>
        </p:txBody>
      </p:sp>
      <p:sp>
        <p:nvSpPr>
          <p:cNvPr id="23" name="TextBox 22"/>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WCAG contrast ratios</a:t>
            </a:r>
          </a:p>
        </p:txBody>
      </p:sp>
      <p:sp>
        <p:nvSpPr>
          <p:cNvPr id="4" name="Rectangle 3"/>
          <p:cNvSpPr/>
          <p:nvPr/>
        </p:nvSpPr>
        <p:spPr>
          <a:xfrm>
            <a:off x="914400" y="1298448"/>
            <a:ext cx="182880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F0D2B4"/>
                </a:solidFill>
                <a:latin typeface="Calibri"/>
              </a:rPr>
              <a:t>Toegankelijkheid begint bij leesbare tekst</a:t>
            </a:r>
          </a:p>
        </p:txBody>
      </p:sp>
      <p:sp>
        <p:nvSpPr>
          <p:cNvPr id="6" name="Rectangle 5"/>
          <p:cNvSpPr/>
          <p:nvPr/>
        </p:nvSpPr>
        <p:spPr>
          <a:xfrm>
            <a:off x="822960" y="1920240"/>
            <a:ext cx="4389120" cy="2743200"/>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114800" cy="457200"/>
          </a:xfrm>
          <a:prstGeom prst="rect">
            <a:avLst/>
          </a:prstGeom>
          <a:noFill/>
        </p:spPr>
        <p:txBody>
          <a:bodyPr wrap="square">
            <a:spAutoFit/>
          </a:bodyPr>
          <a:lstStyle/>
          <a:p>
            <a:pPr algn="l"/>
            <a:r>
              <a:rPr sz="1600" b="1" i="0">
                <a:solidFill>
                  <a:srgbClr val="B4C8FF"/>
                </a:solidFill>
                <a:latin typeface="Calibri"/>
              </a:rPr>
              <a:t>WCAG AA (minimaal)</a:t>
            </a:r>
          </a:p>
        </p:txBody>
      </p:sp>
      <p:sp>
        <p:nvSpPr>
          <p:cNvPr id="8" name="TextBox 7"/>
          <p:cNvSpPr txBox="1"/>
          <p:nvPr/>
        </p:nvSpPr>
        <p:spPr>
          <a:xfrm>
            <a:off x="960120" y="2514600"/>
            <a:ext cx="4114800" cy="1828800"/>
          </a:xfrm>
          <a:prstGeom prst="rect">
            <a:avLst/>
          </a:prstGeom>
          <a:noFill/>
        </p:spPr>
        <p:txBody>
          <a:bodyPr wrap="square">
            <a:spAutoFit/>
          </a:bodyPr>
          <a:lstStyle/>
          <a:p>
            <a:pPr>
              <a:spcBef>
                <a:spcPts val="1000"/>
              </a:spcBef>
            </a:pPr>
            <a:r>
              <a:rPr sz="1500">
                <a:solidFill>
                  <a:srgbClr val="FFFFFF"/>
                </a:solidFill>
                <a:latin typeface="Calibri"/>
              </a:rPr>
              <a:t>  •  Normale tekst: 4.5:1 ratio</a:t>
            </a:r>
          </a:p>
          <a:p>
            <a:pPr>
              <a:spcBef>
                <a:spcPts val="1000"/>
              </a:spcBef>
            </a:pPr>
            <a:r>
              <a:rPr sz="1500">
                <a:solidFill>
                  <a:srgbClr val="FFFFFF"/>
                </a:solidFill>
                <a:latin typeface="Calibri"/>
              </a:rPr>
              <a:t>  •  Grote tekst (18px+): 3:1 ratio</a:t>
            </a:r>
          </a:p>
          <a:p>
            <a:pPr>
              <a:spcBef>
                <a:spcPts val="1000"/>
              </a:spcBef>
            </a:pPr>
            <a:r>
              <a:rPr sz="1500">
                <a:solidFill>
                  <a:srgbClr val="FFFFFF"/>
                </a:solidFill>
                <a:latin typeface="Calibri"/>
              </a:rPr>
              <a:t>  •  UI componenten: 3:1 ratio</a:t>
            </a:r>
          </a:p>
        </p:txBody>
      </p:sp>
      <p:sp>
        <p:nvSpPr>
          <p:cNvPr id="9" name="Rectangle 8"/>
          <p:cNvSpPr/>
          <p:nvPr/>
        </p:nvSpPr>
        <p:spPr>
          <a:xfrm>
            <a:off x="5897880" y="1920240"/>
            <a:ext cx="4389120" cy="2743200"/>
          </a:xfrm>
          <a:prstGeom prst="rect">
            <a:avLst/>
          </a:prstGeom>
          <a:solidFill>
            <a:srgbClr val="14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011680"/>
            <a:ext cx="4114800" cy="457200"/>
          </a:xfrm>
          <a:prstGeom prst="rect">
            <a:avLst/>
          </a:prstGeom>
          <a:noFill/>
        </p:spPr>
        <p:txBody>
          <a:bodyPr wrap="square">
            <a:spAutoFit/>
          </a:bodyPr>
          <a:lstStyle/>
          <a:p>
            <a:pPr algn="l"/>
            <a:r>
              <a:rPr sz="1600" b="1" i="0">
                <a:solidFill>
                  <a:srgbClr val="B4FFC8"/>
                </a:solidFill>
                <a:latin typeface="Calibri"/>
              </a:rPr>
              <a:t>WCAG AAA (optimaal)</a:t>
            </a:r>
          </a:p>
        </p:txBody>
      </p:sp>
      <p:sp>
        <p:nvSpPr>
          <p:cNvPr id="11" name="TextBox 10"/>
          <p:cNvSpPr txBox="1"/>
          <p:nvPr/>
        </p:nvSpPr>
        <p:spPr>
          <a:xfrm>
            <a:off x="6035040" y="2514600"/>
            <a:ext cx="4114800" cy="1828800"/>
          </a:xfrm>
          <a:prstGeom prst="rect">
            <a:avLst/>
          </a:prstGeom>
          <a:noFill/>
        </p:spPr>
        <p:txBody>
          <a:bodyPr wrap="square">
            <a:spAutoFit/>
          </a:bodyPr>
          <a:lstStyle/>
          <a:p>
            <a:pPr>
              <a:spcBef>
                <a:spcPts val="1000"/>
              </a:spcBef>
            </a:pPr>
            <a:r>
              <a:rPr sz="1500">
                <a:solidFill>
                  <a:srgbClr val="FFFFFF"/>
                </a:solidFill>
                <a:latin typeface="Calibri"/>
              </a:rPr>
              <a:t>  •  Normale tekst: 7:1 ratio</a:t>
            </a:r>
          </a:p>
          <a:p>
            <a:pPr>
              <a:spcBef>
                <a:spcPts val="1000"/>
              </a:spcBef>
            </a:pPr>
            <a:r>
              <a:rPr sz="1500">
                <a:solidFill>
                  <a:srgbClr val="FFFFFF"/>
                </a:solidFill>
                <a:latin typeface="Calibri"/>
              </a:rPr>
              <a:t>  •  Grote tekst: 4.5:1 ratio</a:t>
            </a:r>
          </a:p>
          <a:p>
            <a:pPr>
              <a:spcBef>
                <a:spcPts val="1000"/>
              </a:spcBef>
            </a:pPr>
            <a:r>
              <a:rPr sz="1500">
                <a:solidFill>
                  <a:srgbClr val="FFFFFF"/>
                </a:solidFill>
                <a:latin typeface="Calibri"/>
              </a:rPr>
              <a:t>  •  Streef hiernaar voor body text</a:t>
            </a:r>
          </a:p>
        </p:txBody>
      </p:sp>
      <p:sp>
        <p:nvSpPr>
          <p:cNvPr id="12" name="Rectangle 11"/>
          <p:cNvSpPr/>
          <p:nvPr/>
        </p:nvSpPr>
        <p:spPr>
          <a:xfrm>
            <a:off x="10058400" y="1920240"/>
            <a:ext cx="1965960" cy="804672"/>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49840" y="2084832"/>
            <a:ext cx="1783080" cy="457200"/>
          </a:xfrm>
          <a:prstGeom prst="rect">
            <a:avLst/>
          </a:prstGeom>
          <a:noFill/>
        </p:spPr>
        <p:txBody>
          <a:bodyPr wrap="square">
            <a:spAutoFit/>
          </a:bodyPr>
          <a:lstStyle/>
          <a:p>
            <a:pPr algn="l"/>
            <a:r>
              <a:rPr sz="1300" b="1" i="0">
                <a:solidFill>
                  <a:srgbClr val="0F172A"/>
                </a:solidFill>
                <a:latin typeface="Calibri"/>
              </a:rPr>
              <a:t>Pass AAA: 15.8:1</a:t>
            </a:r>
          </a:p>
        </p:txBody>
      </p:sp>
      <p:sp>
        <p:nvSpPr>
          <p:cNvPr id="14" name="Rectangle 13"/>
          <p:cNvSpPr/>
          <p:nvPr/>
        </p:nvSpPr>
        <p:spPr>
          <a:xfrm>
            <a:off x="10058400" y="2834640"/>
            <a:ext cx="1965960" cy="804672"/>
          </a:xfrm>
          <a:prstGeom prst="rect">
            <a:avLst/>
          </a:prstGeom>
          <a:solidFill>
            <a:srgbClr val="DCE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49840" y="2999232"/>
            <a:ext cx="1783080" cy="457200"/>
          </a:xfrm>
          <a:prstGeom prst="rect">
            <a:avLst/>
          </a:prstGeom>
          <a:noFill/>
        </p:spPr>
        <p:txBody>
          <a:bodyPr wrap="square">
            <a:spAutoFit/>
          </a:bodyPr>
          <a:lstStyle/>
          <a:p>
            <a:pPr algn="l"/>
            <a:r>
              <a:rPr sz="1300" b="1" i="0">
                <a:solidFill>
                  <a:srgbClr val="334155"/>
                </a:solidFill>
                <a:latin typeface="Calibri"/>
              </a:rPr>
              <a:t>Pass AA: 4.8:1</a:t>
            </a:r>
          </a:p>
        </p:txBody>
      </p:sp>
      <p:sp>
        <p:nvSpPr>
          <p:cNvPr id="16" name="Rectangle 15"/>
          <p:cNvSpPr/>
          <p:nvPr/>
        </p:nvSpPr>
        <p:spPr>
          <a:xfrm>
            <a:off x="10058400" y="3749040"/>
            <a:ext cx="1965960" cy="804672"/>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49840" y="3913632"/>
            <a:ext cx="1783080" cy="457200"/>
          </a:xfrm>
          <a:prstGeom prst="rect">
            <a:avLst/>
          </a:prstGeom>
          <a:noFill/>
        </p:spPr>
        <p:txBody>
          <a:bodyPr wrap="square">
            <a:spAutoFit/>
          </a:bodyPr>
          <a:lstStyle/>
          <a:p>
            <a:pPr algn="l"/>
            <a:r>
              <a:rPr sz="1300" b="1" i="0">
                <a:solidFill>
                  <a:srgbClr val="A0AAB9"/>
                </a:solidFill>
                <a:latin typeface="Calibri"/>
              </a:rPr>
              <a:t>Fail: 2.1:1</a:t>
            </a:r>
          </a:p>
        </p:txBody>
      </p:sp>
      <p:sp>
        <p:nvSpPr>
          <p:cNvPr id="18" name="TextBox 17"/>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Semantische kleuren</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Kleur als communicatiemiddel</a:t>
            </a:r>
          </a:p>
        </p:txBody>
      </p:sp>
      <p:sp>
        <p:nvSpPr>
          <p:cNvPr id="6" name="Rectangle 5"/>
          <p:cNvSpPr/>
          <p:nvPr/>
        </p:nvSpPr>
        <p:spPr>
          <a:xfrm>
            <a:off x="914400" y="1600200"/>
            <a:ext cx="5212080" cy="210312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600200"/>
            <a:ext cx="64008" cy="2103120"/>
          </a:xfrm>
          <a:prstGeom prst="rect">
            <a:avLst/>
          </a:prstGeom>
          <a:gradFill rotWithShape="1">
            <a:gsLst>
              <a:gs pos="0">
                <a:srgbClr val="16A34A"/>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0704" y="1801368"/>
            <a:ext cx="402336" cy="402336"/>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1783080"/>
            <a:ext cx="4389120" cy="411480"/>
          </a:xfrm>
          <a:prstGeom prst="rect">
            <a:avLst/>
          </a:prstGeom>
          <a:noFill/>
        </p:spPr>
        <p:txBody>
          <a:bodyPr wrap="square">
            <a:spAutoFit/>
          </a:bodyPr>
          <a:lstStyle/>
          <a:p>
            <a:pPr algn="l"/>
            <a:r>
              <a:rPr sz="1800" b="1" i="0">
                <a:solidFill>
                  <a:srgbClr val="0F172A"/>
                </a:solidFill>
                <a:latin typeface="Calibri"/>
              </a:rPr>
              <a:t>Success</a:t>
            </a:r>
          </a:p>
        </p:txBody>
      </p:sp>
      <p:sp>
        <p:nvSpPr>
          <p:cNvPr id="10" name="TextBox 9"/>
          <p:cNvSpPr txBox="1"/>
          <p:nvPr/>
        </p:nvSpPr>
        <p:spPr>
          <a:xfrm>
            <a:off x="1143000" y="2240280"/>
            <a:ext cx="4828032" cy="411480"/>
          </a:xfrm>
          <a:prstGeom prst="rect">
            <a:avLst/>
          </a:prstGeom>
          <a:noFill/>
        </p:spPr>
        <p:txBody>
          <a:bodyPr wrap="square">
            <a:spAutoFit/>
          </a:bodyPr>
          <a:lstStyle/>
          <a:p>
            <a:pPr algn="l"/>
            <a:r>
              <a:rPr sz="1300" b="0" i="0">
                <a:solidFill>
                  <a:srgbClr val="334155"/>
                </a:solidFill>
                <a:latin typeface="Calibri"/>
              </a:rPr>
              <a:t>Bevestiging, opgeslagen, klaar</a:t>
            </a:r>
          </a:p>
        </p:txBody>
      </p:sp>
      <p:sp>
        <p:nvSpPr>
          <p:cNvPr id="11" name="Rectangle 10"/>
          <p:cNvSpPr/>
          <p:nvPr/>
        </p:nvSpPr>
        <p:spPr>
          <a:xfrm>
            <a:off x="1143000" y="2715768"/>
            <a:ext cx="4828032" cy="566928"/>
          </a:xfrm>
          <a:prstGeom prst="rect">
            <a:avLst/>
          </a:prstGeom>
          <a:solidFill>
            <a:srgbClr val="CCE8D6"/>
          </a:solidFill>
          <a:ln w="9525">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2788920"/>
            <a:ext cx="4690872" cy="411480"/>
          </a:xfrm>
          <a:prstGeom prst="rect">
            <a:avLst/>
          </a:prstGeom>
          <a:noFill/>
        </p:spPr>
        <p:txBody>
          <a:bodyPr wrap="square">
            <a:spAutoFit/>
          </a:bodyPr>
          <a:lstStyle/>
          <a:p>
            <a:pPr algn="l"/>
            <a:r>
              <a:rPr sz="1200" b="0" i="1">
                <a:solidFill>
                  <a:srgbClr val="16A34A"/>
                </a:solidFill>
                <a:latin typeface="Calibri"/>
              </a:rPr>
              <a:t>"Formulier succesvol verstuurd"</a:t>
            </a:r>
          </a:p>
        </p:txBody>
      </p:sp>
      <p:sp>
        <p:nvSpPr>
          <p:cNvPr id="13" name="Rectangle 12"/>
          <p:cNvSpPr/>
          <p:nvPr/>
        </p:nvSpPr>
        <p:spPr>
          <a:xfrm>
            <a:off x="6327648" y="1600200"/>
            <a:ext cx="5212080" cy="210312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27648" y="1600200"/>
            <a:ext cx="64008" cy="2103120"/>
          </a:xfrm>
          <a:prstGeom prst="rect">
            <a:avLst/>
          </a:prstGeom>
          <a:gradFill rotWithShape="1">
            <a:gsLst>
              <a:gs pos="0">
                <a:srgbClr val="DC2626"/>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73952" y="1801368"/>
            <a:ext cx="402336" cy="402336"/>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86016" y="1783080"/>
            <a:ext cx="4389120" cy="411480"/>
          </a:xfrm>
          <a:prstGeom prst="rect">
            <a:avLst/>
          </a:prstGeom>
          <a:noFill/>
        </p:spPr>
        <p:txBody>
          <a:bodyPr wrap="square">
            <a:spAutoFit/>
          </a:bodyPr>
          <a:lstStyle/>
          <a:p>
            <a:pPr algn="l"/>
            <a:r>
              <a:rPr sz="1800" b="1" i="0">
                <a:solidFill>
                  <a:srgbClr val="0F172A"/>
                </a:solidFill>
                <a:latin typeface="Calibri"/>
              </a:rPr>
              <a:t>Error</a:t>
            </a:r>
          </a:p>
        </p:txBody>
      </p:sp>
      <p:sp>
        <p:nvSpPr>
          <p:cNvPr id="17" name="TextBox 16"/>
          <p:cNvSpPr txBox="1"/>
          <p:nvPr/>
        </p:nvSpPr>
        <p:spPr>
          <a:xfrm>
            <a:off x="6556248" y="2240280"/>
            <a:ext cx="4828032" cy="411480"/>
          </a:xfrm>
          <a:prstGeom prst="rect">
            <a:avLst/>
          </a:prstGeom>
          <a:noFill/>
        </p:spPr>
        <p:txBody>
          <a:bodyPr wrap="square">
            <a:spAutoFit/>
          </a:bodyPr>
          <a:lstStyle/>
          <a:p>
            <a:pPr algn="l"/>
            <a:r>
              <a:rPr sz="1300" b="0" i="0">
                <a:solidFill>
                  <a:srgbClr val="334155"/>
                </a:solidFill>
                <a:latin typeface="Calibri"/>
              </a:rPr>
              <a:t>Fouten, validatie, blokkades</a:t>
            </a:r>
          </a:p>
        </p:txBody>
      </p:sp>
      <p:sp>
        <p:nvSpPr>
          <p:cNvPr id="18" name="Rectangle 17"/>
          <p:cNvSpPr/>
          <p:nvPr/>
        </p:nvSpPr>
        <p:spPr>
          <a:xfrm>
            <a:off x="6556248" y="2715768"/>
            <a:ext cx="4828032" cy="566928"/>
          </a:xfrm>
          <a:prstGeom prst="rect">
            <a:avLst/>
          </a:prstGeom>
          <a:solidFill>
            <a:srgbClr val="F4CFCF"/>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47688" y="2788920"/>
            <a:ext cx="4690872" cy="411480"/>
          </a:xfrm>
          <a:prstGeom prst="rect">
            <a:avLst/>
          </a:prstGeom>
          <a:noFill/>
        </p:spPr>
        <p:txBody>
          <a:bodyPr wrap="square">
            <a:spAutoFit/>
          </a:bodyPr>
          <a:lstStyle/>
          <a:p>
            <a:pPr algn="l"/>
            <a:r>
              <a:rPr sz="1200" b="0" i="1">
                <a:solidFill>
                  <a:srgbClr val="DC2626"/>
                </a:solidFill>
                <a:latin typeface="Calibri"/>
              </a:rPr>
              <a:t>"Vul een geldig e-mailadres in"</a:t>
            </a:r>
          </a:p>
        </p:txBody>
      </p:sp>
      <p:sp>
        <p:nvSpPr>
          <p:cNvPr id="20" name="Rectangle 19"/>
          <p:cNvSpPr/>
          <p:nvPr/>
        </p:nvSpPr>
        <p:spPr>
          <a:xfrm>
            <a:off x="914400" y="3904488"/>
            <a:ext cx="5212080" cy="210312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3904488"/>
            <a:ext cx="64008" cy="2103120"/>
          </a:xfrm>
          <a:prstGeom prst="rect">
            <a:avLst/>
          </a:prstGeom>
          <a:gradFill rotWithShape="1">
            <a:gsLst>
              <a:gs pos="0">
                <a:srgbClr val="D97706"/>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60704" y="4105656"/>
            <a:ext cx="402336" cy="402336"/>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72768" y="4087368"/>
            <a:ext cx="4389120" cy="411480"/>
          </a:xfrm>
          <a:prstGeom prst="rect">
            <a:avLst/>
          </a:prstGeom>
          <a:noFill/>
        </p:spPr>
        <p:txBody>
          <a:bodyPr wrap="square">
            <a:spAutoFit/>
          </a:bodyPr>
          <a:lstStyle/>
          <a:p>
            <a:pPr algn="l"/>
            <a:r>
              <a:rPr sz="1800" b="1" i="0">
                <a:solidFill>
                  <a:srgbClr val="0F172A"/>
                </a:solidFill>
                <a:latin typeface="Calibri"/>
              </a:rPr>
              <a:t>Warning</a:t>
            </a:r>
          </a:p>
        </p:txBody>
      </p:sp>
      <p:sp>
        <p:nvSpPr>
          <p:cNvPr id="24" name="TextBox 23"/>
          <p:cNvSpPr txBox="1"/>
          <p:nvPr/>
        </p:nvSpPr>
        <p:spPr>
          <a:xfrm>
            <a:off x="1143000" y="4544568"/>
            <a:ext cx="4828032" cy="411480"/>
          </a:xfrm>
          <a:prstGeom prst="rect">
            <a:avLst/>
          </a:prstGeom>
          <a:noFill/>
        </p:spPr>
        <p:txBody>
          <a:bodyPr wrap="square">
            <a:spAutoFit/>
          </a:bodyPr>
          <a:lstStyle/>
          <a:p>
            <a:pPr algn="l"/>
            <a:r>
              <a:rPr sz="1300" b="0" i="0">
                <a:solidFill>
                  <a:srgbClr val="334155"/>
                </a:solidFill>
                <a:latin typeface="Calibri"/>
              </a:rPr>
              <a:t>Waarschuwing, let op, tijdelijk</a:t>
            </a:r>
          </a:p>
        </p:txBody>
      </p:sp>
      <p:sp>
        <p:nvSpPr>
          <p:cNvPr id="25" name="Rectangle 24"/>
          <p:cNvSpPr/>
          <p:nvPr/>
        </p:nvSpPr>
        <p:spPr>
          <a:xfrm>
            <a:off x="1143000" y="5020056"/>
            <a:ext cx="4828032" cy="566928"/>
          </a:xfrm>
          <a:prstGeom prst="rect">
            <a:avLst/>
          </a:prstGeom>
          <a:solidFill>
            <a:srgbClr val="F3DFC9"/>
          </a:solidFill>
          <a:ln w="95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5093208"/>
            <a:ext cx="4690872" cy="411480"/>
          </a:xfrm>
          <a:prstGeom prst="rect">
            <a:avLst/>
          </a:prstGeom>
          <a:noFill/>
        </p:spPr>
        <p:txBody>
          <a:bodyPr wrap="square">
            <a:spAutoFit/>
          </a:bodyPr>
          <a:lstStyle/>
          <a:p>
            <a:pPr algn="l"/>
            <a:r>
              <a:rPr sz="1200" b="0" i="1">
                <a:solidFill>
                  <a:srgbClr val="D97706"/>
                </a:solidFill>
                <a:latin typeface="Calibri"/>
              </a:rPr>
              <a:t>"Je sessie verloopt over 5 minuten"</a:t>
            </a:r>
          </a:p>
        </p:txBody>
      </p:sp>
      <p:sp>
        <p:nvSpPr>
          <p:cNvPr id="27" name="Rectangle 26"/>
          <p:cNvSpPr/>
          <p:nvPr/>
        </p:nvSpPr>
        <p:spPr>
          <a:xfrm>
            <a:off x="6327648" y="3904488"/>
            <a:ext cx="5212080" cy="2103120"/>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27648" y="3904488"/>
            <a:ext cx="64008" cy="2103120"/>
          </a:xfrm>
          <a:prstGeom prst="rect">
            <a:avLst/>
          </a:prstGeom>
          <a:gradFill rotWithShape="1">
            <a:gsLst>
              <a:gs pos="0">
                <a:srgbClr val="2563EB"/>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73952" y="4105656"/>
            <a:ext cx="402336" cy="4023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86016" y="4087368"/>
            <a:ext cx="4389120" cy="411480"/>
          </a:xfrm>
          <a:prstGeom prst="rect">
            <a:avLst/>
          </a:prstGeom>
          <a:noFill/>
        </p:spPr>
        <p:txBody>
          <a:bodyPr wrap="square">
            <a:spAutoFit/>
          </a:bodyPr>
          <a:lstStyle/>
          <a:p>
            <a:pPr algn="l"/>
            <a:r>
              <a:rPr sz="1800" b="1" i="0">
                <a:solidFill>
                  <a:srgbClr val="0F172A"/>
                </a:solidFill>
                <a:latin typeface="Calibri"/>
              </a:rPr>
              <a:t>Info</a:t>
            </a:r>
          </a:p>
        </p:txBody>
      </p:sp>
      <p:sp>
        <p:nvSpPr>
          <p:cNvPr id="31" name="TextBox 30"/>
          <p:cNvSpPr txBox="1"/>
          <p:nvPr/>
        </p:nvSpPr>
        <p:spPr>
          <a:xfrm>
            <a:off x="6556248" y="4544568"/>
            <a:ext cx="4828032" cy="411480"/>
          </a:xfrm>
          <a:prstGeom prst="rect">
            <a:avLst/>
          </a:prstGeom>
          <a:noFill/>
        </p:spPr>
        <p:txBody>
          <a:bodyPr wrap="square">
            <a:spAutoFit/>
          </a:bodyPr>
          <a:lstStyle/>
          <a:p>
            <a:pPr algn="l"/>
            <a:r>
              <a:rPr sz="1300" b="0" i="0">
                <a:solidFill>
                  <a:srgbClr val="334155"/>
                </a:solidFill>
                <a:latin typeface="Calibri"/>
              </a:rPr>
              <a:t>Informatie, tips, neutraal</a:t>
            </a:r>
          </a:p>
        </p:txBody>
      </p:sp>
      <p:sp>
        <p:nvSpPr>
          <p:cNvPr id="32" name="Rectangle 31"/>
          <p:cNvSpPr/>
          <p:nvPr/>
        </p:nvSpPr>
        <p:spPr>
          <a:xfrm>
            <a:off x="6556248" y="5020056"/>
            <a:ext cx="4828032" cy="566928"/>
          </a:xfrm>
          <a:prstGeom prst="rect">
            <a:avLst/>
          </a:prstGeom>
          <a:solidFill>
            <a:srgbClr val="CFDBF7"/>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47688" y="5093208"/>
            <a:ext cx="4690872" cy="411480"/>
          </a:xfrm>
          <a:prstGeom prst="rect">
            <a:avLst/>
          </a:prstGeom>
          <a:noFill/>
        </p:spPr>
        <p:txBody>
          <a:bodyPr wrap="square">
            <a:spAutoFit/>
          </a:bodyPr>
          <a:lstStyle/>
          <a:p>
            <a:pPr algn="l"/>
            <a:r>
              <a:rPr sz="1200" b="0" i="1">
                <a:solidFill>
                  <a:srgbClr val="2563EB"/>
                </a:solidFill>
                <a:latin typeface="Calibri"/>
              </a:rPr>
              <a:t>"Er is een nieuwe versie beschikbaar"</a:t>
            </a:r>
          </a:p>
        </p:txBody>
      </p:sp>
      <p:sp>
        <p:nvSpPr>
          <p:cNvPr id="34" name="TextBox 33"/>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Kleurpalet: van 50 tot 900</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Shades voor elk gebruik</a:t>
            </a:r>
          </a:p>
        </p:txBody>
      </p:sp>
      <p:sp>
        <p:nvSpPr>
          <p:cNvPr id="6" name="Rectangle 5"/>
          <p:cNvSpPr/>
          <p:nvPr/>
        </p:nvSpPr>
        <p:spPr>
          <a:xfrm>
            <a:off x="594360" y="2148840"/>
            <a:ext cx="1097280" cy="822960"/>
          </a:xfrm>
          <a:prstGeom prst="rect">
            <a:avLst/>
          </a:prstGeom>
          <a:solidFill>
            <a:srgbClr val="FFF0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679192"/>
            <a:ext cx="1097280" cy="274320"/>
          </a:xfrm>
          <a:prstGeom prst="rect">
            <a:avLst/>
          </a:prstGeom>
          <a:noFill/>
        </p:spPr>
        <p:txBody>
          <a:bodyPr wrap="square">
            <a:spAutoFit/>
          </a:bodyPr>
          <a:lstStyle/>
          <a:p>
            <a:pPr algn="ctr"/>
            <a:r>
              <a:rPr sz="1100" b="1" i="0">
                <a:solidFill>
                  <a:srgbClr val="0F172A"/>
                </a:solidFill>
                <a:latin typeface="Calibri"/>
              </a:rPr>
              <a:t>50</a:t>
            </a:r>
          </a:p>
        </p:txBody>
      </p:sp>
      <p:sp>
        <p:nvSpPr>
          <p:cNvPr id="8" name="Rectangle 7"/>
          <p:cNvSpPr/>
          <p:nvPr/>
        </p:nvSpPr>
        <p:spPr>
          <a:xfrm>
            <a:off x="1709928" y="2148840"/>
            <a:ext cx="1097280" cy="822960"/>
          </a:xfrm>
          <a:prstGeom prst="rect">
            <a:avLst/>
          </a:prstGeom>
          <a:solidFill>
            <a:srgbClr val="FED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09928" y="2679192"/>
            <a:ext cx="1097280" cy="274320"/>
          </a:xfrm>
          <a:prstGeom prst="rect">
            <a:avLst/>
          </a:prstGeom>
          <a:noFill/>
        </p:spPr>
        <p:txBody>
          <a:bodyPr wrap="square">
            <a:spAutoFit/>
          </a:bodyPr>
          <a:lstStyle/>
          <a:p>
            <a:pPr algn="ctr"/>
            <a:r>
              <a:rPr sz="1100" b="1" i="0">
                <a:solidFill>
                  <a:srgbClr val="0F172A"/>
                </a:solidFill>
                <a:latin typeface="Calibri"/>
              </a:rPr>
              <a:t>100</a:t>
            </a:r>
          </a:p>
        </p:txBody>
      </p:sp>
      <p:sp>
        <p:nvSpPr>
          <p:cNvPr id="10" name="Rectangle 9"/>
          <p:cNvSpPr/>
          <p:nvPr/>
        </p:nvSpPr>
        <p:spPr>
          <a:xfrm>
            <a:off x="2825496" y="2148840"/>
            <a:ext cx="1097280" cy="822960"/>
          </a:xfrm>
          <a:prstGeom prst="rect">
            <a:avLst/>
          </a:prstGeom>
          <a:solidFill>
            <a:srgbClr val="FDBA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25496" y="2679192"/>
            <a:ext cx="1097280" cy="274320"/>
          </a:xfrm>
          <a:prstGeom prst="rect">
            <a:avLst/>
          </a:prstGeom>
          <a:noFill/>
        </p:spPr>
        <p:txBody>
          <a:bodyPr wrap="square">
            <a:spAutoFit/>
          </a:bodyPr>
          <a:lstStyle/>
          <a:p>
            <a:pPr algn="ctr"/>
            <a:r>
              <a:rPr sz="1100" b="1" i="0">
                <a:solidFill>
                  <a:srgbClr val="0F172A"/>
                </a:solidFill>
                <a:latin typeface="Calibri"/>
              </a:rPr>
              <a:t>200</a:t>
            </a:r>
          </a:p>
        </p:txBody>
      </p:sp>
      <p:sp>
        <p:nvSpPr>
          <p:cNvPr id="12" name="Rectangle 11"/>
          <p:cNvSpPr/>
          <p:nvPr/>
        </p:nvSpPr>
        <p:spPr>
          <a:xfrm>
            <a:off x="3941064" y="2148840"/>
            <a:ext cx="1097280" cy="82296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41064" y="2679192"/>
            <a:ext cx="1097280" cy="274320"/>
          </a:xfrm>
          <a:prstGeom prst="rect">
            <a:avLst/>
          </a:prstGeom>
          <a:noFill/>
        </p:spPr>
        <p:txBody>
          <a:bodyPr wrap="square">
            <a:spAutoFit/>
          </a:bodyPr>
          <a:lstStyle/>
          <a:p>
            <a:pPr algn="ctr"/>
            <a:r>
              <a:rPr sz="1100" b="1" i="0">
                <a:solidFill>
                  <a:srgbClr val="0F172A"/>
                </a:solidFill>
                <a:latin typeface="Calibri"/>
              </a:rPr>
              <a:t>300</a:t>
            </a:r>
          </a:p>
        </p:txBody>
      </p:sp>
      <p:sp>
        <p:nvSpPr>
          <p:cNvPr id="14" name="Rectangle 13"/>
          <p:cNvSpPr/>
          <p:nvPr/>
        </p:nvSpPr>
        <p:spPr>
          <a:xfrm>
            <a:off x="5056632" y="2148840"/>
            <a:ext cx="1097280" cy="8229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56632" y="2679192"/>
            <a:ext cx="1097280" cy="274320"/>
          </a:xfrm>
          <a:prstGeom prst="rect">
            <a:avLst/>
          </a:prstGeom>
          <a:noFill/>
        </p:spPr>
        <p:txBody>
          <a:bodyPr wrap="square">
            <a:spAutoFit/>
          </a:bodyPr>
          <a:lstStyle/>
          <a:p>
            <a:pPr algn="ctr"/>
            <a:r>
              <a:rPr sz="1100" b="1" i="0">
                <a:solidFill>
                  <a:srgbClr val="0F172A"/>
                </a:solidFill>
                <a:latin typeface="Calibri"/>
              </a:rPr>
              <a:t>400</a:t>
            </a:r>
          </a:p>
        </p:txBody>
      </p:sp>
      <p:sp>
        <p:nvSpPr>
          <p:cNvPr id="16" name="Rectangle 15"/>
          <p:cNvSpPr/>
          <p:nvPr/>
        </p:nvSpPr>
        <p:spPr>
          <a:xfrm>
            <a:off x="6172200" y="2148840"/>
            <a:ext cx="1097280" cy="82296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2679192"/>
            <a:ext cx="1097280" cy="274320"/>
          </a:xfrm>
          <a:prstGeom prst="rect">
            <a:avLst/>
          </a:prstGeom>
          <a:noFill/>
        </p:spPr>
        <p:txBody>
          <a:bodyPr wrap="square">
            <a:spAutoFit/>
          </a:bodyPr>
          <a:lstStyle/>
          <a:p>
            <a:pPr algn="ctr"/>
            <a:r>
              <a:rPr sz="1100" b="1" i="0">
                <a:solidFill>
                  <a:srgbClr val="FFFFFF"/>
                </a:solidFill>
                <a:latin typeface="Calibri"/>
              </a:rPr>
              <a:t>500</a:t>
            </a:r>
          </a:p>
        </p:txBody>
      </p:sp>
      <p:sp>
        <p:nvSpPr>
          <p:cNvPr id="18" name="Rectangle 17"/>
          <p:cNvSpPr/>
          <p:nvPr/>
        </p:nvSpPr>
        <p:spPr>
          <a:xfrm>
            <a:off x="7287768" y="2148840"/>
            <a:ext cx="1097280" cy="8229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7768" y="2679192"/>
            <a:ext cx="1097280" cy="274320"/>
          </a:xfrm>
          <a:prstGeom prst="rect">
            <a:avLst/>
          </a:prstGeom>
          <a:noFill/>
        </p:spPr>
        <p:txBody>
          <a:bodyPr wrap="square">
            <a:spAutoFit/>
          </a:bodyPr>
          <a:lstStyle/>
          <a:p>
            <a:pPr algn="ctr"/>
            <a:r>
              <a:rPr sz="1100" b="1" i="0">
                <a:solidFill>
                  <a:srgbClr val="FFFFFF"/>
                </a:solidFill>
                <a:latin typeface="Calibri"/>
              </a:rPr>
              <a:t>600</a:t>
            </a:r>
          </a:p>
        </p:txBody>
      </p:sp>
      <p:sp>
        <p:nvSpPr>
          <p:cNvPr id="20" name="Rectangle 19"/>
          <p:cNvSpPr/>
          <p:nvPr/>
        </p:nvSpPr>
        <p:spPr>
          <a:xfrm>
            <a:off x="8403336" y="2148840"/>
            <a:ext cx="1097280" cy="82296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03336" y="2679192"/>
            <a:ext cx="1097280" cy="274320"/>
          </a:xfrm>
          <a:prstGeom prst="rect">
            <a:avLst/>
          </a:prstGeom>
          <a:noFill/>
        </p:spPr>
        <p:txBody>
          <a:bodyPr wrap="square">
            <a:spAutoFit/>
          </a:bodyPr>
          <a:lstStyle/>
          <a:p>
            <a:pPr algn="ctr"/>
            <a:r>
              <a:rPr sz="1100" b="1" i="0">
                <a:solidFill>
                  <a:srgbClr val="FFFFFF"/>
                </a:solidFill>
                <a:latin typeface="Calibri"/>
              </a:rPr>
              <a:t>700</a:t>
            </a:r>
          </a:p>
        </p:txBody>
      </p:sp>
      <p:sp>
        <p:nvSpPr>
          <p:cNvPr id="22" name="Rectangle 21"/>
          <p:cNvSpPr/>
          <p:nvPr/>
        </p:nvSpPr>
        <p:spPr>
          <a:xfrm>
            <a:off x="9518904" y="2148840"/>
            <a:ext cx="1097280" cy="822960"/>
          </a:xfrm>
          <a:prstGeom prst="rect">
            <a:avLst/>
          </a:prstGeom>
          <a:solidFill>
            <a:srgbClr val="7C2A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18904" y="2679192"/>
            <a:ext cx="1097280" cy="274320"/>
          </a:xfrm>
          <a:prstGeom prst="rect">
            <a:avLst/>
          </a:prstGeom>
          <a:noFill/>
        </p:spPr>
        <p:txBody>
          <a:bodyPr wrap="square">
            <a:spAutoFit/>
          </a:bodyPr>
          <a:lstStyle/>
          <a:p>
            <a:pPr algn="ctr"/>
            <a:r>
              <a:rPr sz="1100" b="1" i="0">
                <a:solidFill>
                  <a:srgbClr val="FFFFFF"/>
                </a:solidFill>
                <a:latin typeface="Calibri"/>
              </a:rPr>
              <a:t>800</a:t>
            </a:r>
          </a:p>
        </p:txBody>
      </p:sp>
      <p:sp>
        <p:nvSpPr>
          <p:cNvPr id="24" name="Rectangle 23"/>
          <p:cNvSpPr/>
          <p:nvPr/>
        </p:nvSpPr>
        <p:spPr>
          <a:xfrm>
            <a:off x="10634472" y="2148840"/>
            <a:ext cx="1097280" cy="822960"/>
          </a:xfrm>
          <a:prstGeom prst="rect">
            <a:avLst/>
          </a:prstGeom>
          <a:solidFill>
            <a:srgbClr val="6423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34472" y="2679192"/>
            <a:ext cx="1097280" cy="274320"/>
          </a:xfrm>
          <a:prstGeom prst="rect">
            <a:avLst/>
          </a:prstGeom>
          <a:noFill/>
        </p:spPr>
        <p:txBody>
          <a:bodyPr wrap="square">
            <a:spAutoFit/>
          </a:bodyPr>
          <a:lstStyle/>
          <a:p>
            <a:pPr algn="ctr"/>
            <a:r>
              <a:rPr sz="1100" b="1" i="0">
                <a:solidFill>
                  <a:srgbClr val="FFFFFF"/>
                </a:solidFill>
                <a:latin typeface="Calibri"/>
              </a:rPr>
              <a:t>900</a:t>
            </a:r>
          </a:p>
        </p:txBody>
      </p:sp>
      <p:sp>
        <p:nvSpPr>
          <p:cNvPr id="26" name="TextBox 25"/>
          <p:cNvSpPr txBox="1"/>
          <p:nvPr/>
        </p:nvSpPr>
        <p:spPr>
          <a:xfrm>
            <a:off x="6172200" y="3017520"/>
            <a:ext cx="1097280" cy="320040"/>
          </a:xfrm>
          <a:prstGeom prst="rect">
            <a:avLst/>
          </a:prstGeom>
          <a:noFill/>
        </p:spPr>
        <p:txBody>
          <a:bodyPr wrap="square">
            <a:spAutoFit/>
          </a:bodyPr>
          <a:lstStyle/>
          <a:p>
            <a:pPr algn="ctr"/>
            <a:r>
              <a:rPr sz="1100" b="1" i="0">
                <a:solidFill>
                  <a:srgbClr val="EA580C"/>
                </a:solidFill>
                <a:latin typeface="Calibri"/>
              </a:rPr>
              <a:t>Basis</a:t>
            </a:r>
          </a:p>
        </p:txBody>
      </p:sp>
      <p:sp>
        <p:nvSpPr>
          <p:cNvPr id="27" name="TextBox 26"/>
          <p:cNvSpPr txBox="1"/>
          <p:nvPr/>
        </p:nvSpPr>
        <p:spPr>
          <a:xfrm>
            <a:off x="914400" y="3337560"/>
            <a:ext cx="10332720" cy="2011680"/>
          </a:xfrm>
          <a:prstGeom prst="rect">
            <a:avLst/>
          </a:prstGeom>
          <a:noFill/>
        </p:spPr>
        <p:txBody>
          <a:bodyPr wrap="square">
            <a:spAutoFit/>
          </a:bodyPr>
          <a:lstStyle/>
          <a:p>
            <a:pPr>
              <a:spcBef>
                <a:spcPts val="1000"/>
              </a:spcBef>
            </a:pPr>
            <a:r>
              <a:rPr sz="1600">
                <a:solidFill>
                  <a:srgbClr val="334155"/>
                </a:solidFill>
                <a:latin typeface="Calibri"/>
              </a:rPr>
              <a:t>  •  500 is de basiskleur, gebruik dit als referentie</a:t>
            </a:r>
          </a:p>
          <a:p>
            <a:pPr>
              <a:spcBef>
                <a:spcPts val="1000"/>
              </a:spcBef>
            </a:pPr>
            <a:r>
              <a:rPr sz="1600">
                <a:solidFill>
                  <a:srgbClr val="334155"/>
                </a:solidFill>
                <a:latin typeface="Calibri"/>
              </a:rPr>
              <a:t>  •  50 en 100 zijn goed als achtergronden en hover states</a:t>
            </a:r>
          </a:p>
          <a:p>
            <a:pPr>
              <a:spcBef>
                <a:spcPts val="1000"/>
              </a:spcBef>
            </a:pPr>
            <a:r>
              <a:rPr sz="1600">
                <a:solidFill>
                  <a:srgbClr val="334155"/>
                </a:solidFill>
                <a:latin typeface="Calibri"/>
              </a:rPr>
              <a:t>  •  700 en 800 zijn goed voor hover states van knoppen</a:t>
            </a:r>
          </a:p>
          <a:p>
            <a:pPr>
              <a:spcBef>
                <a:spcPts val="1000"/>
              </a:spcBef>
            </a:pPr>
            <a:r>
              <a:rPr sz="1600">
                <a:solidFill>
                  <a:srgbClr val="334155"/>
                </a:solidFill>
                <a:latin typeface="Calibri"/>
              </a:rPr>
              <a:t>  •  Gebruik Tailwind CSS of Radix Colors als inspiratie voor shades</a:t>
            </a:r>
          </a:p>
        </p:txBody>
      </p:sp>
      <p:sp>
        <p:nvSpPr>
          <p:cNvPr id="28" name="Rectangle 27"/>
          <p:cNvSpPr/>
          <p:nvPr/>
        </p:nvSpPr>
        <p:spPr>
          <a:xfrm>
            <a:off x="914400" y="5440680"/>
            <a:ext cx="10332720" cy="98755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4400" y="5440680"/>
            <a:ext cx="64008" cy="987552"/>
          </a:xfrm>
          <a:prstGeom prst="rect">
            <a:avLst/>
          </a:prstGeom>
          <a:gradFill rotWithShape="1">
            <a:gsLst>
              <a:gs pos="0">
                <a:srgbClr val="0D9488"/>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43000" y="5513832"/>
            <a:ext cx="1828800" cy="384048"/>
          </a:xfrm>
          <a:prstGeom prst="rect">
            <a:avLst/>
          </a:prstGeom>
          <a:noFill/>
        </p:spPr>
        <p:txBody>
          <a:bodyPr wrap="square">
            <a:spAutoFit/>
          </a:bodyPr>
          <a:lstStyle/>
          <a:p>
            <a:pPr algn="l"/>
            <a:r>
              <a:rPr sz="1400" b="1" i="0">
                <a:solidFill>
                  <a:srgbClr val="0D9488"/>
                </a:solidFill>
                <a:latin typeface="Calibri"/>
              </a:rPr>
              <a:t>Probeer het:</a:t>
            </a:r>
          </a:p>
        </p:txBody>
      </p:sp>
      <p:sp>
        <p:nvSpPr>
          <p:cNvPr id="31" name="TextBox 30"/>
          <p:cNvSpPr txBox="1"/>
          <p:nvPr/>
        </p:nvSpPr>
        <p:spPr>
          <a:xfrm>
            <a:off x="1143000" y="5897880"/>
            <a:ext cx="9948672" cy="457200"/>
          </a:xfrm>
          <a:prstGeom prst="rect">
            <a:avLst/>
          </a:prstGeom>
          <a:noFill/>
        </p:spPr>
        <p:txBody>
          <a:bodyPr wrap="square">
            <a:spAutoFit/>
          </a:bodyPr>
          <a:lstStyle/>
          <a:p>
            <a:pPr algn="l"/>
            <a:r>
              <a:rPr sz="1300" b="0" i="1">
                <a:solidFill>
                  <a:srgbClr val="334155"/>
                </a:solidFill>
                <a:latin typeface="Calibri"/>
              </a:rPr>
              <a:t>Ga naar tailwindcss.com/docs/customizing-colors voor een volledig shade-systeem als referentie.</a:t>
            </a:r>
          </a:p>
        </p:txBody>
      </p:sp>
      <p:sp>
        <p:nvSpPr>
          <p:cNvPr id="32" name="TextBox 31"/>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Neutrals: de onzichtbare helden</a:t>
            </a:r>
          </a:p>
        </p:txBody>
      </p:sp>
      <p:sp>
        <p:nvSpPr>
          <p:cNvPr id="4" name="Rectangle 3"/>
          <p:cNvSpPr/>
          <p:nvPr/>
        </p:nvSpPr>
        <p:spPr>
          <a:xfrm>
            <a:off x="914400" y="1298448"/>
            <a:ext cx="182880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F0D2B4"/>
                </a:solidFill>
                <a:latin typeface="Calibri"/>
              </a:rPr>
              <a:t>De ruggengraat van elk goed kleurpalet</a:t>
            </a:r>
          </a:p>
        </p:txBody>
      </p:sp>
      <p:sp>
        <p:nvSpPr>
          <p:cNvPr id="6" name="TextBox 5"/>
          <p:cNvSpPr txBox="1"/>
          <p:nvPr/>
        </p:nvSpPr>
        <p:spPr>
          <a:xfrm>
            <a:off x="914400" y="1920240"/>
            <a:ext cx="10332720" cy="2560320"/>
          </a:xfrm>
          <a:prstGeom prst="rect">
            <a:avLst/>
          </a:prstGeom>
          <a:noFill/>
        </p:spPr>
        <p:txBody>
          <a:bodyPr wrap="square">
            <a:spAutoFit/>
          </a:bodyPr>
          <a:lstStyle/>
          <a:p>
            <a:pPr>
              <a:spcBef>
                <a:spcPts val="1100"/>
              </a:spcBef>
            </a:pPr>
            <a:r>
              <a:rPr sz="1700">
                <a:solidFill>
                  <a:srgbClr val="FFFFFF"/>
                </a:solidFill>
                <a:latin typeface="Calibri"/>
              </a:rPr>
              <a:t>  •  Neutrals vormen 60 procent of meer van een goed kleurpalet</a:t>
            </a:r>
          </a:p>
          <a:p>
            <a:pPr>
              <a:spcBef>
                <a:spcPts val="1100"/>
              </a:spcBef>
            </a:pPr>
            <a:r>
              <a:rPr sz="1700">
                <a:solidFill>
                  <a:srgbClr val="FFFFFF"/>
                </a:solidFill>
                <a:latin typeface="Calibri"/>
              </a:rPr>
              <a:t>  •  Kies warme grijzen (licht bruinig) of koele grijzen (licht blauwachtig)</a:t>
            </a:r>
          </a:p>
          <a:p>
            <a:pPr>
              <a:spcBef>
                <a:spcPts val="1100"/>
              </a:spcBef>
            </a:pPr>
            <a:r>
              <a:rPr sz="1700">
                <a:solidFill>
                  <a:srgbClr val="FFFFFF"/>
                </a:solidFill>
                <a:latin typeface="Calibri"/>
              </a:rPr>
              <a:t>  •  Meng je neutral altijd licht met je merkkleur voor cohesie</a:t>
            </a:r>
          </a:p>
          <a:p>
            <a:pPr>
              <a:spcBef>
                <a:spcPts val="1100"/>
              </a:spcBef>
            </a:pPr>
            <a:r>
              <a:rPr sz="1700">
                <a:solidFill>
                  <a:srgbClr val="FFFFFF"/>
                </a:solidFill>
                <a:latin typeface="Calibri"/>
              </a:rPr>
              <a:t>  •  Gebruik nooit zuiver zwart (#000000) op webpaginas: te hard contrast</a:t>
            </a:r>
          </a:p>
          <a:p>
            <a:pPr>
              <a:spcBef>
                <a:spcPts val="1100"/>
              </a:spcBef>
            </a:pPr>
            <a:r>
              <a:rPr sz="1700">
                <a:solidFill>
                  <a:srgbClr val="FFFFFF"/>
                </a:solidFill>
                <a:latin typeface="Calibri"/>
              </a:rPr>
              <a:t>  •  Donkere modus: verwissel niet gewoon licht en donker, bouw apart</a:t>
            </a:r>
          </a:p>
        </p:txBody>
      </p:sp>
      <p:sp>
        <p:nvSpPr>
          <p:cNvPr id="7" name="Rectangle 6"/>
          <p:cNvSpPr/>
          <p:nvPr/>
        </p:nvSpPr>
        <p:spPr>
          <a:xfrm>
            <a:off x="914400" y="4846320"/>
            <a:ext cx="2011680" cy="713232"/>
          </a:xfrm>
          <a:prstGeom prst="rect">
            <a:avLst/>
          </a:prstGeom>
          <a:solidFill>
            <a:srgbClr val="F8FAFC"/>
          </a:solidFill>
          <a:ln w="9525">
            <a:solidFill>
              <a:srgbClr val="647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321808"/>
            <a:ext cx="2011680" cy="274320"/>
          </a:xfrm>
          <a:prstGeom prst="rect">
            <a:avLst/>
          </a:prstGeom>
          <a:noFill/>
        </p:spPr>
        <p:txBody>
          <a:bodyPr wrap="square">
            <a:spAutoFit/>
          </a:bodyPr>
          <a:lstStyle/>
          <a:p>
            <a:pPr algn="ctr"/>
            <a:r>
              <a:rPr sz="1100" b="0" i="0">
                <a:solidFill>
                  <a:srgbClr val="0F172A"/>
                </a:solidFill>
                <a:latin typeface="Calibri"/>
              </a:rPr>
              <a:t>surface</a:t>
            </a:r>
          </a:p>
        </p:txBody>
      </p:sp>
      <p:sp>
        <p:nvSpPr>
          <p:cNvPr id="9" name="Rectangle 8"/>
          <p:cNvSpPr/>
          <p:nvPr/>
        </p:nvSpPr>
        <p:spPr>
          <a:xfrm>
            <a:off x="2999232" y="4846320"/>
            <a:ext cx="2011680" cy="713232"/>
          </a:xfrm>
          <a:prstGeom prst="rect">
            <a:avLst/>
          </a:prstGeom>
          <a:solidFill>
            <a:srgbClr val="CBD5E1"/>
          </a:solidFill>
          <a:ln w="9525">
            <a:solidFill>
              <a:srgbClr val="647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99232" y="5321808"/>
            <a:ext cx="2011680" cy="274320"/>
          </a:xfrm>
          <a:prstGeom prst="rect">
            <a:avLst/>
          </a:prstGeom>
          <a:noFill/>
        </p:spPr>
        <p:txBody>
          <a:bodyPr wrap="square">
            <a:spAutoFit/>
          </a:bodyPr>
          <a:lstStyle/>
          <a:p>
            <a:pPr algn="ctr"/>
            <a:r>
              <a:rPr sz="1100" b="0" i="0">
                <a:solidFill>
                  <a:srgbClr val="0F172A"/>
                </a:solidFill>
                <a:latin typeface="Calibri"/>
              </a:rPr>
              <a:t>border</a:t>
            </a:r>
          </a:p>
        </p:txBody>
      </p:sp>
      <p:sp>
        <p:nvSpPr>
          <p:cNvPr id="11" name="Rectangle 10"/>
          <p:cNvSpPr/>
          <p:nvPr/>
        </p:nvSpPr>
        <p:spPr>
          <a:xfrm>
            <a:off x="5084064" y="4846320"/>
            <a:ext cx="2011680" cy="713232"/>
          </a:xfrm>
          <a:prstGeom prst="rect">
            <a:avLst/>
          </a:prstGeom>
          <a:solidFill>
            <a:srgbClr val="94A3B8"/>
          </a:solidFill>
          <a:ln w="9525">
            <a:solidFill>
              <a:srgbClr val="647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4064" y="5321808"/>
            <a:ext cx="2011680" cy="274320"/>
          </a:xfrm>
          <a:prstGeom prst="rect">
            <a:avLst/>
          </a:prstGeom>
          <a:noFill/>
        </p:spPr>
        <p:txBody>
          <a:bodyPr wrap="square">
            <a:spAutoFit/>
          </a:bodyPr>
          <a:lstStyle/>
          <a:p>
            <a:pPr algn="ctr"/>
            <a:r>
              <a:rPr sz="1100" b="0" i="0">
                <a:solidFill>
                  <a:srgbClr val="FFFFFF"/>
                </a:solidFill>
                <a:latin typeface="Calibri"/>
              </a:rPr>
              <a:t>muted</a:t>
            </a:r>
          </a:p>
        </p:txBody>
      </p:sp>
      <p:sp>
        <p:nvSpPr>
          <p:cNvPr id="13" name="Rectangle 12"/>
          <p:cNvSpPr/>
          <p:nvPr/>
        </p:nvSpPr>
        <p:spPr>
          <a:xfrm>
            <a:off x="7168896" y="4846320"/>
            <a:ext cx="2011680" cy="713232"/>
          </a:xfrm>
          <a:prstGeom prst="rect">
            <a:avLst/>
          </a:prstGeom>
          <a:solidFill>
            <a:srgbClr val="475569"/>
          </a:solidFill>
          <a:ln w="9525">
            <a:solidFill>
              <a:srgbClr val="647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68896" y="5321808"/>
            <a:ext cx="2011680" cy="274320"/>
          </a:xfrm>
          <a:prstGeom prst="rect">
            <a:avLst/>
          </a:prstGeom>
          <a:noFill/>
        </p:spPr>
        <p:txBody>
          <a:bodyPr wrap="square">
            <a:spAutoFit/>
          </a:bodyPr>
          <a:lstStyle/>
          <a:p>
            <a:pPr algn="ctr"/>
            <a:r>
              <a:rPr sz="1100" b="0" i="0">
                <a:solidFill>
                  <a:srgbClr val="FFFFFF"/>
                </a:solidFill>
                <a:latin typeface="Calibri"/>
              </a:rPr>
              <a:t>body</a:t>
            </a:r>
          </a:p>
        </p:txBody>
      </p:sp>
      <p:sp>
        <p:nvSpPr>
          <p:cNvPr id="15" name="Rectangle 14"/>
          <p:cNvSpPr/>
          <p:nvPr/>
        </p:nvSpPr>
        <p:spPr>
          <a:xfrm>
            <a:off x="9253728" y="4846320"/>
            <a:ext cx="2011680" cy="713232"/>
          </a:xfrm>
          <a:prstGeom prst="rect">
            <a:avLst/>
          </a:prstGeom>
          <a:solidFill>
            <a:srgbClr val="0F172A"/>
          </a:solidFill>
          <a:ln w="9525">
            <a:solidFill>
              <a:srgbClr val="6473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3728" y="5321808"/>
            <a:ext cx="2011680" cy="274320"/>
          </a:xfrm>
          <a:prstGeom prst="rect">
            <a:avLst/>
          </a:prstGeom>
          <a:noFill/>
        </p:spPr>
        <p:txBody>
          <a:bodyPr wrap="square">
            <a:spAutoFit/>
          </a:bodyPr>
          <a:lstStyle/>
          <a:p>
            <a:pPr algn="ctr"/>
            <a:r>
              <a:rPr sz="1100" b="0" i="0">
                <a:solidFill>
                  <a:srgbClr val="FFFFFF"/>
                </a:solidFill>
                <a:latin typeface="Calibri"/>
              </a:rPr>
              <a:t>heading</a:t>
            </a:r>
          </a:p>
        </p:txBody>
      </p:sp>
      <p:sp>
        <p:nvSpPr>
          <p:cNvPr id="17" name="TextBox 16"/>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Figma: kleurstijlen instellen</a:t>
            </a:r>
          </a:p>
        </p:txBody>
      </p:sp>
      <p:sp>
        <p:nvSpPr>
          <p:cNvPr id="4" name="Rectangle 3"/>
          <p:cNvSpPr/>
          <p:nvPr/>
        </p:nvSpPr>
        <p:spPr>
          <a:xfrm>
            <a:off x="914400" y="1298448"/>
            <a:ext cx="182880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F0D2B4"/>
                </a:solidFill>
                <a:latin typeface="Calibri"/>
              </a:rPr>
              <a:t>Eenmalig instellen, overal hergebruiken</a:t>
            </a:r>
          </a:p>
        </p:txBody>
      </p:sp>
      <p:sp>
        <p:nvSpPr>
          <p:cNvPr id="6" name="Oval 5"/>
          <p:cNvSpPr/>
          <p:nvPr/>
        </p:nvSpPr>
        <p:spPr>
          <a:xfrm>
            <a:off x="914400" y="1901952"/>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965960"/>
            <a:ext cx="228600" cy="320040"/>
          </a:xfrm>
          <a:prstGeom prst="rect">
            <a:avLst/>
          </a:prstGeom>
          <a:noFill/>
        </p:spPr>
        <p:txBody>
          <a:bodyPr wrap="square">
            <a:spAutoFit/>
          </a:bodyPr>
          <a:lstStyle/>
          <a:p>
            <a:pPr algn="ctr"/>
            <a:r>
              <a:rPr sz="1300" b="1" i="0">
                <a:solidFill>
                  <a:srgbClr val="FFFFFF"/>
                </a:solidFill>
                <a:latin typeface="Calibri"/>
              </a:rPr>
              <a:t>1</a:t>
            </a:r>
          </a:p>
        </p:txBody>
      </p:sp>
      <p:sp>
        <p:nvSpPr>
          <p:cNvPr id="8" name="TextBox 7"/>
          <p:cNvSpPr txBox="1"/>
          <p:nvPr/>
        </p:nvSpPr>
        <p:spPr>
          <a:xfrm>
            <a:off x="1508760" y="1920240"/>
            <a:ext cx="9601200" cy="658368"/>
          </a:xfrm>
          <a:prstGeom prst="rect">
            <a:avLst/>
          </a:prstGeom>
          <a:noFill/>
        </p:spPr>
        <p:txBody>
          <a:bodyPr wrap="square">
            <a:spAutoFit/>
          </a:bodyPr>
          <a:lstStyle/>
          <a:p>
            <a:pPr algn="l"/>
            <a:r>
              <a:rPr sz="1600" b="0" i="0">
                <a:solidFill>
                  <a:srgbClr val="FFFFFF"/>
                </a:solidFill>
                <a:latin typeface="Calibri"/>
              </a:rPr>
              <a:t>Klik op een element met de gewenste kleur in Figma</a:t>
            </a:r>
          </a:p>
        </p:txBody>
      </p:sp>
      <p:sp>
        <p:nvSpPr>
          <p:cNvPr id="9" name="Oval 8"/>
          <p:cNvSpPr/>
          <p:nvPr/>
        </p:nvSpPr>
        <p:spPr>
          <a:xfrm>
            <a:off x="914400" y="2688336"/>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752344"/>
            <a:ext cx="228600" cy="320040"/>
          </a:xfrm>
          <a:prstGeom prst="rect">
            <a:avLst/>
          </a:prstGeom>
          <a:noFill/>
        </p:spPr>
        <p:txBody>
          <a:bodyPr wrap="square">
            <a:spAutoFit/>
          </a:bodyPr>
          <a:lstStyle/>
          <a:p>
            <a:pPr algn="ctr"/>
            <a:r>
              <a:rPr sz="1300" b="1" i="0">
                <a:solidFill>
                  <a:srgbClr val="FFFFFF"/>
                </a:solidFill>
                <a:latin typeface="Calibri"/>
              </a:rPr>
              <a:t>2</a:t>
            </a:r>
          </a:p>
        </p:txBody>
      </p:sp>
      <p:sp>
        <p:nvSpPr>
          <p:cNvPr id="11" name="TextBox 10"/>
          <p:cNvSpPr txBox="1"/>
          <p:nvPr/>
        </p:nvSpPr>
        <p:spPr>
          <a:xfrm>
            <a:off x="1508760" y="2706624"/>
            <a:ext cx="9601200" cy="658368"/>
          </a:xfrm>
          <a:prstGeom prst="rect">
            <a:avLst/>
          </a:prstGeom>
          <a:noFill/>
        </p:spPr>
        <p:txBody>
          <a:bodyPr wrap="square">
            <a:spAutoFit/>
          </a:bodyPr>
          <a:lstStyle/>
          <a:p>
            <a:pPr algn="l"/>
            <a:r>
              <a:rPr sz="1600" b="0" i="0">
                <a:solidFill>
                  <a:srgbClr val="FFFFFF"/>
                </a:solidFill>
                <a:latin typeface="Calibri"/>
              </a:rPr>
              <a:t>Klik op het vierkantige icoontje naast de kleurwaarde</a:t>
            </a:r>
          </a:p>
        </p:txBody>
      </p:sp>
      <p:sp>
        <p:nvSpPr>
          <p:cNvPr id="12" name="Oval 11"/>
          <p:cNvSpPr/>
          <p:nvPr/>
        </p:nvSpPr>
        <p:spPr>
          <a:xfrm>
            <a:off x="914400" y="3474720"/>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38728"/>
            <a:ext cx="228600" cy="320040"/>
          </a:xfrm>
          <a:prstGeom prst="rect">
            <a:avLst/>
          </a:prstGeom>
          <a:noFill/>
        </p:spPr>
        <p:txBody>
          <a:bodyPr wrap="square">
            <a:spAutoFit/>
          </a:bodyPr>
          <a:lstStyle/>
          <a:p>
            <a:pPr algn="ctr"/>
            <a:r>
              <a:rPr sz="1300" b="1" i="0">
                <a:solidFill>
                  <a:srgbClr val="FFFFFF"/>
                </a:solidFill>
                <a:latin typeface="Calibri"/>
              </a:rPr>
              <a:t>3</a:t>
            </a:r>
          </a:p>
        </p:txBody>
      </p:sp>
      <p:sp>
        <p:nvSpPr>
          <p:cNvPr id="14" name="TextBox 13"/>
          <p:cNvSpPr txBox="1"/>
          <p:nvPr/>
        </p:nvSpPr>
        <p:spPr>
          <a:xfrm>
            <a:off x="1508760" y="3493008"/>
            <a:ext cx="9601200" cy="658368"/>
          </a:xfrm>
          <a:prstGeom prst="rect">
            <a:avLst/>
          </a:prstGeom>
          <a:noFill/>
        </p:spPr>
        <p:txBody>
          <a:bodyPr wrap="square">
            <a:spAutoFit/>
          </a:bodyPr>
          <a:lstStyle/>
          <a:p>
            <a:pPr algn="l"/>
            <a:r>
              <a:rPr sz="1600" b="0" i="0">
                <a:solidFill>
                  <a:srgbClr val="FFFFFF"/>
                </a:solidFill>
                <a:latin typeface="Calibri"/>
              </a:rPr>
              <a:t>Klik op het plus-teken om een nieuwe stijl aan te maken</a:t>
            </a:r>
          </a:p>
        </p:txBody>
      </p:sp>
      <p:sp>
        <p:nvSpPr>
          <p:cNvPr id="15" name="Oval 14"/>
          <p:cNvSpPr/>
          <p:nvPr/>
        </p:nvSpPr>
        <p:spPr>
          <a:xfrm>
            <a:off x="914400" y="4261104"/>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325112"/>
            <a:ext cx="228600" cy="320040"/>
          </a:xfrm>
          <a:prstGeom prst="rect">
            <a:avLst/>
          </a:prstGeom>
          <a:noFill/>
        </p:spPr>
        <p:txBody>
          <a:bodyPr wrap="square">
            <a:spAutoFit/>
          </a:bodyPr>
          <a:lstStyle/>
          <a:p>
            <a:pPr algn="ctr"/>
            <a:r>
              <a:rPr sz="1300" b="1" i="0">
                <a:solidFill>
                  <a:srgbClr val="FFFFFF"/>
                </a:solidFill>
                <a:latin typeface="Calibri"/>
              </a:rPr>
              <a:t>4</a:t>
            </a:r>
          </a:p>
        </p:txBody>
      </p:sp>
      <p:sp>
        <p:nvSpPr>
          <p:cNvPr id="17" name="TextBox 16"/>
          <p:cNvSpPr txBox="1"/>
          <p:nvPr/>
        </p:nvSpPr>
        <p:spPr>
          <a:xfrm>
            <a:off x="1508760" y="4279392"/>
            <a:ext cx="9601200" cy="658368"/>
          </a:xfrm>
          <a:prstGeom prst="rect">
            <a:avLst/>
          </a:prstGeom>
          <a:noFill/>
        </p:spPr>
        <p:txBody>
          <a:bodyPr wrap="square">
            <a:spAutoFit/>
          </a:bodyPr>
          <a:lstStyle/>
          <a:p>
            <a:pPr algn="l"/>
            <a:r>
              <a:rPr sz="1600" b="0" i="0">
                <a:solidFill>
                  <a:srgbClr val="FFFFFF"/>
                </a:solidFill>
                <a:latin typeface="Calibri"/>
              </a:rPr>
              <a:t>Gebruik een naamstructuur: 'brand/primary', 'semantic/success', 'neutral/100'</a:t>
            </a:r>
          </a:p>
        </p:txBody>
      </p:sp>
      <p:sp>
        <p:nvSpPr>
          <p:cNvPr id="18" name="Oval 17"/>
          <p:cNvSpPr/>
          <p:nvPr/>
        </p:nvSpPr>
        <p:spPr>
          <a:xfrm>
            <a:off x="914400" y="5047488"/>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5111496"/>
            <a:ext cx="228600" cy="320040"/>
          </a:xfrm>
          <a:prstGeom prst="rect">
            <a:avLst/>
          </a:prstGeom>
          <a:noFill/>
        </p:spPr>
        <p:txBody>
          <a:bodyPr wrap="square">
            <a:spAutoFit/>
          </a:bodyPr>
          <a:lstStyle/>
          <a:p>
            <a:pPr algn="ctr"/>
            <a:r>
              <a:rPr sz="1300" b="1" i="0">
                <a:solidFill>
                  <a:srgbClr val="FFFFFF"/>
                </a:solidFill>
                <a:latin typeface="Calibri"/>
              </a:rPr>
              <a:t>5</a:t>
            </a:r>
          </a:p>
        </p:txBody>
      </p:sp>
      <p:sp>
        <p:nvSpPr>
          <p:cNvPr id="20" name="TextBox 19"/>
          <p:cNvSpPr txBox="1"/>
          <p:nvPr/>
        </p:nvSpPr>
        <p:spPr>
          <a:xfrm>
            <a:off x="1508760" y="5065776"/>
            <a:ext cx="9601200" cy="658368"/>
          </a:xfrm>
          <a:prstGeom prst="rect">
            <a:avLst/>
          </a:prstGeom>
          <a:noFill/>
        </p:spPr>
        <p:txBody>
          <a:bodyPr wrap="square">
            <a:spAutoFit/>
          </a:bodyPr>
          <a:lstStyle/>
          <a:p>
            <a:pPr algn="l"/>
            <a:r>
              <a:rPr sz="1600" b="0" i="0">
                <a:solidFill>
                  <a:srgbClr val="FFFFFF"/>
                </a:solidFill>
                <a:latin typeface="Calibri"/>
              </a:rPr>
              <a:t>Hergebruik stijlen door op het stijlenicoontje te klikken bij elk element</a:t>
            </a:r>
          </a:p>
        </p:txBody>
      </p:sp>
      <p:sp>
        <p:nvSpPr>
          <p:cNvPr id="21" name="Rectangle 20"/>
          <p:cNvSpPr/>
          <p:nvPr/>
        </p:nvSpPr>
        <p:spPr>
          <a:xfrm>
            <a:off x="914400" y="5742432"/>
            <a:ext cx="10332720" cy="777240"/>
          </a:xfrm>
          <a:prstGeom prst="rect">
            <a:avLst/>
          </a:prstGeom>
          <a:solidFill>
            <a:srgbClr val="142350"/>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5742432"/>
            <a:ext cx="64008" cy="777240"/>
          </a:xfrm>
          <a:prstGeom prst="rect">
            <a:avLst/>
          </a:prstGeom>
          <a:gradFill rotWithShape="1">
            <a:gsLst>
              <a:gs pos="0">
                <a:srgbClr val="FBBF24"/>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5815584"/>
            <a:ext cx="2743200" cy="384048"/>
          </a:xfrm>
          <a:prstGeom prst="rect">
            <a:avLst/>
          </a:prstGeom>
          <a:noFill/>
        </p:spPr>
        <p:txBody>
          <a:bodyPr wrap="square">
            <a:spAutoFit/>
          </a:bodyPr>
          <a:lstStyle/>
          <a:p>
            <a:pPr algn="l"/>
            <a:r>
              <a:rPr sz="1400" b="1" i="0">
                <a:solidFill>
                  <a:srgbClr val="FBBF24"/>
                </a:solidFill>
                <a:latin typeface="Calibri"/>
              </a:rPr>
              <a:t>Minimaal voor het project:</a:t>
            </a:r>
          </a:p>
        </p:txBody>
      </p:sp>
      <p:sp>
        <p:nvSpPr>
          <p:cNvPr id="24" name="TextBox 23"/>
          <p:cNvSpPr txBox="1"/>
          <p:nvPr/>
        </p:nvSpPr>
        <p:spPr>
          <a:xfrm>
            <a:off x="1143000" y="6163056"/>
            <a:ext cx="9948672" cy="320040"/>
          </a:xfrm>
          <a:prstGeom prst="rect">
            <a:avLst/>
          </a:prstGeom>
          <a:noFill/>
        </p:spPr>
        <p:txBody>
          <a:bodyPr wrap="square">
            <a:spAutoFit/>
          </a:bodyPr>
          <a:lstStyle/>
          <a:p>
            <a:pPr algn="l"/>
            <a:r>
              <a:rPr sz="1300" b="0" i="1">
                <a:solidFill>
                  <a:srgbClr val="C8D7F0"/>
                </a:solidFill>
                <a:latin typeface="Calibri"/>
              </a:rPr>
              <a:t>primary (en shades), neutrals (5-7 stappen), semantic (success/error/warning)</a:t>
            </a:r>
          </a:p>
        </p:txBody>
      </p:sp>
      <p:sp>
        <p:nvSpPr>
          <p:cNvPr id="25" name="TextBox 24"/>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Goed doel: kleurpalet kiezen</a:t>
            </a:r>
          </a:p>
        </p:txBody>
      </p:sp>
      <p:sp>
        <p:nvSpPr>
          <p:cNvPr id="4" name="Rectangle 3"/>
          <p:cNvSpPr/>
          <p:nvPr/>
        </p:nvSpPr>
        <p:spPr>
          <a:xfrm>
            <a:off x="914400" y="1298448"/>
            <a:ext cx="182880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F0D2B4"/>
                </a:solidFill>
                <a:latin typeface="Calibri"/>
              </a:rPr>
              <a:t>Kleur die past bij het doel en de doelgroep</a:t>
            </a:r>
          </a:p>
        </p:txBody>
      </p:sp>
      <p:sp>
        <p:nvSpPr>
          <p:cNvPr id="6" name="TextBox 5"/>
          <p:cNvSpPr txBox="1"/>
          <p:nvPr/>
        </p:nvSpPr>
        <p:spPr>
          <a:xfrm>
            <a:off x="914400" y="1920240"/>
            <a:ext cx="7772400" cy="2560320"/>
          </a:xfrm>
          <a:prstGeom prst="rect">
            <a:avLst/>
          </a:prstGeom>
          <a:noFill/>
        </p:spPr>
        <p:txBody>
          <a:bodyPr wrap="square">
            <a:spAutoFit/>
          </a:bodyPr>
          <a:lstStyle/>
          <a:p>
            <a:pPr>
              <a:spcBef>
                <a:spcPts val="1000"/>
              </a:spcBef>
            </a:pPr>
            <a:r>
              <a:rPr sz="1600">
                <a:solidFill>
                  <a:srgbClr val="FFFFFF"/>
                </a:solidFill>
                <a:latin typeface="Calibri"/>
              </a:rPr>
              <a:t>  •  Denk aan de emotie die het goede doel uitstraalt: warmte, hoop, urgentie?</a:t>
            </a:r>
          </a:p>
          <a:p>
            <a:pPr>
              <a:spcBef>
                <a:spcPts val="1000"/>
              </a:spcBef>
            </a:pPr>
            <a:r>
              <a:rPr sz="1600">
                <a:solidFill>
                  <a:srgbClr val="FFFFFF"/>
                </a:solidFill>
                <a:latin typeface="Calibri"/>
              </a:rPr>
              <a:t>  •  Kies een primaire kleur die past bij het thema van het goede doel</a:t>
            </a:r>
          </a:p>
          <a:p>
            <a:pPr>
              <a:spcBef>
                <a:spcPts val="1000"/>
              </a:spcBef>
            </a:pPr>
            <a:r>
              <a:rPr sz="1600">
                <a:solidFill>
                  <a:srgbClr val="FFFFFF"/>
                </a:solidFill>
                <a:latin typeface="Calibri"/>
              </a:rPr>
              <a:t>  •  Voeg een neutrale kleur toe (grijs) voor tekst en achtergronden</a:t>
            </a:r>
          </a:p>
          <a:p>
            <a:pPr>
              <a:spcBef>
                <a:spcPts val="1000"/>
              </a:spcBef>
            </a:pPr>
            <a:r>
              <a:rPr sz="1600">
                <a:solidFill>
                  <a:srgbClr val="FFFFFF"/>
                </a:solidFill>
                <a:latin typeface="Calibri"/>
              </a:rPr>
              <a:t>  •  Kies een accentkleur voor CTA knoppen en highlights</a:t>
            </a:r>
          </a:p>
          <a:p>
            <a:pPr>
              <a:spcBef>
                <a:spcPts val="1000"/>
              </a:spcBef>
            </a:pPr>
            <a:r>
              <a:rPr sz="1600">
                <a:solidFill>
                  <a:srgbClr val="FFFFFF"/>
                </a:solidFill>
                <a:latin typeface="Calibri"/>
              </a:rPr>
              <a:t>  •  Controleer direct of je kleur contrast WCAG AA haalt</a:t>
            </a:r>
          </a:p>
        </p:txBody>
      </p:sp>
      <p:sp>
        <p:nvSpPr>
          <p:cNvPr id="7" name="Oval 6"/>
          <p:cNvSpPr/>
          <p:nvPr/>
        </p:nvSpPr>
        <p:spPr>
          <a:xfrm>
            <a:off x="8796528" y="1938528"/>
            <a:ext cx="694944" cy="694944"/>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19488" y="2121408"/>
            <a:ext cx="1828800" cy="457200"/>
          </a:xfrm>
          <a:prstGeom prst="rect">
            <a:avLst/>
          </a:prstGeom>
          <a:noFill/>
        </p:spPr>
        <p:txBody>
          <a:bodyPr wrap="square">
            <a:spAutoFit/>
          </a:bodyPr>
          <a:lstStyle/>
          <a:p>
            <a:pPr algn="l"/>
            <a:r>
              <a:rPr sz="1500" b="0" i="0">
                <a:solidFill>
                  <a:srgbClr val="FFFFFF"/>
                </a:solidFill>
                <a:latin typeface="Calibri"/>
              </a:rPr>
              <a:t>Primair</a:t>
            </a:r>
          </a:p>
        </p:txBody>
      </p:sp>
      <p:sp>
        <p:nvSpPr>
          <p:cNvPr id="9" name="Oval 8"/>
          <p:cNvSpPr/>
          <p:nvPr/>
        </p:nvSpPr>
        <p:spPr>
          <a:xfrm>
            <a:off x="8796528" y="3200400"/>
            <a:ext cx="694944" cy="694944"/>
          </a:xfrm>
          <a:prstGeom prst="ellipse">
            <a:avLst/>
          </a:prstGeom>
          <a:solidFill>
            <a:srgbClr val="64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19488" y="3383280"/>
            <a:ext cx="1828800" cy="457200"/>
          </a:xfrm>
          <a:prstGeom prst="rect">
            <a:avLst/>
          </a:prstGeom>
          <a:noFill/>
        </p:spPr>
        <p:txBody>
          <a:bodyPr wrap="square">
            <a:spAutoFit/>
          </a:bodyPr>
          <a:lstStyle/>
          <a:p>
            <a:pPr algn="l"/>
            <a:r>
              <a:rPr sz="1500" b="0" i="0">
                <a:solidFill>
                  <a:srgbClr val="FFFFFF"/>
                </a:solidFill>
                <a:latin typeface="Calibri"/>
              </a:rPr>
              <a:t>Neutraal</a:t>
            </a:r>
          </a:p>
        </p:txBody>
      </p:sp>
      <p:sp>
        <p:nvSpPr>
          <p:cNvPr id="11" name="Oval 10"/>
          <p:cNvSpPr/>
          <p:nvPr/>
        </p:nvSpPr>
        <p:spPr>
          <a:xfrm>
            <a:off x="8796528" y="4462272"/>
            <a:ext cx="694944" cy="69494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19488" y="4645152"/>
            <a:ext cx="1828800" cy="457200"/>
          </a:xfrm>
          <a:prstGeom prst="rect">
            <a:avLst/>
          </a:prstGeom>
          <a:noFill/>
        </p:spPr>
        <p:txBody>
          <a:bodyPr wrap="square">
            <a:spAutoFit/>
          </a:bodyPr>
          <a:lstStyle/>
          <a:p>
            <a:pPr algn="l"/>
            <a:r>
              <a:rPr sz="1500" b="0" i="0">
                <a:solidFill>
                  <a:srgbClr val="FFFFFF"/>
                </a:solidFill>
                <a:latin typeface="Calibri"/>
              </a:rPr>
              <a:t>Accent</a:t>
            </a:r>
          </a:p>
        </p:txBody>
      </p:sp>
      <p:sp>
        <p:nvSpPr>
          <p:cNvPr id="13" name="Rectangle 12"/>
          <p:cNvSpPr/>
          <p:nvPr/>
        </p:nvSpPr>
        <p:spPr>
          <a:xfrm>
            <a:off x="914400" y="5074920"/>
            <a:ext cx="10332720" cy="1417320"/>
          </a:xfrm>
          <a:prstGeom prst="rect">
            <a:avLst/>
          </a:prstGeom>
          <a:solidFill>
            <a:srgbClr val="0C1941"/>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5074920"/>
            <a:ext cx="64008" cy="1417320"/>
          </a:xfrm>
          <a:prstGeom prst="rect">
            <a:avLst/>
          </a:prstGeom>
          <a:gradFill rotWithShape="1">
            <a:gsLst>
              <a:gs pos="0">
                <a:srgbClr val="2563EB"/>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148072"/>
            <a:ext cx="2286000" cy="384048"/>
          </a:xfrm>
          <a:prstGeom prst="rect">
            <a:avLst/>
          </a:prstGeom>
          <a:noFill/>
        </p:spPr>
        <p:txBody>
          <a:bodyPr wrap="square">
            <a:spAutoFit/>
          </a:bodyPr>
          <a:lstStyle/>
          <a:p>
            <a:pPr algn="l"/>
            <a:r>
              <a:rPr sz="1500" b="1" i="0">
                <a:solidFill>
                  <a:srgbClr val="3B82F6"/>
                </a:solidFill>
                <a:latin typeface="Calibri"/>
              </a:rPr>
              <a:t>Handige tools:</a:t>
            </a:r>
          </a:p>
        </p:txBody>
      </p:sp>
      <p:sp>
        <p:nvSpPr>
          <p:cNvPr id="16" name="TextBox 15"/>
          <p:cNvSpPr txBox="1"/>
          <p:nvPr/>
        </p:nvSpPr>
        <p:spPr>
          <a:xfrm>
            <a:off x="1143000" y="5532120"/>
            <a:ext cx="9948672" cy="347472"/>
          </a:xfrm>
          <a:prstGeom prst="rect">
            <a:avLst/>
          </a:prstGeom>
          <a:noFill/>
        </p:spPr>
        <p:txBody>
          <a:bodyPr wrap="square">
            <a:spAutoFit/>
          </a:bodyPr>
          <a:lstStyle/>
          <a:p>
            <a:pPr algn="l"/>
            <a:r>
              <a:rPr sz="1400" b="0" i="0">
                <a:solidFill>
                  <a:srgbClr val="FFFFFF"/>
                </a:solidFill>
                <a:latin typeface="Calibri"/>
              </a:rPr>
              <a:t>coolors.co voor palette generatie en inspiratie</a:t>
            </a:r>
          </a:p>
        </p:txBody>
      </p:sp>
      <p:sp>
        <p:nvSpPr>
          <p:cNvPr id="17" name="TextBox 16"/>
          <p:cNvSpPr txBox="1"/>
          <p:nvPr/>
        </p:nvSpPr>
        <p:spPr>
          <a:xfrm>
            <a:off x="1143000" y="5879592"/>
            <a:ext cx="9948672" cy="347472"/>
          </a:xfrm>
          <a:prstGeom prst="rect">
            <a:avLst/>
          </a:prstGeom>
          <a:noFill/>
        </p:spPr>
        <p:txBody>
          <a:bodyPr wrap="square">
            <a:spAutoFit/>
          </a:bodyPr>
          <a:lstStyle/>
          <a:p>
            <a:pPr algn="l"/>
            <a:r>
              <a:rPr sz="1400" b="0" i="0">
                <a:solidFill>
                  <a:srgbClr val="FFFFFF"/>
                </a:solidFill>
                <a:latin typeface="Calibri"/>
              </a:rPr>
              <a:t>webaim.org/resources/contrastchecker voor contrast check</a:t>
            </a:r>
          </a:p>
        </p:txBody>
      </p:sp>
      <p:sp>
        <p:nvSpPr>
          <p:cNvPr id="18" name="TextBox 17"/>
          <p:cNvSpPr txBox="1"/>
          <p:nvPr/>
        </p:nvSpPr>
        <p:spPr>
          <a:xfrm>
            <a:off x="1143000" y="6153912"/>
            <a:ext cx="9948672" cy="292608"/>
          </a:xfrm>
          <a:prstGeom prst="rect">
            <a:avLst/>
          </a:prstGeom>
          <a:noFill/>
        </p:spPr>
        <p:txBody>
          <a:bodyPr wrap="square">
            <a:spAutoFit/>
          </a:bodyPr>
          <a:lstStyle/>
          <a:p>
            <a:pPr algn="l"/>
            <a:r>
              <a:rPr sz="1300" b="0" i="1">
                <a:solidFill>
                  <a:srgbClr val="C8D7F0"/>
                </a:solidFill>
                <a:latin typeface="Calibri"/>
              </a:rPr>
              <a:t>Probeer je primaire kleur nu al te kiezen en te controleren.</a:t>
            </a:r>
          </a:p>
        </p:txBody>
      </p:sp>
      <p:sp>
        <p:nvSpPr>
          <p:cNvPr id="19" name="TextBox 18"/>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Live analyse: contrast checken</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Opdrachten voor nu in de les</a:t>
            </a:r>
          </a:p>
        </p:txBody>
      </p:sp>
      <p:sp>
        <p:nvSpPr>
          <p:cNvPr id="6" name="Rectangle 5"/>
          <p:cNvSpPr/>
          <p:nvPr/>
        </p:nvSpPr>
        <p:spPr>
          <a:xfrm>
            <a:off x="822960" y="1691640"/>
            <a:ext cx="10561320" cy="1042415"/>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91640"/>
            <a:ext cx="64008" cy="1042415"/>
          </a:xfrm>
          <a:prstGeom prst="rect">
            <a:avLst/>
          </a:prstGeom>
          <a:gradFill rotWithShape="1">
            <a:gsLst>
              <a:gs pos="0">
                <a:srgbClr val="2563EB"/>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8" y="1911096"/>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1728216"/>
            <a:ext cx="2286000" cy="347472"/>
          </a:xfrm>
          <a:prstGeom prst="rect">
            <a:avLst/>
          </a:prstGeom>
          <a:noFill/>
        </p:spPr>
        <p:txBody>
          <a:bodyPr wrap="square">
            <a:spAutoFit/>
          </a:bodyPr>
          <a:lstStyle/>
          <a:p>
            <a:pPr algn="l"/>
            <a:r>
              <a:rPr sz="1300" b="1" i="0">
                <a:solidFill>
                  <a:srgbClr val="2563EB"/>
                </a:solidFill>
                <a:latin typeface="Calibri"/>
              </a:rPr>
              <a:t>Opdracht 1</a:t>
            </a:r>
          </a:p>
        </p:txBody>
      </p:sp>
      <p:sp>
        <p:nvSpPr>
          <p:cNvPr id="10" name="TextBox 9"/>
          <p:cNvSpPr txBox="1"/>
          <p:nvPr/>
        </p:nvSpPr>
        <p:spPr>
          <a:xfrm>
            <a:off x="1325880" y="2075688"/>
            <a:ext cx="9811512" cy="548640"/>
          </a:xfrm>
          <a:prstGeom prst="rect">
            <a:avLst/>
          </a:prstGeom>
          <a:noFill/>
        </p:spPr>
        <p:txBody>
          <a:bodyPr wrap="square">
            <a:spAutoFit/>
          </a:bodyPr>
          <a:lstStyle/>
          <a:p>
            <a:pPr algn="l"/>
            <a:r>
              <a:rPr sz="1400" b="0" i="0">
                <a:solidFill>
                  <a:srgbClr val="334155"/>
                </a:solidFill>
                <a:latin typeface="Calibri"/>
              </a:rPr>
              <a:t>Ga naar webaim.org/resources/contrastchecker. Voer je primaire kleur en wit in. Haal je WCAG AA?</a:t>
            </a:r>
          </a:p>
        </p:txBody>
      </p:sp>
      <p:sp>
        <p:nvSpPr>
          <p:cNvPr id="11" name="Rectangle 10"/>
          <p:cNvSpPr/>
          <p:nvPr/>
        </p:nvSpPr>
        <p:spPr>
          <a:xfrm>
            <a:off x="822960" y="2862072"/>
            <a:ext cx="10561320" cy="1042415"/>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862072"/>
            <a:ext cx="64008" cy="1042415"/>
          </a:xfrm>
          <a:prstGeom prst="rect">
            <a:avLst/>
          </a:prstGeom>
          <a:gradFill rotWithShape="1">
            <a:gsLst>
              <a:gs pos="0">
                <a:srgbClr val="16A34A"/>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248" y="3081528"/>
            <a:ext cx="365760" cy="36576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898648"/>
            <a:ext cx="2286000" cy="347472"/>
          </a:xfrm>
          <a:prstGeom prst="rect">
            <a:avLst/>
          </a:prstGeom>
          <a:noFill/>
        </p:spPr>
        <p:txBody>
          <a:bodyPr wrap="square">
            <a:spAutoFit/>
          </a:bodyPr>
          <a:lstStyle/>
          <a:p>
            <a:pPr algn="l"/>
            <a:r>
              <a:rPr sz="1300" b="1" i="0">
                <a:solidFill>
                  <a:srgbClr val="16A34A"/>
                </a:solidFill>
                <a:latin typeface="Calibri"/>
              </a:rPr>
              <a:t>Opdracht 2</a:t>
            </a:r>
          </a:p>
        </p:txBody>
      </p:sp>
      <p:sp>
        <p:nvSpPr>
          <p:cNvPr id="15" name="TextBox 14"/>
          <p:cNvSpPr txBox="1"/>
          <p:nvPr/>
        </p:nvSpPr>
        <p:spPr>
          <a:xfrm>
            <a:off x="1325880" y="3246120"/>
            <a:ext cx="9811512" cy="548640"/>
          </a:xfrm>
          <a:prstGeom prst="rect">
            <a:avLst/>
          </a:prstGeom>
          <a:noFill/>
        </p:spPr>
        <p:txBody>
          <a:bodyPr wrap="square">
            <a:spAutoFit/>
          </a:bodyPr>
          <a:lstStyle/>
          <a:p>
            <a:pPr algn="l"/>
            <a:r>
              <a:rPr sz="1400" b="0" i="0">
                <a:solidFill>
                  <a:srgbClr val="334155"/>
                </a:solidFill>
                <a:latin typeface="Calibri"/>
              </a:rPr>
              <a:t>Open een bestaande website en check de bodytekst kleur met de browser inspector. Wat is de hex waarde?</a:t>
            </a:r>
          </a:p>
        </p:txBody>
      </p:sp>
      <p:sp>
        <p:nvSpPr>
          <p:cNvPr id="16" name="Rectangle 15"/>
          <p:cNvSpPr/>
          <p:nvPr/>
        </p:nvSpPr>
        <p:spPr>
          <a:xfrm>
            <a:off x="822960" y="4032504"/>
            <a:ext cx="10561320" cy="1042415"/>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032504"/>
            <a:ext cx="64008" cy="1042415"/>
          </a:xfrm>
          <a:prstGeom prst="rect">
            <a:avLst/>
          </a:prstGeom>
          <a:gradFill rotWithShape="1">
            <a:gsLst>
              <a:gs pos="0">
                <a:srgbClr val="EA580C"/>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8" y="4251960"/>
            <a:ext cx="365760" cy="36576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4069080"/>
            <a:ext cx="2286000" cy="347472"/>
          </a:xfrm>
          <a:prstGeom prst="rect">
            <a:avLst/>
          </a:prstGeom>
          <a:noFill/>
        </p:spPr>
        <p:txBody>
          <a:bodyPr wrap="square">
            <a:spAutoFit/>
          </a:bodyPr>
          <a:lstStyle/>
          <a:p>
            <a:pPr algn="l"/>
            <a:r>
              <a:rPr sz="1300" b="1" i="0">
                <a:solidFill>
                  <a:srgbClr val="EA580C"/>
                </a:solidFill>
                <a:latin typeface="Calibri"/>
              </a:rPr>
              <a:t>Opdracht 3</a:t>
            </a:r>
          </a:p>
        </p:txBody>
      </p:sp>
      <p:sp>
        <p:nvSpPr>
          <p:cNvPr id="20" name="TextBox 19"/>
          <p:cNvSpPr txBox="1"/>
          <p:nvPr/>
        </p:nvSpPr>
        <p:spPr>
          <a:xfrm>
            <a:off x="1325880" y="4416552"/>
            <a:ext cx="9811512" cy="548640"/>
          </a:xfrm>
          <a:prstGeom prst="rect">
            <a:avLst/>
          </a:prstGeom>
          <a:noFill/>
        </p:spPr>
        <p:txBody>
          <a:bodyPr wrap="square">
            <a:spAutoFit/>
          </a:bodyPr>
          <a:lstStyle/>
          <a:p>
            <a:pPr algn="l"/>
            <a:r>
              <a:rPr sz="1400" b="0" i="0">
                <a:solidFill>
                  <a:srgbClr val="334155"/>
                </a:solidFill>
                <a:latin typeface="Calibri"/>
              </a:rPr>
              <a:t>Kijk naar de CTA knop op een website. Is de knoptekst goed leesbaar, en wat is het contrast ratio?</a:t>
            </a:r>
          </a:p>
        </p:txBody>
      </p:sp>
      <p:sp>
        <p:nvSpPr>
          <p:cNvPr id="21" name="Rectangle 20"/>
          <p:cNvSpPr/>
          <p:nvPr/>
        </p:nvSpPr>
        <p:spPr>
          <a:xfrm>
            <a:off x="822960" y="5202936"/>
            <a:ext cx="10561320" cy="1042415"/>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5202936"/>
            <a:ext cx="64008" cy="1042415"/>
          </a:xfrm>
          <a:prstGeom prst="rect">
            <a:avLst/>
          </a:prstGeom>
          <a:gradFill rotWithShape="1">
            <a:gsLst>
              <a:gs pos="0">
                <a:srgbClr val="DC2626"/>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41248" y="5422392"/>
            <a:ext cx="365760" cy="3657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5239512"/>
            <a:ext cx="2286000" cy="347472"/>
          </a:xfrm>
          <a:prstGeom prst="rect">
            <a:avLst/>
          </a:prstGeom>
          <a:noFill/>
        </p:spPr>
        <p:txBody>
          <a:bodyPr wrap="square">
            <a:spAutoFit/>
          </a:bodyPr>
          <a:lstStyle/>
          <a:p>
            <a:pPr algn="l"/>
            <a:r>
              <a:rPr sz="1300" b="1" i="0">
                <a:solidFill>
                  <a:srgbClr val="DC2626"/>
                </a:solidFill>
                <a:latin typeface="Calibri"/>
              </a:rPr>
              <a:t>Opdracht 4</a:t>
            </a:r>
          </a:p>
        </p:txBody>
      </p:sp>
      <p:sp>
        <p:nvSpPr>
          <p:cNvPr id="25" name="TextBox 24"/>
          <p:cNvSpPr txBox="1"/>
          <p:nvPr/>
        </p:nvSpPr>
        <p:spPr>
          <a:xfrm>
            <a:off x="1325880" y="5586984"/>
            <a:ext cx="9811512" cy="548640"/>
          </a:xfrm>
          <a:prstGeom prst="rect">
            <a:avLst/>
          </a:prstGeom>
          <a:noFill/>
        </p:spPr>
        <p:txBody>
          <a:bodyPr wrap="square">
            <a:spAutoFit/>
          </a:bodyPr>
          <a:lstStyle/>
          <a:p>
            <a:pPr algn="l"/>
            <a:r>
              <a:rPr sz="1400" b="0" i="0">
                <a:solidFill>
                  <a:srgbClr val="334155"/>
                </a:solidFill>
                <a:latin typeface="Calibri"/>
              </a:rPr>
              <a:t>Vergelijk twee sites: een met veel kleur en een minimalistische. Wat voelt professioneler en waarom?</a:t>
            </a:r>
          </a:p>
        </p:txBody>
      </p:sp>
      <p:sp>
        <p:nvSpPr>
          <p:cNvPr id="26" name="TextBox 25"/>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Kleur en emotie</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Wat kleuren communiceren</a:t>
            </a:r>
          </a:p>
        </p:txBody>
      </p:sp>
      <p:sp>
        <p:nvSpPr>
          <p:cNvPr id="6" name="Rectangle 5"/>
          <p:cNvSpPr/>
          <p:nvPr/>
        </p:nvSpPr>
        <p:spPr>
          <a:xfrm>
            <a:off x="822960" y="1627632"/>
            <a:ext cx="228600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91640"/>
            <a:ext cx="2286000" cy="393192"/>
          </a:xfrm>
          <a:prstGeom prst="rect">
            <a:avLst/>
          </a:prstGeom>
          <a:noFill/>
        </p:spPr>
        <p:txBody>
          <a:bodyPr wrap="square">
            <a:spAutoFit/>
          </a:bodyPr>
          <a:lstStyle/>
          <a:p>
            <a:pPr algn="ctr"/>
            <a:r>
              <a:rPr sz="2000" b="1" i="0">
                <a:solidFill>
                  <a:srgbClr val="FFFFFF"/>
                </a:solidFill>
                <a:latin typeface="Calibri"/>
              </a:rPr>
              <a:t>Kleur</a:t>
            </a:r>
          </a:p>
        </p:txBody>
      </p:sp>
      <p:sp>
        <p:nvSpPr>
          <p:cNvPr id="8" name="Rectangle 7"/>
          <p:cNvSpPr/>
          <p:nvPr/>
        </p:nvSpPr>
        <p:spPr>
          <a:xfrm>
            <a:off x="3182112" y="1627632"/>
            <a:ext cx="7406640"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82112" y="1691640"/>
            <a:ext cx="7406640" cy="393192"/>
          </a:xfrm>
          <a:prstGeom prst="rect">
            <a:avLst/>
          </a:prstGeom>
          <a:noFill/>
        </p:spPr>
        <p:txBody>
          <a:bodyPr wrap="square">
            <a:spAutoFit/>
          </a:bodyPr>
          <a:lstStyle/>
          <a:p>
            <a:pPr algn="ctr"/>
            <a:r>
              <a:rPr sz="2000" b="1" i="0">
                <a:solidFill>
                  <a:srgbClr val="FFFFFF"/>
                </a:solidFill>
                <a:latin typeface="Calibri"/>
              </a:rPr>
              <a:t>Associaties</a:t>
            </a:r>
          </a:p>
        </p:txBody>
      </p:sp>
      <p:sp>
        <p:nvSpPr>
          <p:cNvPr id="10" name="Rectangle 9"/>
          <p:cNvSpPr/>
          <p:nvPr/>
        </p:nvSpPr>
        <p:spPr>
          <a:xfrm>
            <a:off x="822960" y="2084832"/>
            <a:ext cx="2286000" cy="713232"/>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2221992"/>
            <a:ext cx="365760" cy="36576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194560"/>
            <a:ext cx="1645920" cy="457200"/>
          </a:xfrm>
          <a:prstGeom prst="rect">
            <a:avLst/>
          </a:prstGeom>
          <a:noFill/>
        </p:spPr>
        <p:txBody>
          <a:bodyPr wrap="square">
            <a:spAutoFit/>
          </a:bodyPr>
          <a:lstStyle/>
          <a:p>
            <a:pPr algn="l"/>
            <a:r>
              <a:rPr sz="1500" b="1" i="0">
                <a:solidFill>
                  <a:srgbClr val="0F172A"/>
                </a:solidFill>
                <a:latin typeface="Calibri"/>
              </a:rPr>
              <a:t>Rood</a:t>
            </a:r>
          </a:p>
        </p:txBody>
      </p:sp>
      <p:sp>
        <p:nvSpPr>
          <p:cNvPr id="13" name="Rectangle 12"/>
          <p:cNvSpPr/>
          <p:nvPr/>
        </p:nvSpPr>
        <p:spPr>
          <a:xfrm>
            <a:off x="3182112" y="2084832"/>
            <a:ext cx="7406640" cy="713232"/>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10128" y="2249424"/>
            <a:ext cx="7132320" cy="420624"/>
          </a:xfrm>
          <a:prstGeom prst="rect">
            <a:avLst/>
          </a:prstGeom>
          <a:noFill/>
        </p:spPr>
        <p:txBody>
          <a:bodyPr wrap="square">
            <a:spAutoFit/>
          </a:bodyPr>
          <a:lstStyle/>
          <a:p>
            <a:pPr algn="l"/>
            <a:r>
              <a:rPr sz="1400" b="0" i="0">
                <a:solidFill>
                  <a:srgbClr val="334155"/>
                </a:solidFill>
                <a:latin typeface="Calibri"/>
              </a:rPr>
              <a:t>Urgentie, passie, gevaar, energie</a:t>
            </a:r>
          </a:p>
        </p:txBody>
      </p:sp>
      <p:sp>
        <p:nvSpPr>
          <p:cNvPr id="15" name="Rectangle 14"/>
          <p:cNvSpPr/>
          <p:nvPr/>
        </p:nvSpPr>
        <p:spPr>
          <a:xfrm>
            <a:off x="822960" y="2798064"/>
            <a:ext cx="2286000" cy="7132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400" y="2935224"/>
            <a:ext cx="365760" cy="365760"/>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2907792"/>
            <a:ext cx="1645920" cy="457200"/>
          </a:xfrm>
          <a:prstGeom prst="rect">
            <a:avLst/>
          </a:prstGeom>
          <a:noFill/>
        </p:spPr>
        <p:txBody>
          <a:bodyPr wrap="square">
            <a:spAutoFit/>
          </a:bodyPr>
          <a:lstStyle/>
          <a:p>
            <a:pPr algn="l"/>
            <a:r>
              <a:rPr sz="1500" b="1" i="0">
                <a:solidFill>
                  <a:srgbClr val="0F172A"/>
                </a:solidFill>
                <a:latin typeface="Calibri"/>
              </a:rPr>
              <a:t>Oranje</a:t>
            </a:r>
          </a:p>
        </p:txBody>
      </p:sp>
      <p:sp>
        <p:nvSpPr>
          <p:cNvPr id="18" name="Rectangle 17"/>
          <p:cNvSpPr/>
          <p:nvPr/>
        </p:nvSpPr>
        <p:spPr>
          <a:xfrm>
            <a:off x="3182112" y="2798064"/>
            <a:ext cx="7406640" cy="7132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2962656"/>
            <a:ext cx="7132320" cy="420624"/>
          </a:xfrm>
          <a:prstGeom prst="rect">
            <a:avLst/>
          </a:prstGeom>
          <a:noFill/>
        </p:spPr>
        <p:txBody>
          <a:bodyPr wrap="square">
            <a:spAutoFit/>
          </a:bodyPr>
          <a:lstStyle/>
          <a:p>
            <a:pPr algn="l"/>
            <a:r>
              <a:rPr sz="1400" b="0" i="0">
                <a:solidFill>
                  <a:srgbClr val="334155"/>
                </a:solidFill>
                <a:latin typeface="Calibri"/>
              </a:rPr>
              <a:t>Vriendelijkheid, enthousiasme, creativiteit</a:t>
            </a:r>
          </a:p>
        </p:txBody>
      </p:sp>
      <p:sp>
        <p:nvSpPr>
          <p:cNvPr id="20" name="Rectangle 19"/>
          <p:cNvSpPr/>
          <p:nvPr/>
        </p:nvSpPr>
        <p:spPr>
          <a:xfrm>
            <a:off x="822960" y="3511296"/>
            <a:ext cx="2286000" cy="713232"/>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4400" y="3648456"/>
            <a:ext cx="365760" cy="365760"/>
          </a:xfrm>
          <a:prstGeom prst="ellipse">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71600" y="3621024"/>
            <a:ext cx="1645920" cy="457200"/>
          </a:xfrm>
          <a:prstGeom prst="rect">
            <a:avLst/>
          </a:prstGeom>
          <a:noFill/>
        </p:spPr>
        <p:txBody>
          <a:bodyPr wrap="square">
            <a:spAutoFit/>
          </a:bodyPr>
          <a:lstStyle/>
          <a:p>
            <a:pPr algn="l"/>
            <a:r>
              <a:rPr sz="1500" b="1" i="0">
                <a:solidFill>
                  <a:srgbClr val="0F172A"/>
                </a:solidFill>
                <a:latin typeface="Calibri"/>
              </a:rPr>
              <a:t>Geel</a:t>
            </a:r>
          </a:p>
        </p:txBody>
      </p:sp>
      <p:sp>
        <p:nvSpPr>
          <p:cNvPr id="23" name="Rectangle 22"/>
          <p:cNvSpPr/>
          <p:nvPr/>
        </p:nvSpPr>
        <p:spPr>
          <a:xfrm>
            <a:off x="3182112" y="3511296"/>
            <a:ext cx="7406640" cy="713232"/>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0128" y="3675888"/>
            <a:ext cx="7132320" cy="420624"/>
          </a:xfrm>
          <a:prstGeom prst="rect">
            <a:avLst/>
          </a:prstGeom>
          <a:noFill/>
        </p:spPr>
        <p:txBody>
          <a:bodyPr wrap="square">
            <a:spAutoFit/>
          </a:bodyPr>
          <a:lstStyle/>
          <a:p>
            <a:pPr algn="l"/>
            <a:r>
              <a:rPr sz="1400" b="0" i="0">
                <a:solidFill>
                  <a:srgbClr val="334155"/>
                </a:solidFill>
                <a:latin typeface="Calibri"/>
              </a:rPr>
              <a:t>Optimisme, aandacht, waarschuwing</a:t>
            </a:r>
          </a:p>
        </p:txBody>
      </p:sp>
      <p:sp>
        <p:nvSpPr>
          <p:cNvPr id="25" name="Rectangle 24"/>
          <p:cNvSpPr/>
          <p:nvPr/>
        </p:nvSpPr>
        <p:spPr>
          <a:xfrm>
            <a:off x="822960" y="4224528"/>
            <a:ext cx="2286000" cy="7132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14400" y="4361688"/>
            <a:ext cx="365760" cy="365760"/>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4334256"/>
            <a:ext cx="1645920" cy="457200"/>
          </a:xfrm>
          <a:prstGeom prst="rect">
            <a:avLst/>
          </a:prstGeom>
          <a:noFill/>
        </p:spPr>
        <p:txBody>
          <a:bodyPr wrap="square">
            <a:spAutoFit/>
          </a:bodyPr>
          <a:lstStyle/>
          <a:p>
            <a:pPr algn="l"/>
            <a:r>
              <a:rPr sz="1500" b="1" i="0">
                <a:solidFill>
                  <a:srgbClr val="0F172A"/>
                </a:solidFill>
                <a:latin typeface="Calibri"/>
              </a:rPr>
              <a:t>Groen</a:t>
            </a:r>
          </a:p>
        </p:txBody>
      </p:sp>
      <p:sp>
        <p:nvSpPr>
          <p:cNvPr id="28" name="Rectangle 27"/>
          <p:cNvSpPr/>
          <p:nvPr/>
        </p:nvSpPr>
        <p:spPr>
          <a:xfrm>
            <a:off x="3182112" y="4224528"/>
            <a:ext cx="7406640" cy="7132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10128" y="4389120"/>
            <a:ext cx="7132320" cy="420624"/>
          </a:xfrm>
          <a:prstGeom prst="rect">
            <a:avLst/>
          </a:prstGeom>
          <a:noFill/>
        </p:spPr>
        <p:txBody>
          <a:bodyPr wrap="square">
            <a:spAutoFit/>
          </a:bodyPr>
          <a:lstStyle/>
          <a:p>
            <a:pPr algn="l"/>
            <a:r>
              <a:rPr sz="1400" b="0" i="0">
                <a:solidFill>
                  <a:srgbClr val="334155"/>
                </a:solidFill>
                <a:latin typeface="Calibri"/>
              </a:rPr>
              <a:t>Groei, gezondheid, natuur, succes</a:t>
            </a:r>
          </a:p>
        </p:txBody>
      </p:sp>
      <p:sp>
        <p:nvSpPr>
          <p:cNvPr id="30" name="Rectangle 29"/>
          <p:cNvSpPr/>
          <p:nvPr/>
        </p:nvSpPr>
        <p:spPr>
          <a:xfrm>
            <a:off x="822960" y="4937760"/>
            <a:ext cx="2286000" cy="713232"/>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14400" y="5074920"/>
            <a:ext cx="365760" cy="36576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1600" y="5047488"/>
            <a:ext cx="1645920" cy="457200"/>
          </a:xfrm>
          <a:prstGeom prst="rect">
            <a:avLst/>
          </a:prstGeom>
          <a:noFill/>
        </p:spPr>
        <p:txBody>
          <a:bodyPr wrap="square">
            <a:spAutoFit/>
          </a:bodyPr>
          <a:lstStyle/>
          <a:p>
            <a:pPr algn="l"/>
            <a:r>
              <a:rPr sz="1500" b="1" i="0">
                <a:solidFill>
                  <a:srgbClr val="0F172A"/>
                </a:solidFill>
                <a:latin typeface="Calibri"/>
              </a:rPr>
              <a:t>Blauw</a:t>
            </a:r>
          </a:p>
        </p:txBody>
      </p:sp>
      <p:sp>
        <p:nvSpPr>
          <p:cNvPr id="33" name="Rectangle 32"/>
          <p:cNvSpPr/>
          <p:nvPr/>
        </p:nvSpPr>
        <p:spPr>
          <a:xfrm>
            <a:off x="3182112" y="4937760"/>
            <a:ext cx="7406640" cy="713232"/>
          </a:xfrm>
          <a:prstGeom prst="rect">
            <a:avLst/>
          </a:prstGeom>
          <a:solidFill>
            <a:srgbClr val="FFFFFF"/>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10128" y="5102352"/>
            <a:ext cx="7132320" cy="420624"/>
          </a:xfrm>
          <a:prstGeom prst="rect">
            <a:avLst/>
          </a:prstGeom>
          <a:noFill/>
        </p:spPr>
        <p:txBody>
          <a:bodyPr wrap="square">
            <a:spAutoFit/>
          </a:bodyPr>
          <a:lstStyle/>
          <a:p>
            <a:pPr algn="l"/>
            <a:r>
              <a:rPr sz="1400" b="0" i="0">
                <a:solidFill>
                  <a:srgbClr val="334155"/>
                </a:solidFill>
                <a:latin typeface="Calibri"/>
              </a:rPr>
              <a:t>Vertrouwen, rust, professionaliteit</a:t>
            </a:r>
          </a:p>
        </p:txBody>
      </p:sp>
      <p:sp>
        <p:nvSpPr>
          <p:cNvPr id="35" name="Rectangle 34"/>
          <p:cNvSpPr/>
          <p:nvPr/>
        </p:nvSpPr>
        <p:spPr>
          <a:xfrm>
            <a:off x="822960" y="5650992"/>
            <a:ext cx="2286000" cy="7132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4400" y="5788152"/>
            <a:ext cx="365760" cy="36576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71600" y="5760720"/>
            <a:ext cx="1645920" cy="457200"/>
          </a:xfrm>
          <a:prstGeom prst="rect">
            <a:avLst/>
          </a:prstGeom>
          <a:noFill/>
        </p:spPr>
        <p:txBody>
          <a:bodyPr wrap="square">
            <a:spAutoFit/>
          </a:bodyPr>
          <a:lstStyle/>
          <a:p>
            <a:pPr algn="l"/>
            <a:r>
              <a:rPr sz="1500" b="1" i="0">
                <a:solidFill>
                  <a:srgbClr val="0F172A"/>
                </a:solidFill>
                <a:latin typeface="Calibri"/>
              </a:rPr>
              <a:t>Paars</a:t>
            </a:r>
          </a:p>
        </p:txBody>
      </p:sp>
      <p:sp>
        <p:nvSpPr>
          <p:cNvPr id="38" name="Rectangle 37"/>
          <p:cNvSpPr/>
          <p:nvPr/>
        </p:nvSpPr>
        <p:spPr>
          <a:xfrm>
            <a:off x="3182112" y="5650992"/>
            <a:ext cx="7406640" cy="71323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310128" y="5815584"/>
            <a:ext cx="7132320" cy="420624"/>
          </a:xfrm>
          <a:prstGeom prst="rect">
            <a:avLst/>
          </a:prstGeom>
          <a:noFill/>
        </p:spPr>
        <p:txBody>
          <a:bodyPr wrap="square">
            <a:spAutoFit/>
          </a:bodyPr>
          <a:lstStyle/>
          <a:p>
            <a:pPr algn="l"/>
            <a:r>
              <a:rPr sz="1400" b="0" i="0">
                <a:solidFill>
                  <a:srgbClr val="334155"/>
                </a:solidFill>
                <a:latin typeface="Calibri"/>
              </a:rPr>
              <a:t>Luxe, creativiteit, wijsheid</a:t>
            </a:r>
          </a:p>
        </p:txBody>
      </p:sp>
      <p:sp>
        <p:nvSpPr>
          <p:cNvPr id="40" name="TextBox 39"/>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868680"/>
          </a:xfrm>
          <a:prstGeom prst="rect">
            <a:avLst/>
          </a:prstGeom>
          <a:noFill/>
        </p:spPr>
        <p:txBody>
          <a:bodyPr wrap="square">
            <a:spAutoFit/>
          </a:bodyPr>
          <a:lstStyle/>
          <a:p>
            <a:pPr algn="l"/>
            <a:r>
              <a:rPr sz="3400" b="1" i="0">
                <a:solidFill>
                  <a:srgbClr val="0F172A"/>
                </a:solidFill>
                <a:latin typeface="Calibri"/>
              </a:rPr>
              <a:t>Bronnen en verdieping</a:t>
            </a:r>
          </a:p>
        </p:txBody>
      </p:sp>
      <p:sp>
        <p:nvSpPr>
          <p:cNvPr id="4" name="Rectangle 3"/>
          <p:cNvSpPr/>
          <p:nvPr/>
        </p:nvSpPr>
        <p:spPr>
          <a:xfrm>
            <a:off x="914400" y="1261872"/>
            <a:ext cx="164592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71600"/>
            <a:ext cx="10332720" cy="347472"/>
          </a:xfrm>
          <a:prstGeom prst="rect">
            <a:avLst/>
          </a:prstGeom>
          <a:noFill/>
        </p:spPr>
        <p:txBody>
          <a:bodyPr wrap="square">
            <a:spAutoFit/>
          </a:bodyPr>
          <a:lstStyle/>
          <a:p>
            <a:pPr algn="l"/>
            <a:r>
              <a:rPr sz="1400" b="0" i="1">
                <a:solidFill>
                  <a:srgbClr val="647487"/>
                </a:solidFill>
                <a:latin typeface="Calibri"/>
              </a:rPr>
              <a:t>Tools en referenties voor kleur en contrast</a:t>
            </a:r>
          </a:p>
        </p:txBody>
      </p:sp>
      <p:sp>
        <p:nvSpPr>
          <p:cNvPr id="6" name="Rectangle 5"/>
          <p:cNvSpPr/>
          <p:nvPr/>
        </p:nvSpPr>
        <p:spPr>
          <a:xfrm>
            <a:off x="822960" y="1627632"/>
            <a:ext cx="1056132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27632"/>
            <a:ext cx="64008" cy="804672"/>
          </a:xfrm>
          <a:prstGeom prst="rect">
            <a:avLst/>
          </a:prstGeom>
          <a:gradFill rotWithShape="1">
            <a:gsLst>
              <a:gs pos="0">
                <a:srgbClr val="EA580C"/>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773936"/>
            <a:ext cx="3657600" cy="365760"/>
          </a:xfrm>
          <a:prstGeom prst="rect">
            <a:avLst/>
          </a:prstGeom>
          <a:noFill/>
        </p:spPr>
        <p:txBody>
          <a:bodyPr wrap="square">
            <a:spAutoFit/>
          </a:bodyPr>
          <a:lstStyle/>
          <a:p>
            <a:pPr algn="l"/>
            <a:r>
              <a:rPr sz="1500" b="1" i="0">
                <a:solidFill>
                  <a:srgbClr val="0F172A"/>
                </a:solidFill>
                <a:latin typeface="Calibri"/>
              </a:rPr>
              <a:t>Coolors kleurenpalet generator</a:t>
            </a:r>
          </a:p>
        </p:txBody>
      </p:sp>
      <p:sp>
        <p:nvSpPr>
          <p:cNvPr id="9" name="TextBox 8"/>
          <p:cNvSpPr txBox="1"/>
          <p:nvPr/>
        </p:nvSpPr>
        <p:spPr>
          <a:xfrm>
            <a:off x="4526280" y="1773936"/>
            <a:ext cx="2926080" cy="365760"/>
          </a:xfrm>
          <a:prstGeom prst="rect">
            <a:avLst/>
          </a:prstGeom>
          <a:noFill/>
        </p:spPr>
        <p:txBody>
          <a:bodyPr wrap="square">
            <a:spAutoFit/>
          </a:bodyPr>
          <a:lstStyle/>
          <a:p>
            <a:pPr algn="l"/>
            <a:r>
              <a:rPr sz="1300" b="0" i="1">
                <a:solidFill>
                  <a:srgbClr val="EA580C"/>
                </a:solidFill>
                <a:latin typeface="Calibri"/>
              </a:rPr>
              <a:t>coolors.co</a:t>
            </a:r>
          </a:p>
        </p:txBody>
      </p:sp>
      <p:sp>
        <p:nvSpPr>
          <p:cNvPr id="10" name="TextBox 9"/>
          <p:cNvSpPr txBox="1"/>
          <p:nvPr/>
        </p:nvSpPr>
        <p:spPr>
          <a:xfrm>
            <a:off x="7498079" y="1773936"/>
            <a:ext cx="6519672" cy="502920"/>
          </a:xfrm>
          <a:prstGeom prst="rect">
            <a:avLst/>
          </a:prstGeom>
          <a:noFill/>
        </p:spPr>
        <p:txBody>
          <a:bodyPr wrap="square">
            <a:spAutoFit/>
          </a:bodyPr>
          <a:lstStyle/>
          <a:p>
            <a:pPr algn="l"/>
            <a:r>
              <a:rPr sz="1300" b="0" i="0">
                <a:solidFill>
                  <a:srgbClr val="647487"/>
                </a:solidFill>
                <a:latin typeface="Calibri"/>
              </a:rPr>
              <a:t>Genereer en sla kleurenpaletten op</a:t>
            </a:r>
          </a:p>
        </p:txBody>
      </p:sp>
      <p:sp>
        <p:nvSpPr>
          <p:cNvPr id="11" name="Rectangle 10"/>
          <p:cNvSpPr/>
          <p:nvPr/>
        </p:nvSpPr>
        <p:spPr>
          <a:xfrm>
            <a:off x="822960" y="2560320"/>
            <a:ext cx="1056132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2560320"/>
            <a:ext cx="64008" cy="804672"/>
          </a:xfrm>
          <a:prstGeom prst="rect">
            <a:avLst/>
          </a:prstGeom>
          <a:gradFill rotWithShape="1">
            <a:gsLst>
              <a:gs pos="0">
                <a:srgbClr val="16A34A"/>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706624"/>
            <a:ext cx="3657600" cy="365760"/>
          </a:xfrm>
          <a:prstGeom prst="rect">
            <a:avLst/>
          </a:prstGeom>
          <a:noFill/>
        </p:spPr>
        <p:txBody>
          <a:bodyPr wrap="square">
            <a:spAutoFit/>
          </a:bodyPr>
          <a:lstStyle/>
          <a:p>
            <a:pPr algn="l"/>
            <a:r>
              <a:rPr sz="1500" b="1" i="0">
                <a:solidFill>
                  <a:srgbClr val="0F172A"/>
                </a:solidFill>
                <a:latin typeface="Calibri"/>
              </a:rPr>
              <a:t>WCAG contrast checker</a:t>
            </a:r>
          </a:p>
        </p:txBody>
      </p:sp>
      <p:sp>
        <p:nvSpPr>
          <p:cNvPr id="14" name="TextBox 13"/>
          <p:cNvSpPr txBox="1"/>
          <p:nvPr/>
        </p:nvSpPr>
        <p:spPr>
          <a:xfrm>
            <a:off x="4526280" y="2706624"/>
            <a:ext cx="2926080" cy="365760"/>
          </a:xfrm>
          <a:prstGeom prst="rect">
            <a:avLst/>
          </a:prstGeom>
          <a:noFill/>
        </p:spPr>
        <p:txBody>
          <a:bodyPr wrap="square">
            <a:spAutoFit/>
          </a:bodyPr>
          <a:lstStyle/>
          <a:p>
            <a:pPr algn="l"/>
            <a:r>
              <a:rPr sz="1300" b="0" i="1">
                <a:solidFill>
                  <a:srgbClr val="16A34A"/>
                </a:solidFill>
                <a:latin typeface="Calibri"/>
              </a:rPr>
              <a:t>webaim.org/resources/contrastchecker</a:t>
            </a:r>
          </a:p>
        </p:txBody>
      </p:sp>
      <p:sp>
        <p:nvSpPr>
          <p:cNvPr id="15" name="TextBox 14"/>
          <p:cNvSpPr txBox="1"/>
          <p:nvPr/>
        </p:nvSpPr>
        <p:spPr>
          <a:xfrm>
            <a:off x="7498079" y="2706624"/>
            <a:ext cx="6519672" cy="502920"/>
          </a:xfrm>
          <a:prstGeom prst="rect">
            <a:avLst/>
          </a:prstGeom>
          <a:noFill/>
        </p:spPr>
        <p:txBody>
          <a:bodyPr wrap="square">
            <a:spAutoFit/>
          </a:bodyPr>
          <a:lstStyle/>
          <a:p>
            <a:pPr algn="l"/>
            <a:r>
              <a:rPr sz="1300" b="0" i="0">
                <a:solidFill>
                  <a:srgbClr val="647487"/>
                </a:solidFill>
                <a:latin typeface="Calibri"/>
              </a:rPr>
              <a:t>Check contrast ratios direct online</a:t>
            </a:r>
          </a:p>
        </p:txBody>
      </p:sp>
      <p:sp>
        <p:nvSpPr>
          <p:cNvPr id="16" name="Rectangle 15"/>
          <p:cNvSpPr/>
          <p:nvPr/>
        </p:nvSpPr>
        <p:spPr>
          <a:xfrm>
            <a:off x="822960" y="3493008"/>
            <a:ext cx="1056132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3493008"/>
            <a:ext cx="64008" cy="804672"/>
          </a:xfrm>
          <a:prstGeom prst="rect">
            <a:avLst/>
          </a:prstGeom>
          <a:gradFill rotWithShape="1">
            <a:gsLst>
              <a:gs pos="0">
                <a:srgbClr val="2563EB"/>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639312"/>
            <a:ext cx="3657600" cy="365760"/>
          </a:xfrm>
          <a:prstGeom prst="rect">
            <a:avLst/>
          </a:prstGeom>
          <a:noFill/>
        </p:spPr>
        <p:txBody>
          <a:bodyPr wrap="square">
            <a:spAutoFit/>
          </a:bodyPr>
          <a:lstStyle/>
          <a:p>
            <a:pPr algn="l"/>
            <a:r>
              <a:rPr sz="1500" b="1" i="0">
                <a:solidFill>
                  <a:srgbClr val="0F172A"/>
                </a:solidFill>
                <a:latin typeface="Calibri"/>
              </a:rPr>
              <a:t>Tailwind CSS kleurenpalet</a:t>
            </a:r>
          </a:p>
        </p:txBody>
      </p:sp>
      <p:sp>
        <p:nvSpPr>
          <p:cNvPr id="19" name="TextBox 18"/>
          <p:cNvSpPr txBox="1"/>
          <p:nvPr/>
        </p:nvSpPr>
        <p:spPr>
          <a:xfrm>
            <a:off x="4526280" y="3639312"/>
            <a:ext cx="2926080" cy="365760"/>
          </a:xfrm>
          <a:prstGeom prst="rect">
            <a:avLst/>
          </a:prstGeom>
          <a:noFill/>
        </p:spPr>
        <p:txBody>
          <a:bodyPr wrap="square">
            <a:spAutoFit/>
          </a:bodyPr>
          <a:lstStyle/>
          <a:p>
            <a:pPr algn="l"/>
            <a:r>
              <a:rPr sz="1300" b="0" i="1">
                <a:solidFill>
                  <a:srgbClr val="2563EB"/>
                </a:solidFill>
                <a:latin typeface="Calibri"/>
              </a:rPr>
              <a:t>tailwindcss.com/docs/customizing-colors</a:t>
            </a:r>
          </a:p>
        </p:txBody>
      </p:sp>
      <p:sp>
        <p:nvSpPr>
          <p:cNvPr id="20" name="TextBox 19"/>
          <p:cNvSpPr txBox="1"/>
          <p:nvPr/>
        </p:nvSpPr>
        <p:spPr>
          <a:xfrm>
            <a:off x="7498079" y="3639312"/>
            <a:ext cx="6519672" cy="502920"/>
          </a:xfrm>
          <a:prstGeom prst="rect">
            <a:avLst/>
          </a:prstGeom>
          <a:noFill/>
        </p:spPr>
        <p:txBody>
          <a:bodyPr wrap="square">
            <a:spAutoFit/>
          </a:bodyPr>
          <a:lstStyle/>
          <a:p>
            <a:pPr algn="l"/>
            <a:r>
              <a:rPr sz="1300" b="0" i="0">
                <a:solidFill>
                  <a:srgbClr val="647487"/>
                </a:solidFill>
                <a:latin typeface="Calibri"/>
              </a:rPr>
              <a:t>Professioneel shade-systeem als referentie</a:t>
            </a:r>
          </a:p>
        </p:txBody>
      </p:sp>
      <p:sp>
        <p:nvSpPr>
          <p:cNvPr id="21" name="Rectangle 20"/>
          <p:cNvSpPr/>
          <p:nvPr/>
        </p:nvSpPr>
        <p:spPr>
          <a:xfrm>
            <a:off x="822960" y="4425696"/>
            <a:ext cx="1056132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425696"/>
            <a:ext cx="64008" cy="804672"/>
          </a:xfrm>
          <a:prstGeom prst="rect">
            <a:avLst/>
          </a:prstGeom>
          <a:gradFill rotWithShape="1">
            <a:gsLst>
              <a:gs pos="0">
                <a:srgbClr val="7C3AED"/>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4572000"/>
            <a:ext cx="3657600" cy="365760"/>
          </a:xfrm>
          <a:prstGeom prst="rect">
            <a:avLst/>
          </a:prstGeom>
          <a:noFill/>
        </p:spPr>
        <p:txBody>
          <a:bodyPr wrap="square">
            <a:spAutoFit/>
          </a:bodyPr>
          <a:lstStyle/>
          <a:p>
            <a:pPr algn="l"/>
            <a:r>
              <a:rPr sz="1500" b="1" i="0">
                <a:solidFill>
                  <a:srgbClr val="0F172A"/>
                </a:solidFill>
                <a:latin typeface="Calibri"/>
              </a:rPr>
              <a:t>Radix Colors semantische kleuren</a:t>
            </a:r>
          </a:p>
        </p:txBody>
      </p:sp>
      <p:sp>
        <p:nvSpPr>
          <p:cNvPr id="24" name="TextBox 23"/>
          <p:cNvSpPr txBox="1"/>
          <p:nvPr/>
        </p:nvSpPr>
        <p:spPr>
          <a:xfrm>
            <a:off x="4526280" y="4572000"/>
            <a:ext cx="2926080" cy="365760"/>
          </a:xfrm>
          <a:prstGeom prst="rect">
            <a:avLst/>
          </a:prstGeom>
          <a:noFill/>
        </p:spPr>
        <p:txBody>
          <a:bodyPr wrap="square">
            <a:spAutoFit/>
          </a:bodyPr>
          <a:lstStyle/>
          <a:p>
            <a:pPr algn="l"/>
            <a:r>
              <a:rPr sz="1300" b="0" i="1">
                <a:solidFill>
                  <a:srgbClr val="7C3AED"/>
                </a:solidFill>
                <a:latin typeface="Calibri"/>
              </a:rPr>
              <a:t>radix-ui.com/colors</a:t>
            </a:r>
          </a:p>
        </p:txBody>
      </p:sp>
      <p:sp>
        <p:nvSpPr>
          <p:cNvPr id="25" name="TextBox 24"/>
          <p:cNvSpPr txBox="1"/>
          <p:nvPr/>
        </p:nvSpPr>
        <p:spPr>
          <a:xfrm>
            <a:off x="7498079" y="4572000"/>
            <a:ext cx="6519672" cy="502920"/>
          </a:xfrm>
          <a:prstGeom prst="rect">
            <a:avLst/>
          </a:prstGeom>
          <a:noFill/>
        </p:spPr>
        <p:txBody>
          <a:bodyPr wrap="square">
            <a:spAutoFit/>
          </a:bodyPr>
          <a:lstStyle/>
          <a:p>
            <a:pPr algn="l"/>
            <a:r>
              <a:rPr sz="1300" b="0" i="0">
                <a:solidFill>
                  <a:srgbClr val="647487"/>
                </a:solidFill>
                <a:latin typeface="Calibri"/>
              </a:rPr>
              <a:t>Toegankelijk kleurensysteem met semantic support</a:t>
            </a:r>
          </a:p>
        </p:txBody>
      </p:sp>
      <p:sp>
        <p:nvSpPr>
          <p:cNvPr id="26" name="Rectangle 25"/>
          <p:cNvSpPr/>
          <p:nvPr/>
        </p:nvSpPr>
        <p:spPr>
          <a:xfrm>
            <a:off x="822960" y="5358384"/>
            <a:ext cx="10561320" cy="804672"/>
          </a:xfrm>
          <a:prstGeom prst="rect">
            <a:avLst/>
          </a:prstGeom>
          <a:solidFill>
            <a:srgbClr val="F8FAFC"/>
          </a:solidFill>
          <a:ln w="9525">
            <a:solidFill>
              <a:srgbClr val="D7E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2960" y="5358384"/>
            <a:ext cx="64008" cy="804672"/>
          </a:xfrm>
          <a:prstGeom prst="rect">
            <a:avLst/>
          </a:prstGeom>
          <a:gradFill rotWithShape="1">
            <a:gsLst>
              <a:gs pos="0">
                <a:srgbClr val="DC2626"/>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5504688"/>
            <a:ext cx="3657600" cy="365760"/>
          </a:xfrm>
          <a:prstGeom prst="rect">
            <a:avLst/>
          </a:prstGeom>
          <a:noFill/>
        </p:spPr>
        <p:txBody>
          <a:bodyPr wrap="square">
            <a:spAutoFit/>
          </a:bodyPr>
          <a:lstStyle/>
          <a:p>
            <a:pPr algn="l"/>
            <a:r>
              <a:rPr sz="1500" b="1" i="0">
                <a:solidFill>
                  <a:srgbClr val="0F172A"/>
                </a:solidFill>
                <a:latin typeface="Calibri"/>
              </a:rPr>
              <a:t>Color Hunt voor inspiratie</a:t>
            </a:r>
          </a:p>
        </p:txBody>
      </p:sp>
      <p:sp>
        <p:nvSpPr>
          <p:cNvPr id="29" name="TextBox 28"/>
          <p:cNvSpPr txBox="1"/>
          <p:nvPr/>
        </p:nvSpPr>
        <p:spPr>
          <a:xfrm>
            <a:off x="4526280" y="5504688"/>
            <a:ext cx="2926080" cy="365760"/>
          </a:xfrm>
          <a:prstGeom prst="rect">
            <a:avLst/>
          </a:prstGeom>
          <a:noFill/>
        </p:spPr>
        <p:txBody>
          <a:bodyPr wrap="square">
            <a:spAutoFit/>
          </a:bodyPr>
          <a:lstStyle/>
          <a:p>
            <a:pPr algn="l"/>
            <a:r>
              <a:rPr sz="1300" b="0" i="1">
                <a:solidFill>
                  <a:srgbClr val="DC2626"/>
                </a:solidFill>
                <a:latin typeface="Calibri"/>
              </a:rPr>
              <a:t>colorhunt.co</a:t>
            </a:r>
          </a:p>
        </p:txBody>
      </p:sp>
      <p:sp>
        <p:nvSpPr>
          <p:cNvPr id="30" name="TextBox 29"/>
          <p:cNvSpPr txBox="1"/>
          <p:nvPr/>
        </p:nvSpPr>
        <p:spPr>
          <a:xfrm>
            <a:off x="7498079" y="5504688"/>
            <a:ext cx="6519672" cy="502920"/>
          </a:xfrm>
          <a:prstGeom prst="rect">
            <a:avLst/>
          </a:prstGeom>
          <a:noFill/>
        </p:spPr>
        <p:txBody>
          <a:bodyPr wrap="square">
            <a:spAutoFit/>
          </a:bodyPr>
          <a:lstStyle/>
          <a:p>
            <a:pPr algn="l"/>
            <a:r>
              <a:rPr sz="1300" b="0" i="0">
                <a:solidFill>
                  <a:srgbClr val="647487"/>
                </a:solidFill>
                <a:latin typeface="Calibri"/>
              </a:rPr>
              <a:t>Duizenden gecureerde kleurenpaletten</a:t>
            </a:r>
          </a:p>
        </p:txBody>
      </p:sp>
      <p:sp>
        <p:nvSpPr>
          <p:cNvPr id="31" name="TextBox 30"/>
          <p:cNvSpPr txBox="1"/>
          <p:nvPr/>
        </p:nvSpPr>
        <p:spPr>
          <a:xfrm>
            <a:off x="11430000" y="6492240"/>
            <a:ext cx="731520" cy="320040"/>
          </a:xfrm>
          <a:prstGeom prst="rect">
            <a:avLst/>
          </a:prstGeom>
          <a:noFill/>
        </p:spPr>
        <p:txBody>
          <a:bodyPr wrap="square">
            <a:spAutoFit/>
          </a:bodyPr>
          <a:lstStyle/>
          <a:p>
            <a:pPr algn="r"/>
            <a:r>
              <a:rPr sz="1100" b="0" i="0">
                <a:solidFill>
                  <a:srgbClr val="647487"/>
                </a:solidFill>
                <a:latin typeface="Calibr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TextBox 2"/>
          <p:cNvSpPr txBox="1"/>
          <p:nvPr/>
        </p:nvSpPr>
        <p:spPr>
          <a:xfrm>
            <a:off x="914400" y="457200"/>
            <a:ext cx="10332720" cy="914400"/>
          </a:xfrm>
          <a:prstGeom prst="rect">
            <a:avLst/>
          </a:prstGeom>
          <a:noFill/>
        </p:spPr>
        <p:txBody>
          <a:bodyPr wrap="square">
            <a:spAutoFit/>
          </a:bodyPr>
          <a:lstStyle/>
          <a:p>
            <a:pPr algn="l"/>
            <a:r>
              <a:rPr sz="3600" b="1" i="0">
                <a:solidFill>
                  <a:srgbClr val="FFFFFF"/>
                </a:solidFill>
                <a:latin typeface="Calibri"/>
              </a:rPr>
              <a:t>Opdracht . Les 4</a:t>
            </a:r>
          </a:p>
        </p:txBody>
      </p:sp>
      <p:sp>
        <p:nvSpPr>
          <p:cNvPr id="4" name="Rectangle 3"/>
          <p:cNvSpPr/>
          <p:nvPr/>
        </p:nvSpPr>
        <p:spPr>
          <a:xfrm>
            <a:off x="914400" y="1298448"/>
            <a:ext cx="1828800" cy="73152"/>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10332720" cy="384048"/>
          </a:xfrm>
          <a:prstGeom prst="rect">
            <a:avLst/>
          </a:prstGeom>
          <a:noFill/>
        </p:spPr>
        <p:txBody>
          <a:bodyPr wrap="square">
            <a:spAutoFit/>
          </a:bodyPr>
          <a:lstStyle/>
          <a:p>
            <a:pPr algn="l"/>
            <a:r>
              <a:rPr sz="1500" b="0" i="1">
                <a:solidFill>
                  <a:srgbClr val="F0D2B4"/>
                </a:solidFill>
                <a:latin typeface="Calibri"/>
              </a:rPr>
              <a:t>Goed Doel Website . Kleurpalet</a:t>
            </a:r>
          </a:p>
        </p:txBody>
      </p:sp>
      <p:sp>
        <p:nvSpPr>
          <p:cNvPr id="6" name="Oval 5"/>
          <p:cNvSpPr/>
          <p:nvPr/>
        </p:nvSpPr>
        <p:spPr>
          <a:xfrm>
            <a:off x="914400" y="1901952"/>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956816"/>
            <a:ext cx="228600" cy="320040"/>
          </a:xfrm>
          <a:prstGeom prst="rect">
            <a:avLst/>
          </a:prstGeom>
          <a:noFill/>
        </p:spPr>
        <p:txBody>
          <a:bodyPr wrap="square">
            <a:spAutoFit/>
          </a:bodyPr>
          <a:lstStyle/>
          <a:p>
            <a:pPr algn="ctr"/>
            <a:r>
              <a:rPr sz="1300" b="1" i="0">
                <a:solidFill>
                  <a:srgbClr val="FFFFFF"/>
                </a:solidFill>
                <a:latin typeface="Calibri"/>
              </a:rPr>
              <a:t>1</a:t>
            </a:r>
          </a:p>
        </p:txBody>
      </p:sp>
      <p:sp>
        <p:nvSpPr>
          <p:cNvPr id="8" name="TextBox 7"/>
          <p:cNvSpPr txBox="1"/>
          <p:nvPr/>
        </p:nvSpPr>
        <p:spPr>
          <a:xfrm>
            <a:off x="1508760" y="1920240"/>
            <a:ext cx="9601200" cy="658368"/>
          </a:xfrm>
          <a:prstGeom prst="rect">
            <a:avLst/>
          </a:prstGeom>
          <a:noFill/>
        </p:spPr>
        <p:txBody>
          <a:bodyPr wrap="square">
            <a:spAutoFit/>
          </a:bodyPr>
          <a:lstStyle/>
          <a:p>
            <a:pPr algn="l"/>
            <a:r>
              <a:rPr sz="1600" b="0" i="0">
                <a:solidFill>
                  <a:srgbClr val="FFFFFF"/>
                </a:solidFill>
                <a:latin typeface="Calibri"/>
              </a:rPr>
              <a:t>Kies een primaire kleur die past bij het thema van jouw goed doel</a:t>
            </a:r>
          </a:p>
        </p:txBody>
      </p:sp>
      <p:sp>
        <p:nvSpPr>
          <p:cNvPr id="9" name="Oval 8"/>
          <p:cNvSpPr/>
          <p:nvPr/>
        </p:nvSpPr>
        <p:spPr>
          <a:xfrm>
            <a:off x="914400" y="2651760"/>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706624"/>
            <a:ext cx="228600" cy="320040"/>
          </a:xfrm>
          <a:prstGeom prst="rect">
            <a:avLst/>
          </a:prstGeom>
          <a:noFill/>
        </p:spPr>
        <p:txBody>
          <a:bodyPr wrap="square">
            <a:spAutoFit/>
          </a:bodyPr>
          <a:lstStyle/>
          <a:p>
            <a:pPr algn="ctr"/>
            <a:r>
              <a:rPr sz="1300" b="1" i="0">
                <a:solidFill>
                  <a:srgbClr val="FFFFFF"/>
                </a:solidFill>
                <a:latin typeface="Calibri"/>
              </a:rPr>
              <a:t>2</a:t>
            </a:r>
          </a:p>
        </p:txBody>
      </p:sp>
      <p:sp>
        <p:nvSpPr>
          <p:cNvPr id="11" name="TextBox 10"/>
          <p:cNvSpPr txBox="1"/>
          <p:nvPr/>
        </p:nvSpPr>
        <p:spPr>
          <a:xfrm>
            <a:off x="1508760" y="2670048"/>
            <a:ext cx="9601200" cy="658368"/>
          </a:xfrm>
          <a:prstGeom prst="rect">
            <a:avLst/>
          </a:prstGeom>
          <a:noFill/>
        </p:spPr>
        <p:txBody>
          <a:bodyPr wrap="square">
            <a:spAutoFit/>
          </a:bodyPr>
          <a:lstStyle/>
          <a:p>
            <a:pPr algn="l"/>
            <a:r>
              <a:rPr sz="1600" b="0" i="0">
                <a:solidFill>
                  <a:srgbClr val="FFFFFF"/>
                </a:solidFill>
                <a:latin typeface="Calibri"/>
              </a:rPr>
              <a:t>Bouw een kleurpalet met minimaal 5 tinten (50 t/m 900 schaal)</a:t>
            </a:r>
          </a:p>
        </p:txBody>
      </p:sp>
      <p:sp>
        <p:nvSpPr>
          <p:cNvPr id="12" name="Oval 11"/>
          <p:cNvSpPr/>
          <p:nvPr/>
        </p:nvSpPr>
        <p:spPr>
          <a:xfrm>
            <a:off x="914400" y="3401568"/>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456432"/>
            <a:ext cx="228600" cy="320040"/>
          </a:xfrm>
          <a:prstGeom prst="rect">
            <a:avLst/>
          </a:prstGeom>
          <a:noFill/>
        </p:spPr>
        <p:txBody>
          <a:bodyPr wrap="square">
            <a:spAutoFit/>
          </a:bodyPr>
          <a:lstStyle/>
          <a:p>
            <a:pPr algn="ctr"/>
            <a:r>
              <a:rPr sz="1300" b="1" i="0">
                <a:solidFill>
                  <a:srgbClr val="FFFFFF"/>
                </a:solidFill>
                <a:latin typeface="Calibri"/>
              </a:rPr>
              <a:t>3</a:t>
            </a:r>
          </a:p>
        </p:txBody>
      </p:sp>
      <p:sp>
        <p:nvSpPr>
          <p:cNvPr id="14" name="TextBox 13"/>
          <p:cNvSpPr txBox="1"/>
          <p:nvPr/>
        </p:nvSpPr>
        <p:spPr>
          <a:xfrm>
            <a:off x="1508760" y="3419856"/>
            <a:ext cx="9601200" cy="658368"/>
          </a:xfrm>
          <a:prstGeom prst="rect">
            <a:avLst/>
          </a:prstGeom>
          <a:noFill/>
        </p:spPr>
        <p:txBody>
          <a:bodyPr wrap="square">
            <a:spAutoFit/>
          </a:bodyPr>
          <a:lstStyle/>
          <a:p>
            <a:pPr algn="l"/>
            <a:r>
              <a:rPr sz="1600" b="0" i="0">
                <a:solidFill>
                  <a:srgbClr val="FFFFFF"/>
                </a:solidFill>
                <a:latin typeface="Calibri"/>
              </a:rPr>
              <a:t>Voeg neutrals toe: minimaal 5 grijstinten voor tekst en achtergronden</a:t>
            </a:r>
          </a:p>
        </p:txBody>
      </p:sp>
      <p:sp>
        <p:nvSpPr>
          <p:cNvPr id="15" name="Oval 14"/>
          <p:cNvSpPr/>
          <p:nvPr/>
        </p:nvSpPr>
        <p:spPr>
          <a:xfrm>
            <a:off x="914400" y="4151376"/>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206240"/>
            <a:ext cx="228600" cy="320040"/>
          </a:xfrm>
          <a:prstGeom prst="rect">
            <a:avLst/>
          </a:prstGeom>
          <a:noFill/>
        </p:spPr>
        <p:txBody>
          <a:bodyPr wrap="square">
            <a:spAutoFit/>
          </a:bodyPr>
          <a:lstStyle/>
          <a:p>
            <a:pPr algn="ctr"/>
            <a:r>
              <a:rPr sz="1300" b="1" i="0">
                <a:solidFill>
                  <a:srgbClr val="FFFFFF"/>
                </a:solidFill>
                <a:latin typeface="Calibri"/>
              </a:rPr>
              <a:t>4</a:t>
            </a:r>
          </a:p>
        </p:txBody>
      </p:sp>
      <p:sp>
        <p:nvSpPr>
          <p:cNvPr id="17" name="TextBox 16"/>
          <p:cNvSpPr txBox="1"/>
          <p:nvPr/>
        </p:nvSpPr>
        <p:spPr>
          <a:xfrm>
            <a:off x="1508760" y="4169664"/>
            <a:ext cx="9601200" cy="658368"/>
          </a:xfrm>
          <a:prstGeom prst="rect">
            <a:avLst/>
          </a:prstGeom>
          <a:noFill/>
        </p:spPr>
        <p:txBody>
          <a:bodyPr wrap="square">
            <a:spAutoFit/>
          </a:bodyPr>
          <a:lstStyle/>
          <a:p>
            <a:pPr algn="l"/>
            <a:r>
              <a:rPr sz="1600" b="0" i="0">
                <a:solidFill>
                  <a:srgbClr val="FFFFFF"/>
                </a:solidFill>
                <a:latin typeface="Calibri"/>
              </a:rPr>
              <a:t>Kies een accentkleur voor CTA knoppen en highlights</a:t>
            </a:r>
          </a:p>
        </p:txBody>
      </p:sp>
      <p:sp>
        <p:nvSpPr>
          <p:cNvPr id="18" name="Oval 17"/>
          <p:cNvSpPr/>
          <p:nvPr/>
        </p:nvSpPr>
        <p:spPr>
          <a:xfrm>
            <a:off x="914400" y="4901184"/>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956048"/>
            <a:ext cx="228600" cy="320040"/>
          </a:xfrm>
          <a:prstGeom prst="rect">
            <a:avLst/>
          </a:prstGeom>
          <a:noFill/>
        </p:spPr>
        <p:txBody>
          <a:bodyPr wrap="square">
            <a:spAutoFit/>
          </a:bodyPr>
          <a:lstStyle/>
          <a:p>
            <a:pPr algn="ctr"/>
            <a:r>
              <a:rPr sz="1300" b="1" i="0">
                <a:solidFill>
                  <a:srgbClr val="FFFFFF"/>
                </a:solidFill>
                <a:latin typeface="Calibri"/>
              </a:rPr>
              <a:t>5</a:t>
            </a:r>
          </a:p>
        </p:txBody>
      </p:sp>
      <p:sp>
        <p:nvSpPr>
          <p:cNvPr id="20" name="TextBox 19"/>
          <p:cNvSpPr txBox="1"/>
          <p:nvPr/>
        </p:nvSpPr>
        <p:spPr>
          <a:xfrm>
            <a:off x="1508760" y="4919472"/>
            <a:ext cx="9601200" cy="658368"/>
          </a:xfrm>
          <a:prstGeom prst="rect">
            <a:avLst/>
          </a:prstGeom>
          <a:noFill/>
        </p:spPr>
        <p:txBody>
          <a:bodyPr wrap="square">
            <a:spAutoFit/>
          </a:bodyPr>
          <a:lstStyle/>
          <a:p>
            <a:pPr algn="l"/>
            <a:r>
              <a:rPr sz="1600" b="0" i="0">
                <a:solidFill>
                  <a:srgbClr val="FFFFFF"/>
                </a:solidFill>
                <a:latin typeface="Calibri"/>
              </a:rPr>
              <a:t>Check alle tekst-achtergrond combinaties op WCAG AA contrast</a:t>
            </a:r>
          </a:p>
        </p:txBody>
      </p:sp>
      <p:sp>
        <p:nvSpPr>
          <p:cNvPr id="21" name="Oval 20"/>
          <p:cNvSpPr/>
          <p:nvPr/>
        </p:nvSpPr>
        <p:spPr>
          <a:xfrm>
            <a:off x="914400" y="5650992"/>
            <a:ext cx="402336" cy="402336"/>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5705856"/>
            <a:ext cx="228600" cy="320040"/>
          </a:xfrm>
          <a:prstGeom prst="rect">
            <a:avLst/>
          </a:prstGeom>
          <a:noFill/>
        </p:spPr>
        <p:txBody>
          <a:bodyPr wrap="square">
            <a:spAutoFit/>
          </a:bodyPr>
          <a:lstStyle/>
          <a:p>
            <a:pPr algn="ctr"/>
            <a:r>
              <a:rPr sz="1300" b="1" i="0">
                <a:solidFill>
                  <a:srgbClr val="FFFFFF"/>
                </a:solidFill>
                <a:latin typeface="Calibri"/>
              </a:rPr>
              <a:t>6</a:t>
            </a:r>
          </a:p>
        </p:txBody>
      </p:sp>
      <p:sp>
        <p:nvSpPr>
          <p:cNvPr id="23" name="TextBox 22"/>
          <p:cNvSpPr txBox="1"/>
          <p:nvPr/>
        </p:nvSpPr>
        <p:spPr>
          <a:xfrm>
            <a:off x="1508760" y="5669280"/>
            <a:ext cx="9601200" cy="658368"/>
          </a:xfrm>
          <a:prstGeom prst="rect">
            <a:avLst/>
          </a:prstGeom>
          <a:noFill/>
        </p:spPr>
        <p:txBody>
          <a:bodyPr wrap="square">
            <a:spAutoFit/>
          </a:bodyPr>
          <a:lstStyle/>
          <a:p>
            <a:pPr algn="l"/>
            <a:r>
              <a:rPr sz="1600" b="0" i="0">
                <a:solidFill>
                  <a:srgbClr val="FFFFFF"/>
                </a:solidFill>
                <a:latin typeface="Calibri"/>
              </a:rPr>
              <a:t>Sla alle kleuren op als kleurstijlen in Figma (brand/primary, neutral/x, semantic/x)</a:t>
            </a:r>
          </a:p>
        </p:txBody>
      </p:sp>
      <p:sp>
        <p:nvSpPr>
          <p:cNvPr id="24" name="Rectangle 23"/>
          <p:cNvSpPr/>
          <p:nvPr/>
        </p:nvSpPr>
        <p:spPr>
          <a:xfrm>
            <a:off x="914400" y="6446520"/>
            <a:ext cx="10332720" cy="29260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6473952"/>
            <a:ext cx="10058400" cy="256032"/>
          </a:xfrm>
          <a:prstGeom prst="rect">
            <a:avLst/>
          </a:prstGeom>
          <a:noFill/>
        </p:spPr>
        <p:txBody>
          <a:bodyPr wrap="square">
            <a:spAutoFit/>
          </a:bodyPr>
          <a:lstStyle/>
          <a:p>
            <a:pPr algn="l"/>
            <a:r>
              <a:rPr sz="1200" b="0" i="0">
                <a:solidFill>
                  <a:srgbClr val="FFFFFF"/>
                </a:solidFill>
                <a:latin typeface="Calibri"/>
              </a:rPr>
              <a:t>Inleveren: Figma file met kleurstijlen klaar voor les 5, gedeeld via de Brightspace opdracht</a:t>
            </a:r>
          </a:p>
        </p:txBody>
      </p:sp>
      <p:sp>
        <p:nvSpPr>
          <p:cNvPr id="26" name="TextBox 25"/>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64592" cy="6858000"/>
          </a:xfrm>
          <a:prstGeom prst="rect">
            <a:avLst/>
          </a:prstGeom>
          <a:gradFill rotWithShape="1">
            <a:gsLst>
              <a:gs pos="0">
                <a:srgbClr val="EA580C"/>
              </a:gs>
              <a:gs pos="100000">
                <a:srgbClr val="FBBF24"/>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058400" cy="594360"/>
          </a:xfrm>
          <a:prstGeom prst="rect">
            <a:avLst/>
          </a:prstGeom>
          <a:noFill/>
        </p:spPr>
        <p:txBody>
          <a:bodyPr wrap="square">
            <a:spAutoFit/>
          </a:bodyPr>
          <a:lstStyle/>
          <a:p>
            <a:pPr algn="l"/>
            <a:r>
              <a:rPr sz="2000" b="0" i="0">
                <a:solidFill>
                  <a:srgbClr val="C8D2F0"/>
                </a:solidFill>
                <a:latin typeface="Calibri"/>
              </a:rPr>
              <a:t>Volgende les</a:t>
            </a:r>
          </a:p>
        </p:txBody>
      </p:sp>
      <p:sp>
        <p:nvSpPr>
          <p:cNvPr id="5" name="TextBox 4"/>
          <p:cNvSpPr txBox="1"/>
          <p:nvPr/>
        </p:nvSpPr>
        <p:spPr>
          <a:xfrm>
            <a:off x="914400" y="1463040"/>
            <a:ext cx="10058400" cy="1828800"/>
          </a:xfrm>
          <a:prstGeom prst="rect">
            <a:avLst/>
          </a:prstGeom>
          <a:noFill/>
        </p:spPr>
        <p:txBody>
          <a:bodyPr wrap="square">
            <a:spAutoFit/>
          </a:bodyPr>
          <a:lstStyle/>
          <a:p>
            <a:pPr algn="l"/>
            <a:r>
              <a:rPr sz="4600" b="1" i="0">
                <a:solidFill>
                  <a:srgbClr val="FFFFFF"/>
                </a:solidFill>
                <a:latin typeface="Calibri"/>
              </a:rPr>
              <a:t>Componenten
en Design Systems</a:t>
            </a:r>
          </a:p>
        </p:txBody>
      </p:sp>
      <p:sp>
        <p:nvSpPr>
          <p:cNvPr id="6" name="Rectangle 5"/>
          <p:cNvSpPr/>
          <p:nvPr/>
        </p:nvSpPr>
        <p:spPr>
          <a:xfrm>
            <a:off x="914400" y="3218688"/>
            <a:ext cx="2743200" cy="91440"/>
          </a:xfrm>
          <a:prstGeom prst="rect">
            <a:avLst/>
          </a:prstGeom>
          <a:gradFill rotWithShape="1">
            <a:gsLst>
              <a:gs pos="0">
                <a:srgbClr val="EA580C"/>
              </a:gs>
              <a:gs pos="100000">
                <a:srgbClr val="FBBF24"/>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429000"/>
            <a:ext cx="10058400" cy="2011680"/>
          </a:xfrm>
          <a:prstGeom prst="rect">
            <a:avLst/>
          </a:prstGeom>
          <a:noFill/>
        </p:spPr>
        <p:txBody>
          <a:bodyPr wrap="square">
            <a:spAutoFit/>
          </a:bodyPr>
          <a:lstStyle/>
          <a:p>
            <a:pPr>
              <a:spcBef>
                <a:spcPts val="1100"/>
              </a:spcBef>
            </a:pPr>
            <a:r>
              <a:rPr sz="1700">
                <a:solidFill>
                  <a:srgbClr val="DCE1FA"/>
                </a:solidFill>
                <a:latin typeface="Calibri"/>
              </a:rPr>
              <a:t>  •  Atomic design: atoms, molecules en organisms</a:t>
            </a:r>
          </a:p>
          <a:p>
            <a:pPr>
              <a:spcBef>
                <a:spcPts val="1100"/>
              </a:spcBef>
            </a:pPr>
            <a:r>
              <a:rPr sz="1700">
                <a:solidFill>
                  <a:srgbClr val="DCE1FA"/>
                </a:solidFill>
                <a:latin typeface="Calibri"/>
              </a:rPr>
              <a:t>  •  Componenten aanmaken in Figma</a:t>
            </a:r>
          </a:p>
          <a:p>
            <a:pPr>
              <a:spcBef>
                <a:spcPts val="1100"/>
              </a:spcBef>
            </a:pPr>
            <a:r>
              <a:rPr sz="1700">
                <a:solidFill>
                  <a:srgbClr val="DCE1FA"/>
                </a:solidFill>
                <a:latin typeface="Calibri"/>
              </a:rPr>
              <a:t>  •  Varianten en Auto Layout</a:t>
            </a:r>
          </a:p>
          <a:p>
            <a:pPr>
              <a:spcBef>
                <a:spcPts val="1100"/>
              </a:spcBef>
            </a:pPr>
            <a:r>
              <a:rPr sz="1700">
                <a:solidFill>
                  <a:srgbClr val="DCE1FA"/>
                </a:solidFill>
                <a:latin typeface="Calibri"/>
              </a:rPr>
              <a:t>  •  Hero en nav als herbruikbaar component bouwen</a:t>
            </a:r>
          </a:p>
        </p:txBody>
      </p:sp>
      <p:sp>
        <p:nvSpPr>
          <p:cNvPr id="8" name="Rectangle 7"/>
          <p:cNvSpPr/>
          <p:nvPr/>
        </p:nvSpPr>
        <p:spPr>
          <a:xfrm>
            <a:off x="914400" y="5760720"/>
            <a:ext cx="10332720" cy="777240"/>
          </a:xfrm>
          <a:prstGeom prst="rect">
            <a:avLst/>
          </a:prstGeom>
          <a:solidFill>
            <a:srgbClr val="1E3278"/>
          </a:solidFill>
          <a:ln w="9525">
            <a:solidFill>
              <a:srgbClr val="506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5852160"/>
            <a:ext cx="1828800" cy="384048"/>
          </a:xfrm>
          <a:prstGeom prst="rect">
            <a:avLst/>
          </a:prstGeom>
          <a:noFill/>
        </p:spPr>
        <p:txBody>
          <a:bodyPr wrap="square">
            <a:spAutoFit/>
          </a:bodyPr>
          <a:lstStyle/>
          <a:p>
            <a:pPr algn="l"/>
            <a:r>
              <a:rPr sz="1300" b="1" i="0">
                <a:solidFill>
                  <a:srgbClr val="FBBF24"/>
                </a:solidFill>
                <a:latin typeface="Calibri"/>
              </a:rPr>
              <a:t>Voorbereiding:</a:t>
            </a:r>
          </a:p>
        </p:txBody>
      </p:sp>
      <p:sp>
        <p:nvSpPr>
          <p:cNvPr id="10" name="TextBox 9"/>
          <p:cNvSpPr txBox="1"/>
          <p:nvPr/>
        </p:nvSpPr>
        <p:spPr>
          <a:xfrm>
            <a:off x="2834640" y="5870448"/>
            <a:ext cx="8229600" cy="548640"/>
          </a:xfrm>
          <a:prstGeom prst="rect">
            <a:avLst/>
          </a:prstGeom>
          <a:noFill/>
        </p:spPr>
        <p:txBody>
          <a:bodyPr wrap="square">
            <a:spAutoFit/>
          </a:bodyPr>
          <a:lstStyle/>
          <a:p>
            <a:pPr algn="l"/>
            <a:r>
              <a:rPr sz="1300" b="0" i="1">
                <a:solidFill>
                  <a:srgbClr val="C8D7FA"/>
                </a:solidFill>
                <a:latin typeface="Calibri"/>
              </a:rPr>
              <a:t>Bekijk alvast bradfordzz.com/atomic-design voor de theorie achter componenten</a:t>
            </a:r>
          </a:p>
        </p:txBody>
      </p:sp>
      <p:sp>
        <p:nvSpPr>
          <p:cNvPr id="11" name="TextBox 10"/>
          <p:cNvSpPr txBox="1"/>
          <p:nvPr/>
        </p:nvSpPr>
        <p:spPr>
          <a:xfrm>
            <a:off x="11430000" y="6492240"/>
            <a:ext cx="731520" cy="320040"/>
          </a:xfrm>
          <a:prstGeom prst="rect">
            <a:avLst/>
          </a:prstGeom>
          <a:noFill/>
        </p:spPr>
        <p:txBody>
          <a:bodyPr wrap="square">
            <a:spAutoFit/>
          </a:bodyPr>
          <a:lstStyle/>
          <a:p>
            <a:pPr algn="r"/>
            <a:r>
              <a:rPr sz="1100" b="0" i="0">
                <a:solidFill>
                  <a:srgbClr val="B4B4C8"/>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