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Welkom bij les 3. Typografie is een van de fundamentele vaardigheden van een designer. Vandaag leren we de regels die bepalen of tekst prettig leesbaar is of niet. Leg uit dat dit direct toepasbaar is op het goed doel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Doorloop de agenda. Benadruk dat al deze onderwerpen terugkomen in het goed doel project. Studenten die al een idee hebben voor hun charity website kunnen alvast nadenken welke fonts bij hun thema passen.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Laat studenten zelf noemen welke fonts ze kennen. Serif versus sans-serif is een van de meest fundamentele onderscheidingen in typografie. Wijs op de schreven (kleine haakjes) die typerend zijn voor serif fonts.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 type scale is een van de meest tijdbesparende tools voor een designer. Door een vaste schaal te definiëren hoef je nooit meer te raden welke maat je moet gebruiken. Verwijs naar het project: studenten gaan dit exact zo instellen in Figma.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Demonstreer in de browser hoe line-height de leeservaring verandert. Open inspector tools en pas de CSS aan live. Laat studenten de twee kolommen vergelijken en verwoorden wat ze anders voelen.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Meet samen met studenten de regellengte van een populaire website. Wikipedia heeft doorgaans een te brede kolom, Medium.com heeft een bijna perfecte regellengte. Laat ze dit vergelijken.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Google Fonts heeft een uitstekende 'pairings' sectie. fonts.google.com/knowledge bevat artikelen over hoe je fonts combineert. Laat studenten hun laptop pakken en twee fonts zoeken die bij hun goed doel passen.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Dit onderscheid is subtiel maar belangrijk. Legibility gaat over hoe goed je een letter kunt herkennen (is de g onderscheidbaar van de q?). Readability gaat over hoe comfortabel je langere tekst kunt lezen.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Open Figma live tijdens de les en demonstreer dit stap voor stap. Laat studenten meteen meedoen op hun eigen laptop. Het aanmaken van tekststijlen kost 10 minuten maar bespaart uren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Dit is de referentietabel voor het project. Studenten kunnen dit als screenshot opslaan of de waarden direct overnemen in Figma. Benadruk dat de namen met schuine streep (heading/h1) een maphierarchie creëren in Figma.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Laat studenten nu hun goed doel thema bedenken. Een dierenasiel vraagt om andere fonts dan een mensenrechtenorganisatie. Bespreek hoe typografie gevoel en vertrouwen communiceert.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Dit is een actieve opdracht voor in de les. Laat studenten de inspector openen (F12 in browser, dan tabblad Elements of Computed). Ze kunnen CSS properties lezen en font-family, font-size, line-height zien.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Deel deze bronnen via de leeromgeving. fonts.google.com/knowledge is bijzonder toegankelijk voor beginners. Typewolf is inspirerend maar meer voor gevorderde studenten.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Loop de opdracht stap voor stap door. Geef studenten de rest van de les om te starten. Les 4 beginnen we met het reviewen van de font keuzes en type scales in groepjes.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Geef de tip voor de volgende les expliciet mee. Studenten die thuis coolors.co verkennen komen beter voorbereid naar les 4. Herinner ze aan de deadline voor de Figma link van de typografie opdracht.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201168" cy="685800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2377440"/>
          </a:xfrm>
          <a:prstGeom prst="rect">
            <a:avLst/>
          </a:prstGeom>
          <a:noFill/>
        </p:spPr>
        <p:txBody>
          <a:bodyPr wrap="square">
            <a:spAutoFit/>
          </a:bodyPr>
          <a:lstStyle/>
          <a:p>
            <a:pPr algn="l"/>
            <a:r>
              <a:rPr sz="6400" b="1" i="0">
                <a:solidFill>
                  <a:srgbClr val="FFFFFF"/>
                </a:solidFill>
                <a:latin typeface="Calibri"/>
              </a:rPr>
              <a:t>Typografie
en Legibility</a:t>
            </a:r>
          </a:p>
        </p:txBody>
      </p:sp>
      <p:sp>
        <p:nvSpPr>
          <p:cNvPr id="5" name="Rectangle 4"/>
          <p:cNvSpPr/>
          <p:nvPr/>
        </p:nvSpPr>
        <p:spPr>
          <a:xfrm>
            <a:off x="914400" y="3566160"/>
            <a:ext cx="2926080" cy="82296"/>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03320"/>
            <a:ext cx="7315200" cy="457200"/>
          </a:xfrm>
          <a:prstGeom prst="rect">
            <a:avLst/>
          </a:prstGeom>
          <a:noFill/>
        </p:spPr>
        <p:txBody>
          <a:bodyPr wrap="square">
            <a:spAutoFit/>
          </a:bodyPr>
          <a:lstStyle/>
          <a:p>
            <a:pPr algn="l"/>
            <a:r>
              <a:rPr sz="2000" b="0" i="0">
                <a:solidFill>
                  <a:srgbClr val="C8C8F0"/>
                </a:solidFill>
                <a:latin typeface="Calibri"/>
              </a:rPr>
              <a:t>Periode 1  .  Les 3</a:t>
            </a:r>
          </a:p>
        </p:txBody>
      </p:sp>
      <p:sp>
        <p:nvSpPr>
          <p:cNvPr id="7" name="TextBox 6"/>
          <p:cNvSpPr txBox="1"/>
          <p:nvPr/>
        </p:nvSpPr>
        <p:spPr>
          <a:xfrm>
            <a:off x="914400" y="4206240"/>
            <a:ext cx="7315200" cy="457200"/>
          </a:xfrm>
          <a:prstGeom prst="rect">
            <a:avLst/>
          </a:prstGeom>
          <a:noFill/>
        </p:spPr>
        <p:txBody>
          <a:bodyPr wrap="square">
            <a:spAutoFit/>
          </a:bodyPr>
          <a:lstStyle/>
          <a:p>
            <a:pPr algn="l"/>
            <a:r>
              <a:rPr sz="1800" b="0" i="1">
                <a:solidFill>
                  <a:srgbClr val="A78BFA"/>
                </a:solidFill>
                <a:latin typeface="Calibri"/>
              </a:rPr>
              <a:t>De kunst van leesbare letters</a:t>
            </a:r>
          </a:p>
        </p:txBody>
      </p:sp>
      <p:sp>
        <p:nvSpPr>
          <p:cNvPr id="8" name="Oval 7"/>
          <p:cNvSpPr/>
          <p:nvPr/>
        </p:nvSpPr>
        <p:spPr>
          <a:xfrm>
            <a:off x="10287000" y="868680"/>
            <a:ext cx="1005840" cy="10058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18520" y="1691640"/>
            <a:ext cx="640080" cy="64008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040112" y="2359152"/>
            <a:ext cx="402336" cy="402336"/>
          </a:xfrm>
          <a:prstGeom prst="ellipse">
            <a:avLst/>
          </a:prstGeom>
          <a:solidFill>
            <a:srgbClr val="643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Vandaag</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Overzicht van de les</a:t>
            </a:r>
          </a:p>
        </p:txBody>
      </p:sp>
      <p:sp>
        <p:nvSpPr>
          <p:cNvPr id="6" name="Oval 5"/>
          <p:cNvSpPr/>
          <p:nvPr/>
        </p:nvSpPr>
        <p:spPr>
          <a:xfrm>
            <a:off x="1033272" y="1600200"/>
            <a:ext cx="402336" cy="40233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1655064"/>
            <a:ext cx="320040" cy="329184"/>
          </a:xfrm>
          <a:prstGeom prst="rect">
            <a:avLst/>
          </a:prstGeom>
          <a:noFill/>
        </p:spPr>
        <p:txBody>
          <a:bodyPr wrap="square">
            <a:spAutoFit/>
          </a:bodyPr>
          <a:lstStyle/>
          <a:p>
            <a:pPr algn="ctr"/>
            <a:r>
              <a:rPr sz="1300" b="1" i="0">
                <a:solidFill>
                  <a:srgbClr val="FFFFFF"/>
                </a:solidFill>
                <a:latin typeface="Calibri"/>
              </a:rPr>
              <a:t>1</a:t>
            </a:r>
          </a:p>
        </p:txBody>
      </p:sp>
      <p:sp>
        <p:nvSpPr>
          <p:cNvPr id="8" name="TextBox 7"/>
          <p:cNvSpPr txBox="1"/>
          <p:nvPr/>
        </p:nvSpPr>
        <p:spPr>
          <a:xfrm>
            <a:off x="1508760" y="1600200"/>
            <a:ext cx="9601200" cy="402336"/>
          </a:xfrm>
          <a:prstGeom prst="rect">
            <a:avLst/>
          </a:prstGeom>
          <a:noFill/>
        </p:spPr>
        <p:txBody>
          <a:bodyPr wrap="square">
            <a:spAutoFit/>
          </a:bodyPr>
          <a:lstStyle/>
          <a:p>
            <a:pPr algn="l"/>
            <a:r>
              <a:rPr sz="1900" b="0" i="0">
                <a:solidFill>
                  <a:srgbClr val="0F172A"/>
                </a:solidFill>
                <a:latin typeface="Calibri"/>
              </a:rPr>
              <a:t>Serif versus sans-serif, wanneer gebruik je wat</a:t>
            </a:r>
          </a:p>
        </p:txBody>
      </p:sp>
      <p:sp>
        <p:nvSpPr>
          <p:cNvPr id="9" name="Oval 8"/>
          <p:cNvSpPr/>
          <p:nvPr/>
        </p:nvSpPr>
        <p:spPr>
          <a:xfrm>
            <a:off x="1033272" y="2368296"/>
            <a:ext cx="402336" cy="402336"/>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423160"/>
            <a:ext cx="320040" cy="329184"/>
          </a:xfrm>
          <a:prstGeom prst="rect">
            <a:avLst/>
          </a:prstGeom>
          <a:noFill/>
        </p:spPr>
        <p:txBody>
          <a:bodyPr wrap="square">
            <a:spAutoFit/>
          </a:bodyPr>
          <a:lstStyle/>
          <a:p>
            <a:pPr algn="ctr"/>
            <a:r>
              <a:rPr sz="1300" b="1" i="0">
                <a:solidFill>
                  <a:srgbClr val="FFFFFF"/>
                </a:solidFill>
                <a:latin typeface="Calibri"/>
              </a:rPr>
              <a:t>2</a:t>
            </a:r>
          </a:p>
        </p:txBody>
      </p:sp>
      <p:sp>
        <p:nvSpPr>
          <p:cNvPr id="11" name="TextBox 10"/>
          <p:cNvSpPr txBox="1"/>
          <p:nvPr/>
        </p:nvSpPr>
        <p:spPr>
          <a:xfrm>
            <a:off x="1508760" y="2368296"/>
            <a:ext cx="9601200" cy="402336"/>
          </a:xfrm>
          <a:prstGeom prst="rect">
            <a:avLst/>
          </a:prstGeom>
          <a:noFill/>
        </p:spPr>
        <p:txBody>
          <a:bodyPr wrap="square">
            <a:spAutoFit/>
          </a:bodyPr>
          <a:lstStyle/>
          <a:p>
            <a:pPr algn="l"/>
            <a:r>
              <a:rPr sz="1900" b="0" i="0">
                <a:solidFill>
                  <a:srgbClr val="0F172A"/>
                </a:solidFill>
                <a:latin typeface="Calibri"/>
              </a:rPr>
              <a:t>Type scale van H1 tot caption</a:t>
            </a:r>
          </a:p>
        </p:txBody>
      </p:sp>
      <p:sp>
        <p:nvSpPr>
          <p:cNvPr id="12" name="Oval 11"/>
          <p:cNvSpPr/>
          <p:nvPr/>
        </p:nvSpPr>
        <p:spPr>
          <a:xfrm>
            <a:off x="1033272" y="3136392"/>
            <a:ext cx="402336" cy="402336"/>
          </a:xfrm>
          <a:prstGeom prst="ellipse">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191256"/>
            <a:ext cx="320040" cy="329184"/>
          </a:xfrm>
          <a:prstGeom prst="rect">
            <a:avLst/>
          </a:prstGeom>
          <a:noFill/>
        </p:spPr>
        <p:txBody>
          <a:bodyPr wrap="square">
            <a:spAutoFit/>
          </a:bodyPr>
          <a:lstStyle/>
          <a:p>
            <a:pPr algn="ctr"/>
            <a:r>
              <a:rPr sz="1300" b="1" i="0">
                <a:solidFill>
                  <a:srgbClr val="FFFFFF"/>
                </a:solidFill>
                <a:latin typeface="Calibri"/>
              </a:rPr>
              <a:t>3</a:t>
            </a:r>
          </a:p>
        </p:txBody>
      </p:sp>
      <p:sp>
        <p:nvSpPr>
          <p:cNvPr id="14" name="TextBox 13"/>
          <p:cNvSpPr txBox="1"/>
          <p:nvPr/>
        </p:nvSpPr>
        <p:spPr>
          <a:xfrm>
            <a:off x="1508760" y="3136392"/>
            <a:ext cx="9601200" cy="402336"/>
          </a:xfrm>
          <a:prstGeom prst="rect">
            <a:avLst/>
          </a:prstGeom>
          <a:noFill/>
        </p:spPr>
        <p:txBody>
          <a:bodyPr wrap="square">
            <a:spAutoFit/>
          </a:bodyPr>
          <a:lstStyle/>
          <a:p>
            <a:pPr algn="l"/>
            <a:r>
              <a:rPr sz="1900" b="0" i="0">
                <a:solidFill>
                  <a:srgbClr val="0F172A"/>
                </a:solidFill>
                <a:latin typeface="Calibri"/>
              </a:rPr>
              <a:t>Line-height en letter-spacing</a:t>
            </a:r>
          </a:p>
        </p:txBody>
      </p:sp>
      <p:sp>
        <p:nvSpPr>
          <p:cNvPr id="15" name="Oval 14"/>
          <p:cNvSpPr/>
          <p:nvPr/>
        </p:nvSpPr>
        <p:spPr>
          <a:xfrm>
            <a:off x="1033272" y="3904488"/>
            <a:ext cx="402336" cy="40233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959352"/>
            <a:ext cx="320040" cy="329184"/>
          </a:xfrm>
          <a:prstGeom prst="rect">
            <a:avLst/>
          </a:prstGeom>
          <a:noFill/>
        </p:spPr>
        <p:txBody>
          <a:bodyPr wrap="square">
            <a:spAutoFit/>
          </a:bodyPr>
          <a:lstStyle/>
          <a:p>
            <a:pPr algn="ctr"/>
            <a:r>
              <a:rPr sz="1300" b="1" i="0">
                <a:solidFill>
                  <a:srgbClr val="FFFFFF"/>
                </a:solidFill>
                <a:latin typeface="Calibri"/>
              </a:rPr>
              <a:t>4</a:t>
            </a:r>
          </a:p>
        </p:txBody>
      </p:sp>
      <p:sp>
        <p:nvSpPr>
          <p:cNvPr id="17" name="TextBox 16"/>
          <p:cNvSpPr txBox="1"/>
          <p:nvPr/>
        </p:nvSpPr>
        <p:spPr>
          <a:xfrm>
            <a:off x="1508760" y="3904488"/>
            <a:ext cx="9601200" cy="402336"/>
          </a:xfrm>
          <a:prstGeom prst="rect">
            <a:avLst/>
          </a:prstGeom>
          <a:noFill/>
        </p:spPr>
        <p:txBody>
          <a:bodyPr wrap="square">
            <a:spAutoFit/>
          </a:bodyPr>
          <a:lstStyle/>
          <a:p>
            <a:pPr algn="l"/>
            <a:r>
              <a:rPr sz="1900" b="0" i="0">
                <a:solidFill>
                  <a:srgbClr val="0F172A"/>
                </a:solidFill>
                <a:latin typeface="Calibri"/>
              </a:rPr>
              <a:t>Maximale regellengte en leescomfort</a:t>
            </a:r>
          </a:p>
        </p:txBody>
      </p:sp>
      <p:sp>
        <p:nvSpPr>
          <p:cNvPr id="18" name="Oval 17"/>
          <p:cNvSpPr/>
          <p:nvPr/>
        </p:nvSpPr>
        <p:spPr>
          <a:xfrm>
            <a:off x="1033272" y="4672584"/>
            <a:ext cx="402336" cy="402336"/>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727448"/>
            <a:ext cx="320040" cy="329184"/>
          </a:xfrm>
          <a:prstGeom prst="rect">
            <a:avLst/>
          </a:prstGeom>
          <a:noFill/>
        </p:spPr>
        <p:txBody>
          <a:bodyPr wrap="square">
            <a:spAutoFit/>
          </a:bodyPr>
          <a:lstStyle/>
          <a:p>
            <a:pPr algn="ctr"/>
            <a:r>
              <a:rPr sz="1300" b="1" i="0">
                <a:solidFill>
                  <a:srgbClr val="FFFFFF"/>
                </a:solidFill>
                <a:latin typeface="Calibri"/>
              </a:rPr>
              <a:t>5</a:t>
            </a:r>
          </a:p>
        </p:txBody>
      </p:sp>
      <p:sp>
        <p:nvSpPr>
          <p:cNvPr id="20" name="TextBox 19"/>
          <p:cNvSpPr txBox="1"/>
          <p:nvPr/>
        </p:nvSpPr>
        <p:spPr>
          <a:xfrm>
            <a:off x="1508760" y="4672584"/>
            <a:ext cx="9601200" cy="402336"/>
          </a:xfrm>
          <a:prstGeom prst="rect">
            <a:avLst/>
          </a:prstGeom>
          <a:noFill/>
        </p:spPr>
        <p:txBody>
          <a:bodyPr wrap="square">
            <a:spAutoFit/>
          </a:bodyPr>
          <a:lstStyle/>
          <a:p>
            <a:pPr algn="l"/>
            <a:r>
              <a:rPr sz="1900" b="0" i="0">
                <a:solidFill>
                  <a:srgbClr val="0F172A"/>
                </a:solidFill>
                <a:latin typeface="Calibri"/>
              </a:rPr>
              <a:t>Font pairs kiezen en combineren</a:t>
            </a:r>
          </a:p>
        </p:txBody>
      </p:sp>
      <p:sp>
        <p:nvSpPr>
          <p:cNvPr id="21" name="Oval 20"/>
          <p:cNvSpPr/>
          <p:nvPr/>
        </p:nvSpPr>
        <p:spPr>
          <a:xfrm>
            <a:off x="1033272" y="5440680"/>
            <a:ext cx="402336" cy="402336"/>
          </a:xfrm>
          <a:prstGeom prst="ellipse">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5495544"/>
            <a:ext cx="320040" cy="329184"/>
          </a:xfrm>
          <a:prstGeom prst="rect">
            <a:avLst/>
          </a:prstGeom>
          <a:noFill/>
        </p:spPr>
        <p:txBody>
          <a:bodyPr wrap="square">
            <a:spAutoFit/>
          </a:bodyPr>
          <a:lstStyle/>
          <a:p>
            <a:pPr algn="ctr"/>
            <a:r>
              <a:rPr sz="1300" b="1" i="0">
                <a:solidFill>
                  <a:srgbClr val="FFFFFF"/>
                </a:solidFill>
                <a:latin typeface="Calibri"/>
              </a:rPr>
              <a:t>6</a:t>
            </a:r>
          </a:p>
        </p:txBody>
      </p:sp>
      <p:sp>
        <p:nvSpPr>
          <p:cNvPr id="23" name="TextBox 22"/>
          <p:cNvSpPr txBox="1"/>
          <p:nvPr/>
        </p:nvSpPr>
        <p:spPr>
          <a:xfrm>
            <a:off x="1508760" y="5440680"/>
            <a:ext cx="9601200" cy="402336"/>
          </a:xfrm>
          <a:prstGeom prst="rect">
            <a:avLst/>
          </a:prstGeom>
          <a:noFill/>
        </p:spPr>
        <p:txBody>
          <a:bodyPr wrap="square">
            <a:spAutoFit/>
          </a:bodyPr>
          <a:lstStyle/>
          <a:p>
            <a:pPr algn="l"/>
            <a:r>
              <a:rPr sz="1900" b="0" i="0">
                <a:solidFill>
                  <a:srgbClr val="0F172A"/>
                </a:solidFill>
                <a:latin typeface="Calibri"/>
              </a:rPr>
              <a:t>Figma: tekststijlen aanmaken voor het project</a:t>
            </a:r>
          </a:p>
        </p:txBody>
      </p:sp>
      <p:sp>
        <p:nvSpPr>
          <p:cNvPr id="24" name="TextBox 23"/>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060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320040"/>
            <a:ext cx="4389120" cy="685800"/>
          </a:xfrm>
          <a:prstGeom prst="rect">
            <a:avLst/>
          </a:prstGeom>
          <a:noFill/>
        </p:spPr>
        <p:txBody>
          <a:bodyPr wrap="square">
            <a:spAutoFit/>
          </a:bodyPr>
          <a:lstStyle/>
          <a:p>
            <a:pPr algn="l"/>
            <a:r>
              <a:rPr sz="3000" b="1" i="0">
                <a:solidFill>
                  <a:srgbClr val="FFFFFF"/>
                </a:solidFill>
                <a:latin typeface="Calibri"/>
              </a:rPr>
              <a:t>Serif</a:t>
            </a:r>
          </a:p>
        </p:txBody>
      </p:sp>
      <p:sp>
        <p:nvSpPr>
          <p:cNvPr id="4" name="Rectangle 3"/>
          <p:cNvSpPr/>
          <p:nvPr/>
        </p:nvSpPr>
        <p:spPr>
          <a:xfrm>
            <a:off x="274320" y="1005840"/>
            <a:ext cx="1280160" cy="64008"/>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143000"/>
            <a:ext cx="3200400" cy="1371600"/>
          </a:xfrm>
          <a:prstGeom prst="rect">
            <a:avLst/>
          </a:prstGeom>
          <a:noFill/>
        </p:spPr>
        <p:txBody>
          <a:bodyPr wrap="square">
            <a:spAutoFit/>
          </a:bodyPr>
          <a:lstStyle/>
          <a:p>
            <a:pPr algn="l"/>
            <a:r>
              <a:rPr sz="7200" b="0" i="0">
                <a:solidFill>
                  <a:srgbClr val="A78BFA"/>
                </a:solidFill>
                <a:latin typeface="Calibri"/>
              </a:rPr>
              <a:t>Ag</a:t>
            </a:r>
          </a:p>
        </p:txBody>
      </p:sp>
      <p:sp>
        <p:nvSpPr>
          <p:cNvPr id="6" name="TextBox 5"/>
          <p:cNvSpPr txBox="1"/>
          <p:nvPr/>
        </p:nvSpPr>
        <p:spPr>
          <a:xfrm>
            <a:off x="274320" y="2514600"/>
            <a:ext cx="4389120" cy="2377440"/>
          </a:xfrm>
          <a:prstGeom prst="rect">
            <a:avLst/>
          </a:prstGeom>
          <a:noFill/>
        </p:spPr>
        <p:txBody>
          <a:bodyPr wrap="square">
            <a:spAutoFit/>
          </a:bodyPr>
          <a:lstStyle/>
          <a:p>
            <a:pPr>
              <a:spcBef>
                <a:spcPts val="500"/>
              </a:spcBef>
            </a:pPr>
            <a:r>
              <a:rPr sz="1500">
                <a:solidFill>
                  <a:srgbClr val="DCDCFF"/>
                </a:solidFill>
                <a:latin typeface="Calibri"/>
              </a:rPr>
              <a:t>  •  Gebruikt voor editorial en print</a:t>
            </a:r>
          </a:p>
          <a:p>
            <a:pPr>
              <a:spcBef>
                <a:spcPts val="500"/>
              </a:spcBef>
            </a:pPr>
            <a:r>
              <a:rPr sz="1500">
                <a:solidFill>
                  <a:srgbClr val="DCDCFF"/>
                </a:solidFill>
                <a:latin typeface="Calibri"/>
              </a:rPr>
              <a:t>  •  Straalt traditie en autoriteit uit</a:t>
            </a:r>
          </a:p>
          <a:p>
            <a:pPr>
              <a:spcBef>
                <a:spcPts val="500"/>
              </a:spcBef>
            </a:pPr>
            <a:r>
              <a:rPr sz="1500">
                <a:solidFill>
                  <a:srgbClr val="DCDCFF"/>
                </a:solidFill>
                <a:latin typeface="Calibri"/>
              </a:rPr>
              <a:t>  •  Schreven geleiden het oog langs tekst</a:t>
            </a:r>
          </a:p>
          <a:p>
            <a:pPr>
              <a:spcBef>
                <a:spcPts val="500"/>
              </a:spcBef>
            </a:pPr>
            <a:r>
              <a:rPr sz="1500">
                <a:solidFill>
                  <a:srgbClr val="DCDCFF"/>
                </a:solidFill>
                <a:latin typeface="Calibri"/>
              </a:rPr>
              <a:t>  •  Voorbeelden: Georgia, Playfair Display</a:t>
            </a:r>
          </a:p>
          <a:p>
            <a:pPr>
              <a:spcBef>
                <a:spcPts val="500"/>
              </a:spcBef>
            </a:pPr>
            <a:r>
              <a:rPr sz="1500">
                <a:solidFill>
                  <a:srgbClr val="DCDCFF"/>
                </a:solidFill>
                <a:latin typeface="Calibri"/>
              </a:rPr>
              <a:t>  •  Werkt goed als display heading online</a:t>
            </a:r>
          </a:p>
        </p:txBody>
      </p:sp>
      <p:sp>
        <p:nvSpPr>
          <p:cNvPr id="7" name="TextBox 6"/>
          <p:cNvSpPr txBox="1"/>
          <p:nvPr/>
        </p:nvSpPr>
        <p:spPr>
          <a:xfrm>
            <a:off x="5303520" y="320040"/>
            <a:ext cx="6400800" cy="685800"/>
          </a:xfrm>
          <a:prstGeom prst="rect">
            <a:avLst/>
          </a:prstGeom>
          <a:noFill/>
        </p:spPr>
        <p:txBody>
          <a:bodyPr wrap="square">
            <a:spAutoFit/>
          </a:bodyPr>
          <a:lstStyle/>
          <a:p>
            <a:pPr algn="l"/>
            <a:r>
              <a:rPr sz="3000" b="1" i="0">
                <a:solidFill>
                  <a:srgbClr val="0F172A"/>
                </a:solidFill>
                <a:latin typeface="Calibri"/>
              </a:rPr>
              <a:t>Sans-serif</a:t>
            </a:r>
          </a:p>
        </p:txBody>
      </p:sp>
      <p:sp>
        <p:nvSpPr>
          <p:cNvPr id="8" name="Rectangle 7"/>
          <p:cNvSpPr/>
          <p:nvPr/>
        </p:nvSpPr>
        <p:spPr>
          <a:xfrm>
            <a:off x="5303520" y="1005840"/>
            <a:ext cx="1280160" cy="64008"/>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1143000"/>
            <a:ext cx="3200400" cy="1371600"/>
          </a:xfrm>
          <a:prstGeom prst="rect">
            <a:avLst/>
          </a:prstGeom>
          <a:noFill/>
        </p:spPr>
        <p:txBody>
          <a:bodyPr wrap="square">
            <a:spAutoFit/>
          </a:bodyPr>
          <a:lstStyle/>
          <a:p>
            <a:pPr algn="l"/>
            <a:r>
              <a:rPr sz="7200" b="0" i="0">
                <a:solidFill>
                  <a:srgbClr val="7C3AED"/>
                </a:solidFill>
                <a:latin typeface="Calibri"/>
              </a:rPr>
              <a:t>Ag</a:t>
            </a:r>
          </a:p>
        </p:txBody>
      </p:sp>
      <p:sp>
        <p:nvSpPr>
          <p:cNvPr id="10" name="TextBox 9"/>
          <p:cNvSpPr txBox="1"/>
          <p:nvPr/>
        </p:nvSpPr>
        <p:spPr>
          <a:xfrm>
            <a:off x="5303520" y="2514600"/>
            <a:ext cx="6400800" cy="2377440"/>
          </a:xfrm>
          <a:prstGeom prst="rect">
            <a:avLst/>
          </a:prstGeom>
          <a:noFill/>
        </p:spPr>
        <p:txBody>
          <a:bodyPr wrap="square">
            <a:spAutoFit/>
          </a:bodyPr>
          <a:lstStyle/>
          <a:p>
            <a:pPr>
              <a:spcBef>
                <a:spcPts val="500"/>
              </a:spcBef>
            </a:pPr>
            <a:r>
              <a:rPr sz="1500">
                <a:solidFill>
                  <a:srgbClr val="334155"/>
                </a:solidFill>
                <a:latin typeface="Calibri"/>
              </a:rPr>
              <a:t>  •  Digital-first ontworpen</a:t>
            </a:r>
          </a:p>
          <a:p>
            <a:pPr>
              <a:spcBef>
                <a:spcPts val="500"/>
              </a:spcBef>
            </a:pPr>
            <a:r>
              <a:rPr sz="1500">
                <a:solidFill>
                  <a:srgbClr val="334155"/>
                </a:solidFill>
                <a:latin typeface="Calibri"/>
              </a:rPr>
              <a:t>  •  Modern en clean esthetiek</a:t>
            </a:r>
          </a:p>
          <a:p>
            <a:pPr>
              <a:spcBef>
                <a:spcPts val="500"/>
              </a:spcBef>
            </a:pPr>
            <a:r>
              <a:rPr sz="1500">
                <a:solidFill>
                  <a:srgbClr val="334155"/>
                </a:solidFill>
                <a:latin typeface="Calibri"/>
              </a:rPr>
              <a:t>  •  Uitstekende leesbaarheid op schermen</a:t>
            </a:r>
          </a:p>
          <a:p>
            <a:pPr>
              <a:spcBef>
                <a:spcPts val="500"/>
              </a:spcBef>
            </a:pPr>
            <a:r>
              <a:rPr sz="1500">
                <a:solidFill>
                  <a:srgbClr val="334155"/>
                </a:solidFill>
                <a:latin typeface="Calibri"/>
              </a:rPr>
              <a:t>  •  Voorbeelden: Inter, Roboto, Outfit</a:t>
            </a:r>
          </a:p>
          <a:p>
            <a:pPr>
              <a:spcBef>
                <a:spcPts val="500"/>
              </a:spcBef>
            </a:pPr>
            <a:r>
              <a:rPr sz="1500">
                <a:solidFill>
                  <a:srgbClr val="334155"/>
                </a:solidFill>
                <a:latin typeface="Calibri"/>
              </a:rPr>
              <a:t>  •  Standaard keuze voor body text op web</a:t>
            </a:r>
          </a:p>
        </p:txBody>
      </p:sp>
      <p:sp>
        <p:nvSpPr>
          <p:cNvPr id="11" name="Rectangle 10"/>
          <p:cNvSpPr/>
          <p:nvPr/>
        </p:nvSpPr>
        <p:spPr>
          <a:xfrm>
            <a:off x="4983480" y="182880"/>
            <a:ext cx="73152" cy="6492240"/>
          </a:xfrm>
          <a:prstGeom prst="rect">
            <a:avLst/>
          </a:prstGeom>
          <a:solidFill>
            <a:srgbClr val="D2DA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715000"/>
            <a:ext cx="10972800" cy="86868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715000"/>
            <a:ext cx="64008" cy="86868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843016"/>
            <a:ext cx="10588752" cy="640080"/>
          </a:xfrm>
          <a:prstGeom prst="rect">
            <a:avLst/>
          </a:prstGeom>
          <a:noFill/>
        </p:spPr>
        <p:txBody>
          <a:bodyPr wrap="square">
            <a:spAutoFit/>
          </a:bodyPr>
          <a:lstStyle/>
          <a:p>
            <a:pPr algn="l"/>
            <a:r>
              <a:rPr sz="1400" b="0" i="0">
                <a:solidFill>
                  <a:srgbClr val="334155"/>
                </a:solidFill>
                <a:latin typeface="Calibri"/>
              </a:rPr>
              <a:t>Tip voor websites: gebruik sans-serif voor body text, serif kan werken voor display headings.</a:t>
            </a:r>
          </a:p>
        </p:txBody>
      </p:sp>
      <p:sp>
        <p:nvSpPr>
          <p:cNvPr id="15" name="TextBox 14"/>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Type scale: hierarchie in grootte</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Van H1 tot caption, elke stap heeft een doel</a:t>
            </a:r>
          </a:p>
        </p:txBody>
      </p:sp>
      <p:sp>
        <p:nvSpPr>
          <p:cNvPr id="6" name="TextBox 5"/>
          <p:cNvSpPr txBox="1"/>
          <p:nvPr/>
        </p:nvSpPr>
        <p:spPr>
          <a:xfrm>
            <a:off x="640080" y="1508760"/>
            <a:ext cx="914400" cy="457200"/>
          </a:xfrm>
          <a:prstGeom prst="rect">
            <a:avLst/>
          </a:prstGeom>
          <a:noFill/>
        </p:spPr>
        <p:txBody>
          <a:bodyPr wrap="square">
            <a:spAutoFit/>
          </a:bodyPr>
          <a:lstStyle/>
          <a:p>
            <a:pPr algn="l"/>
            <a:r>
              <a:rPr sz="1400" b="1" i="0">
                <a:solidFill>
                  <a:srgbClr val="0F172A"/>
                </a:solidFill>
                <a:latin typeface="Calibri"/>
              </a:rPr>
              <a:t>H1</a:t>
            </a:r>
          </a:p>
        </p:txBody>
      </p:sp>
      <p:sp>
        <p:nvSpPr>
          <p:cNvPr id="7" name="TextBox 6"/>
          <p:cNvSpPr txBox="1"/>
          <p:nvPr/>
        </p:nvSpPr>
        <p:spPr>
          <a:xfrm>
            <a:off x="1600200" y="1508760"/>
            <a:ext cx="640080" cy="457200"/>
          </a:xfrm>
          <a:prstGeom prst="rect">
            <a:avLst/>
          </a:prstGeom>
          <a:noFill/>
        </p:spPr>
        <p:txBody>
          <a:bodyPr wrap="square">
            <a:spAutoFit/>
          </a:bodyPr>
          <a:lstStyle/>
          <a:p>
            <a:pPr algn="l"/>
            <a:r>
              <a:rPr sz="1300" b="0" i="0">
                <a:solidFill>
                  <a:srgbClr val="647487"/>
                </a:solidFill>
                <a:latin typeface="Calibri"/>
              </a:rPr>
              <a:t>48px</a:t>
            </a:r>
          </a:p>
        </p:txBody>
      </p:sp>
      <p:sp>
        <p:nvSpPr>
          <p:cNvPr id="8" name="Rectangle 7"/>
          <p:cNvSpPr/>
          <p:nvPr/>
        </p:nvSpPr>
        <p:spPr>
          <a:xfrm>
            <a:off x="2286000" y="1600200"/>
            <a:ext cx="8229600"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1828800"/>
            <a:ext cx="8686800" cy="320040"/>
          </a:xfrm>
          <a:prstGeom prst="rect">
            <a:avLst/>
          </a:prstGeom>
          <a:noFill/>
        </p:spPr>
        <p:txBody>
          <a:bodyPr wrap="square">
            <a:spAutoFit/>
          </a:bodyPr>
          <a:lstStyle/>
          <a:p>
            <a:pPr algn="l"/>
            <a:r>
              <a:rPr sz="1100" b="0" i="1">
                <a:solidFill>
                  <a:srgbClr val="647487"/>
                </a:solidFill>
                <a:latin typeface="Calibri"/>
              </a:rPr>
              <a:t>Paginatitel, hero heading</a:t>
            </a:r>
          </a:p>
        </p:txBody>
      </p:sp>
      <p:sp>
        <p:nvSpPr>
          <p:cNvPr id="10" name="TextBox 9"/>
          <p:cNvSpPr txBox="1"/>
          <p:nvPr/>
        </p:nvSpPr>
        <p:spPr>
          <a:xfrm>
            <a:off x="640080" y="2194560"/>
            <a:ext cx="914400" cy="457200"/>
          </a:xfrm>
          <a:prstGeom prst="rect">
            <a:avLst/>
          </a:prstGeom>
          <a:noFill/>
        </p:spPr>
        <p:txBody>
          <a:bodyPr wrap="square">
            <a:spAutoFit/>
          </a:bodyPr>
          <a:lstStyle/>
          <a:p>
            <a:pPr algn="l"/>
            <a:r>
              <a:rPr sz="1400" b="1" i="0">
                <a:solidFill>
                  <a:srgbClr val="0F172A"/>
                </a:solidFill>
                <a:latin typeface="Calibri"/>
              </a:rPr>
              <a:t>H2</a:t>
            </a:r>
          </a:p>
        </p:txBody>
      </p:sp>
      <p:sp>
        <p:nvSpPr>
          <p:cNvPr id="11" name="TextBox 10"/>
          <p:cNvSpPr txBox="1"/>
          <p:nvPr/>
        </p:nvSpPr>
        <p:spPr>
          <a:xfrm>
            <a:off x="1600200" y="2194560"/>
            <a:ext cx="640080" cy="457200"/>
          </a:xfrm>
          <a:prstGeom prst="rect">
            <a:avLst/>
          </a:prstGeom>
          <a:noFill/>
        </p:spPr>
        <p:txBody>
          <a:bodyPr wrap="square">
            <a:spAutoFit/>
          </a:bodyPr>
          <a:lstStyle/>
          <a:p>
            <a:pPr algn="l"/>
            <a:r>
              <a:rPr sz="1300" b="0" i="0">
                <a:solidFill>
                  <a:srgbClr val="647487"/>
                </a:solidFill>
                <a:latin typeface="Calibri"/>
              </a:rPr>
              <a:t>36px</a:t>
            </a:r>
          </a:p>
        </p:txBody>
      </p:sp>
      <p:sp>
        <p:nvSpPr>
          <p:cNvPr id="12" name="Rectangle 11"/>
          <p:cNvSpPr/>
          <p:nvPr/>
        </p:nvSpPr>
        <p:spPr>
          <a:xfrm>
            <a:off x="2286000" y="2286000"/>
            <a:ext cx="6172200"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0" y="2514600"/>
            <a:ext cx="8686800" cy="320040"/>
          </a:xfrm>
          <a:prstGeom prst="rect">
            <a:avLst/>
          </a:prstGeom>
          <a:noFill/>
        </p:spPr>
        <p:txBody>
          <a:bodyPr wrap="square">
            <a:spAutoFit/>
          </a:bodyPr>
          <a:lstStyle/>
          <a:p>
            <a:pPr algn="l"/>
            <a:r>
              <a:rPr sz="1100" b="0" i="1">
                <a:solidFill>
                  <a:srgbClr val="647487"/>
                </a:solidFill>
                <a:latin typeface="Calibri"/>
              </a:rPr>
              <a:t>Sectietitels en paginanamen</a:t>
            </a:r>
          </a:p>
        </p:txBody>
      </p:sp>
      <p:sp>
        <p:nvSpPr>
          <p:cNvPr id="14" name="TextBox 13"/>
          <p:cNvSpPr txBox="1"/>
          <p:nvPr/>
        </p:nvSpPr>
        <p:spPr>
          <a:xfrm>
            <a:off x="640080" y="2880360"/>
            <a:ext cx="914400" cy="457200"/>
          </a:xfrm>
          <a:prstGeom prst="rect">
            <a:avLst/>
          </a:prstGeom>
          <a:noFill/>
        </p:spPr>
        <p:txBody>
          <a:bodyPr wrap="square">
            <a:spAutoFit/>
          </a:bodyPr>
          <a:lstStyle/>
          <a:p>
            <a:pPr algn="l"/>
            <a:r>
              <a:rPr sz="1400" b="1" i="0">
                <a:solidFill>
                  <a:srgbClr val="0F172A"/>
                </a:solidFill>
                <a:latin typeface="Calibri"/>
              </a:rPr>
              <a:t>H3</a:t>
            </a:r>
          </a:p>
        </p:txBody>
      </p:sp>
      <p:sp>
        <p:nvSpPr>
          <p:cNvPr id="15" name="TextBox 14"/>
          <p:cNvSpPr txBox="1"/>
          <p:nvPr/>
        </p:nvSpPr>
        <p:spPr>
          <a:xfrm>
            <a:off x="1600200" y="2880360"/>
            <a:ext cx="640080" cy="457200"/>
          </a:xfrm>
          <a:prstGeom prst="rect">
            <a:avLst/>
          </a:prstGeom>
          <a:noFill/>
        </p:spPr>
        <p:txBody>
          <a:bodyPr wrap="square">
            <a:spAutoFit/>
          </a:bodyPr>
          <a:lstStyle/>
          <a:p>
            <a:pPr algn="l"/>
            <a:r>
              <a:rPr sz="1300" b="0" i="0">
                <a:solidFill>
                  <a:srgbClr val="647487"/>
                </a:solidFill>
                <a:latin typeface="Calibri"/>
              </a:rPr>
              <a:t>28px</a:t>
            </a:r>
          </a:p>
        </p:txBody>
      </p:sp>
      <p:sp>
        <p:nvSpPr>
          <p:cNvPr id="16" name="Rectangle 15"/>
          <p:cNvSpPr/>
          <p:nvPr/>
        </p:nvSpPr>
        <p:spPr>
          <a:xfrm>
            <a:off x="2286000" y="2971800"/>
            <a:ext cx="4800600"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7440" y="3200400"/>
            <a:ext cx="8686800" cy="320040"/>
          </a:xfrm>
          <a:prstGeom prst="rect">
            <a:avLst/>
          </a:prstGeom>
          <a:noFill/>
        </p:spPr>
        <p:txBody>
          <a:bodyPr wrap="square">
            <a:spAutoFit/>
          </a:bodyPr>
          <a:lstStyle/>
          <a:p>
            <a:pPr algn="l"/>
            <a:r>
              <a:rPr sz="1100" b="0" i="1">
                <a:solidFill>
                  <a:srgbClr val="647487"/>
                </a:solidFill>
                <a:latin typeface="Calibri"/>
              </a:rPr>
              <a:t>Subtitels en kaartkoppen</a:t>
            </a:r>
          </a:p>
        </p:txBody>
      </p:sp>
      <p:sp>
        <p:nvSpPr>
          <p:cNvPr id="18" name="TextBox 17"/>
          <p:cNvSpPr txBox="1"/>
          <p:nvPr/>
        </p:nvSpPr>
        <p:spPr>
          <a:xfrm>
            <a:off x="640080" y="3566160"/>
            <a:ext cx="914400" cy="457200"/>
          </a:xfrm>
          <a:prstGeom prst="rect">
            <a:avLst/>
          </a:prstGeom>
          <a:noFill/>
        </p:spPr>
        <p:txBody>
          <a:bodyPr wrap="square">
            <a:spAutoFit/>
          </a:bodyPr>
          <a:lstStyle/>
          <a:p>
            <a:pPr algn="l"/>
            <a:r>
              <a:rPr sz="1400" b="1" i="0">
                <a:solidFill>
                  <a:srgbClr val="0F172A"/>
                </a:solidFill>
                <a:latin typeface="Calibri"/>
              </a:rPr>
              <a:t>H4</a:t>
            </a:r>
          </a:p>
        </p:txBody>
      </p:sp>
      <p:sp>
        <p:nvSpPr>
          <p:cNvPr id="19" name="TextBox 18"/>
          <p:cNvSpPr txBox="1"/>
          <p:nvPr/>
        </p:nvSpPr>
        <p:spPr>
          <a:xfrm>
            <a:off x="1600200" y="3566160"/>
            <a:ext cx="640080" cy="457200"/>
          </a:xfrm>
          <a:prstGeom prst="rect">
            <a:avLst/>
          </a:prstGeom>
          <a:noFill/>
        </p:spPr>
        <p:txBody>
          <a:bodyPr wrap="square">
            <a:spAutoFit/>
          </a:bodyPr>
          <a:lstStyle/>
          <a:p>
            <a:pPr algn="l"/>
            <a:r>
              <a:rPr sz="1300" b="0" i="0">
                <a:solidFill>
                  <a:srgbClr val="647487"/>
                </a:solidFill>
                <a:latin typeface="Calibri"/>
              </a:rPr>
              <a:t>22px</a:t>
            </a:r>
          </a:p>
        </p:txBody>
      </p:sp>
      <p:sp>
        <p:nvSpPr>
          <p:cNvPr id="20" name="Rectangle 19"/>
          <p:cNvSpPr/>
          <p:nvPr/>
        </p:nvSpPr>
        <p:spPr>
          <a:xfrm>
            <a:off x="2286000" y="3657600"/>
            <a:ext cx="3749039"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77440" y="3886200"/>
            <a:ext cx="8686800" cy="320040"/>
          </a:xfrm>
          <a:prstGeom prst="rect">
            <a:avLst/>
          </a:prstGeom>
          <a:noFill/>
        </p:spPr>
        <p:txBody>
          <a:bodyPr wrap="square">
            <a:spAutoFit/>
          </a:bodyPr>
          <a:lstStyle/>
          <a:p>
            <a:pPr algn="l"/>
            <a:r>
              <a:rPr sz="1100" b="0" i="1">
                <a:solidFill>
                  <a:srgbClr val="647487"/>
                </a:solidFill>
                <a:latin typeface="Calibri"/>
              </a:rPr>
              <a:t>Component headers</a:t>
            </a:r>
          </a:p>
        </p:txBody>
      </p:sp>
      <p:sp>
        <p:nvSpPr>
          <p:cNvPr id="22" name="TextBox 21"/>
          <p:cNvSpPr txBox="1"/>
          <p:nvPr/>
        </p:nvSpPr>
        <p:spPr>
          <a:xfrm>
            <a:off x="640080" y="4251960"/>
            <a:ext cx="914400" cy="457200"/>
          </a:xfrm>
          <a:prstGeom prst="rect">
            <a:avLst/>
          </a:prstGeom>
          <a:noFill/>
        </p:spPr>
        <p:txBody>
          <a:bodyPr wrap="square">
            <a:spAutoFit/>
          </a:bodyPr>
          <a:lstStyle/>
          <a:p>
            <a:pPr algn="l"/>
            <a:r>
              <a:rPr sz="1400" b="1" i="0">
                <a:solidFill>
                  <a:srgbClr val="0F172A"/>
                </a:solidFill>
                <a:latin typeface="Calibri"/>
              </a:rPr>
              <a:t>H5</a:t>
            </a:r>
          </a:p>
        </p:txBody>
      </p:sp>
      <p:sp>
        <p:nvSpPr>
          <p:cNvPr id="23" name="TextBox 22"/>
          <p:cNvSpPr txBox="1"/>
          <p:nvPr/>
        </p:nvSpPr>
        <p:spPr>
          <a:xfrm>
            <a:off x="1600200" y="4251960"/>
            <a:ext cx="640080" cy="457200"/>
          </a:xfrm>
          <a:prstGeom prst="rect">
            <a:avLst/>
          </a:prstGeom>
          <a:noFill/>
        </p:spPr>
        <p:txBody>
          <a:bodyPr wrap="square">
            <a:spAutoFit/>
          </a:bodyPr>
          <a:lstStyle/>
          <a:p>
            <a:pPr algn="l"/>
            <a:r>
              <a:rPr sz="1300" b="0" i="0">
                <a:solidFill>
                  <a:srgbClr val="647487"/>
                </a:solidFill>
                <a:latin typeface="Calibri"/>
              </a:rPr>
              <a:t>18px</a:t>
            </a:r>
          </a:p>
        </p:txBody>
      </p:sp>
      <p:sp>
        <p:nvSpPr>
          <p:cNvPr id="24" name="Rectangle 23"/>
          <p:cNvSpPr/>
          <p:nvPr/>
        </p:nvSpPr>
        <p:spPr>
          <a:xfrm>
            <a:off x="2286000" y="4343400"/>
            <a:ext cx="3108960"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77440" y="4572000"/>
            <a:ext cx="8686800" cy="320040"/>
          </a:xfrm>
          <a:prstGeom prst="rect">
            <a:avLst/>
          </a:prstGeom>
          <a:noFill/>
        </p:spPr>
        <p:txBody>
          <a:bodyPr wrap="square">
            <a:spAutoFit/>
          </a:bodyPr>
          <a:lstStyle/>
          <a:p>
            <a:pPr algn="l"/>
            <a:r>
              <a:rPr sz="1100" b="0" i="1">
                <a:solidFill>
                  <a:srgbClr val="647487"/>
                </a:solidFill>
                <a:latin typeface="Calibri"/>
              </a:rPr>
              <a:t>Kleine headers en labels</a:t>
            </a:r>
          </a:p>
        </p:txBody>
      </p:sp>
      <p:sp>
        <p:nvSpPr>
          <p:cNvPr id="26" name="TextBox 25"/>
          <p:cNvSpPr txBox="1"/>
          <p:nvPr/>
        </p:nvSpPr>
        <p:spPr>
          <a:xfrm>
            <a:off x="640080" y="4937760"/>
            <a:ext cx="914400" cy="457200"/>
          </a:xfrm>
          <a:prstGeom prst="rect">
            <a:avLst/>
          </a:prstGeom>
          <a:noFill/>
        </p:spPr>
        <p:txBody>
          <a:bodyPr wrap="square">
            <a:spAutoFit/>
          </a:bodyPr>
          <a:lstStyle/>
          <a:p>
            <a:pPr algn="l"/>
            <a:r>
              <a:rPr sz="1400" b="1" i="0">
                <a:solidFill>
                  <a:srgbClr val="0F172A"/>
                </a:solidFill>
                <a:latin typeface="Calibri"/>
              </a:rPr>
              <a:t>Body</a:t>
            </a:r>
          </a:p>
        </p:txBody>
      </p:sp>
      <p:sp>
        <p:nvSpPr>
          <p:cNvPr id="27" name="TextBox 26"/>
          <p:cNvSpPr txBox="1"/>
          <p:nvPr/>
        </p:nvSpPr>
        <p:spPr>
          <a:xfrm>
            <a:off x="1600200" y="4937760"/>
            <a:ext cx="640080" cy="457200"/>
          </a:xfrm>
          <a:prstGeom prst="rect">
            <a:avLst/>
          </a:prstGeom>
          <a:noFill/>
        </p:spPr>
        <p:txBody>
          <a:bodyPr wrap="square">
            <a:spAutoFit/>
          </a:bodyPr>
          <a:lstStyle/>
          <a:p>
            <a:pPr algn="l"/>
            <a:r>
              <a:rPr sz="1300" b="0" i="0">
                <a:solidFill>
                  <a:srgbClr val="647487"/>
                </a:solidFill>
                <a:latin typeface="Calibri"/>
              </a:rPr>
              <a:t>16px</a:t>
            </a:r>
          </a:p>
        </p:txBody>
      </p:sp>
      <p:sp>
        <p:nvSpPr>
          <p:cNvPr id="28" name="Rectangle 27"/>
          <p:cNvSpPr/>
          <p:nvPr/>
        </p:nvSpPr>
        <p:spPr>
          <a:xfrm>
            <a:off x="2286000" y="5029200"/>
            <a:ext cx="2743200"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77440" y="5257800"/>
            <a:ext cx="8686800" cy="320040"/>
          </a:xfrm>
          <a:prstGeom prst="rect">
            <a:avLst/>
          </a:prstGeom>
          <a:noFill/>
        </p:spPr>
        <p:txBody>
          <a:bodyPr wrap="square">
            <a:spAutoFit/>
          </a:bodyPr>
          <a:lstStyle/>
          <a:p>
            <a:pPr algn="l"/>
            <a:r>
              <a:rPr sz="1100" b="0" i="1">
                <a:solidFill>
                  <a:srgbClr val="647487"/>
                </a:solidFill>
                <a:latin typeface="Calibri"/>
              </a:rPr>
              <a:t>Lopende tekst, beschrijvingen</a:t>
            </a:r>
          </a:p>
        </p:txBody>
      </p:sp>
      <p:sp>
        <p:nvSpPr>
          <p:cNvPr id="30" name="TextBox 29"/>
          <p:cNvSpPr txBox="1"/>
          <p:nvPr/>
        </p:nvSpPr>
        <p:spPr>
          <a:xfrm>
            <a:off x="640080" y="5623560"/>
            <a:ext cx="914400" cy="457200"/>
          </a:xfrm>
          <a:prstGeom prst="rect">
            <a:avLst/>
          </a:prstGeom>
          <a:noFill/>
        </p:spPr>
        <p:txBody>
          <a:bodyPr wrap="square">
            <a:spAutoFit/>
          </a:bodyPr>
          <a:lstStyle/>
          <a:p>
            <a:pPr algn="l"/>
            <a:r>
              <a:rPr sz="1400" b="1" i="0">
                <a:solidFill>
                  <a:srgbClr val="0F172A"/>
                </a:solidFill>
                <a:latin typeface="Calibri"/>
              </a:rPr>
              <a:t>Caption</a:t>
            </a:r>
          </a:p>
        </p:txBody>
      </p:sp>
      <p:sp>
        <p:nvSpPr>
          <p:cNvPr id="31" name="TextBox 30"/>
          <p:cNvSpPr txBox="1"/>
          <p:nvPr/>
        </p:nvSpPr>
        <p:spPr>
          <a:xfrm>
            <a:off x="1600200" y="5623560"/>
            <a:ext cx="640080" cy="457200"/>
          </a:xfrm>
          <a:prstGeom prst="rect">
            <a:avLst/>
          </a:prstGeom>
          <a:noFill/>
        </p:spPr>
        <p:txBody>
          <a:bodyPr wrap="square">
            <a:spAutoFit/>
          </a:bodyPr>
          <a:lstStyle/>
          <a:p>
            <a:pPr algn="l"/>
            <a:r>
              <a:rPr sz="1300" b="0" i="0">
                <a:solidFill>
                  <a:srgbClr val="647487"/>
                </a:solidFill>
                <a:latin typeface="Calibri"/>
              </a:rPr>
              <a:t>12px</a:t>
            </a:r>
          </a:p>
        </p:txBody>
      </p:sp>
      <p:sp>
        <p:nvSpPr>
          <p:cNvPr id="32" name="Rectangle 31"/>
          <p:cNvSpPr/>
          <p:nvPr/>
        </p:nvSpPr>
        <p:spPr>
          <a:xfrm>
            <a:off x="2286000" y="5715000"/>
            <a:ext cx="2057400" cy="25603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77440" y="5943600"/>
            <a:ext cx="8686800" cy="320040"/>
          </a:xfrm>
          <a:prstGeom prst="rect">
            <a:avLst/>
          </a:prstGeom>
          <a:noFill/>
        </p:spPr>
        <p:txBody>
          <a:bodyPr wrap="square">
            <a:spAutoFit/>
          </a:bodyPr>
          <a:lstStyle/>
          <a:p>
            <a:pPr algn="l"/>
            <a:r>
              <a:rPr sz="1100" b="0" i="1">
                <a:solidFill>
                  <a:srgbClr val="647487"/>
                </a:solidFill>
                <a:latin typeface="Calibri"/>
              </a:rPr>
              <a:t>Labels, metadata, bijschriften</a:t>
            </a:r>
          </a:p>
        </p:txBody>
      </p:sp>
      <p:sp>
        <p:nvSpPr>
          <p:cNvPr id="34" name="TextBox 33"/>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Line-height en Letter-spacing</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Ruimte tussen regels en letters bepaalt leescomfort</a:t>
            </a:r>
          </a:p>
        </p:txBody>
      </p:sp>
      <p:sp>
        <p:nvSpPr>
          <p:cNvPr id="6" name="Rectangle 5"/>
          <p:cNvSpPr/>
          <p:nvPr/>
        </p:nvSpPr>
        <p:spPr>
          <a:xfrm>
            <a:off x="731520" y="1645920"/>
            <a:ext cx="4846320" cy="384048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4846320"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4663440" cy="347472"/>
          </a:xfrm>
          <a:prstGeom prst="rect">
            <a:avLst/>
          </a:prstGeom>
          <a:noFill/>
        </p:spPr>
        <p:txBody>
          <a:bodyPr wrap="square">
            <a:spAutoFit/>
          </a:bodyPr>
          <a:lstStyle/>
          <a:p>
            <a:pPr algn="l"/>
            <a:r>
              <a:rPr sz="1500" b="1" i="0">
                <a:solidFill>
                  <a:srgbClr val="FFFFFF"/>
                </a:solidFill>
                <a:latin typeface="Calibri"/>
              </a:rPr>
              <a:t>Te weinig ruimte</a:t>
            </a:r>
          </a:p>
        </p:txBody>
      </p:sp>
      <p:sp>
        <p:nvSpPr>
          <p:cNvPr id="9" name="Rectangle 8"/>
          <p:cNvSpPr/>
          <p:nvPr/>
        </p:nvSpPr>
        <p:spPr>
          <a:xfrm>
            <a:off x="868680" y="2148840"/>
            <a:ext cx="4572000"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478024"/>
            <a:ext cx="4572000"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807208"/>
            <a:ext cx="3150108"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3136392"/>
            <a:ext cx="4572000"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3465576"/>
            <a:ext cx="4572000"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794760"/>
            <a:ext cx="3150108"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23944"/>
            <a:ext cx="4572000"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8680" y="4453128"/>
            <a:ext cx="4572000" cy="164592"/>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559552"/>
            <a:ext cx="4846320" cy="731520"/>
          </a:xfrm>
          <a:prstGeom prst="rect">
            <a:avLst/>
          </a:prstGeom>
          <a:noFill/>
        </p:spPr>
        <p:txBody>
          <a:bodyPr wrap="square">
            <a:spAutoFit/>
          </a:bodyPr>
          <a:lstStyle/>
          <a:p>
            <a:pPr>
              <a:spcBef>
                <a:spcPts val="300"/>
              </a:spcBef>
            </a:pPr>
            <a:r>
              <a:rPr sz="1300">
                <a:solidFill>
                  <a:srgbClr val="DC2626"/>
                </a:solidFill>
                <a:latin typeface="Calibri"/>
              </a:rPr>
              <a:t>  •  Line-height: 1.1</a:t>
            </a:r>
          </a:p>
          <a:p>
            <a:pPr>
              <a:spcBef>
                <a:spcPts val="300"/>
              </a:spcBef>
            </a:pPr>
            <a:r>
              <a:rPr sz="1300">
                <a:solidFill>
                  <a:srgbClr val="DC2626"/>
                </a:solidFill>
                <a:latin typeface="Calibri"/>
              </a:rPr>
              <a:t>  •  Letter-spacing: 0</a:t>
            </a:r>
          </a:p>
          <a:p>
            <a:pPr>
              <a:spcBef>
                <a:spcPts val="300"/>
              </a:spcBef>
            </a:pPr>
            <a:r>
              <a:rPr sz="1300">
                <a:solidFill>
                  <a:srgbClr val="DC2626"/>
                </a:solidFill>
                <a:latin typeface="Calibri"/>
              </a:rPr>
              <a:t>  •  Moeilijk te volgen</a:t>
            </a:r>
          </a:p>
          <a:p>
            <a:pPr>
              <a:spcBef>
                <a:spcPts val="300"/>
              </a:spcBef>
            </a:pPr>
            <a:r>
              <a:rPr sz="1300">
                <a:solidFill>
                  <a:srgbClr val="DC2626"/>
                </a:solidFill>
                <a:latin typeface="Calibri"/>
              </a:rPr>
              <a:t>  •  Vermoeiend na 1 minuut</a:t>
            </a:r>
          </a:p>
        </p:txBody>
      </p:sp>
      <p:sp>
        <p:nvSpPr>
          <p:cNvPr id="18" name="Rectangle 17"/>
          <p:cNvSpPr/>
          <p:nvPr/>
        </p:nvSpPr>
        <p:spPr>
          <a:xfrm>
            <a:off x="6400800" y="1645920"/>
            <a:ext cx="4846320" cy="384048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1645920"/>
            <a:ext cx="4846320" cy="4114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1691640"/>
            <a:ext cx="4663440" cy="347472"/>
          </a:xfrm>
          <a:prstGeom prst="rect">
            <a:avLst/>
          </a:prstGeom>
          <a:noFill/>
        </p:spPr>
        <p:txBody>
          <a:bodyPr wrap="square">
            <a:spAutoFit/>
          </a:bodyPr>
          <a:lstStyle/>
          <a:p>
            <a:pPr algn="l"/>
            <a:r>
              <a:rPr sz="1500" b="1" i="0">
                <a:solidFill>
                  <a:srgbClr val="FFFFFF"/>
                </a:solidFill>
                <a:latin typeface="Calibri"/>
              </a:rPr>
              <a:t>Goed ingesteld</a:t>
            </a:r>
          </a:p>
        </p:txBody>
      </p:sp>
      <p:sp>
        <p:nvSpPr>
          <p:cNvPr id="21" name="Rectangle 20"/>
          <p:cNvSpPr/>
          <p:nvPr/>
        </p:nvSpPr>
        <p:spPr>
          <a:xfrm>
            <a:off x="6537960" y="2194560"/>
            <a:ext cx="4572000" cy="201168"/>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37960" y="2697480"/>
            <a:ext cx="4572000" cy="201168"/>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37960" y="3200400"/>
            <a:ext cx="3392424" cy="201168"/>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37960" y="3703320"/>
            <a:ext cx="4572000" cy="201168"/>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7960" y="4206240"/>
            <a:ext cx="4572000" cy="201168"/>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37960" y="4709160"/>
            <a:ext cx="3392424" cy="201168"/>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5559552"/>
            <a:ext cx="4846320" cy="731520"/>
          </a:xfrm>
          <a:prstGeom prst="rect">
            <a:avLst/>
          </a:prstGeom>
          <a:noFill/>
        </p:spPr>
        <p:txBody>
          <a:bodyPr wrap="square">
            <a:spAutoFit/>
          </a:bodyPr>
          <a:lstStyle/>
          <a:p>
            <a:pPr>
              <a:spcBef>
                <a:spcPts val="300"/>
              </a:spcBef>
            </a:pPr>
            <a:r>
              <a:rPr sz="1300">
                <a:solidFill>
                  <a:srgbClr val="16A34A"/>
                </a:solidFill>
                <a:latin typeface="Calibri"/>
              </a:rPr>
              <a:t>  •  Line-height: 1.6</a:t>
            </a:r>
          </a:p>
          <a:p>
            <a:pPr>
              <a:spcBef>
                <a:spcPts val="300"/>
              </a:spcBef>
            </a:pPr>
            <a:r>
              <a:rPr sz="1300">
                <a:solidFill>
                  <a:srgbClr val="16A34A"/>
                </a:solidFill>
                <a:latin typeface="Calibri"/>
              </a:rPr>
              <a:t>  •  Letter-spacing: normaal</a:t>
            </a:r>
          </a:p>
          <a:p>
            <a:pPr>
              <a:spcBef>
                <a:spcPts val="300"/>
              </a:spcBef>
            </a:pPr>
            <a:r>
              <a:rPr sz="1300">
                <a:solidFill>
                  <a:srgbClr val="16A34A"/>
                </a:solidFill>
                <a:latin typeface="Calibri"/>
              </a:rPr>
              <a:t>  •  Oog volgt moeiteloos</a:t>
            </a:r>
          </a:p>
          <a:p>
            <a:pPr>
              <a:spcBef>
                <a:spcPts val="300"/>
              </a:spcBef>
            </a:pPr>
            <a:r>
              <a:rPr sz="1300">
                <a:solidFill>
                  <a:srgbClr val="16A34A"/>
                </a:solidFill>
                <a:latin typeface="Calibri"/>
              </a:rPr>
              <a:t>  •  Comfortabel leesbaar</a:t>
            </a:r>
          </a:p>
        </p:txBody>
      </p:sp>
      <p:sp>
        <p:nvSpPr>
          <p:cNvPr id="28" name="Rectangle 27"/>
          <p:cNvSpPr/>
          <p:nvPr/>
        </p:nvSpPr>
        <p:spPr>
          <a:xfrm>
            <a:off x="640080" y="6144768"/>
            <a:ext cx="10972800" cy="56692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6144768"/>
            <a:ext cx="64008" cy="566928"/>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6272784"/>
            <a:ext cx="10588752" cy="457200"/>
          </a:xfrm>
          <a:prstGeom prst="rect">
            <a:avLst/>
          </a:prstGeom>
          <a:noFill/>
        </p:spPr>
        <p:txBody>
          <a:bodyPr wrap="square">
            <a:spAutoFit/>
          </a:bodyPr>
          <a:lstStyle/>
          <a:p>
            <a:pPr algn="l"/>
            <a:r>
              <a:rPr sz="1300" b="0" i="0">
                <a:solidFill>
                  <a:srgbClr val="334155"/>
                </a:solidFill>
                <a:latin typeface="Calibri"/>
              </a:rPr>
              <a:t>Line-height: 1.5x fontgrootte voor body, 1.2x voor headings. Letter-spacing: 0 tot -0.02em voor headings, 0 voor body.</a:t>
            </a:r>
          </a:p>
        </p:txBody>
      </p:sp>
      <p:sp>
        <p:nvSpPr>
          <p:cNvPr id="31" name="TextBox 30"/>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201168" cy="685800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De 45 tot 75 karakters regel</a:t>
            </a:r>
          </a:p>
        </p:txBody>
      </p:sp>
      <p:sp>
        <p:nvSpPr>
          <p:cNvPr id="5" name="Rectangle 4"/>
          <p:cNvSpPr/>
          <p:nvPr/>
        </p:nvSpPr>
        <p:spPr>
          <a:xfrm>
            <a:off x="914400" y="1298448"/>
            <a:ext cx="182880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32720" cy="384048"/>
          </a:xfrm>
          <a:prstGeom prst="rect">
            <a:avLst/>
          </a:prstGeom>
          <a:noFill/>
        </p:spPr>
        <p:txBody>
          <a:bodyPr wrap="square">
            <a:spAutoFit/>
          </a:bodyPr>
          <a:lstStyle/>
          <a:p>
            <a:pPr algn="l"/>
            <a:r>
              <a:rPr sz="1500" b="0" i="1">
                <a:solidFill>
                  <a:srgbClr val="C8C8F0"/>
                </a:solidFill>
                <a:latin typeface="Calibri"/>
              </a:rPr>
              <a:t>Regellengte is een van de meest onderschatte designbeslissingen</a:t>
            </a:r>
          </a:p>
        </p:txBody>
      </p:sp>
      <p:sp>
        <p:nvSpPr>
          <p:cNvPr id="7" name="TextBox 6"/>
          <p:cNvSpPr txBox="1"/>
          <p:nvPr/>
        </p:nvSpPr>
        <p:spPr>
          <a:xfrm>
            <a:off x="914400" y="1920240"/>
            <a:ext cx="6400800" cy="2560320"/>
          </a:xfrm>
          <a:prstGeom prst="rect">
            <a:avLst/>
          </a:prstGeom>
          <a:noFill/>
        </p:spPr>
        <p:txBody>
          <a:bodyPr wrap="square">
            <a:spAutoFit/>
          </a:bodyPr>
          <a:lstStyle/>
          <a:p>
            <a:pPr>
              <a:spcBef>
                <a:spcPts val="800"/>
              </a:spcBef>
            </a:pPr>
            <a:r>
              <a:rPr sz="1700">
                <a:solidFill>
                  <a:srgbClr val="DCE1FF"/>
                </a:solidFill>
                <a:latin typeface="Calibri"/>
              </a:rPr>
              <a:t>  •  Te korte regels: oog springt te vaak terug, ritme wordt verstoord</a:t>
            </a:r>
          </a:p>
          <a:p>
            <a:pPr>
              <a:spcBef>
                <a:spcPts val="800"/>
              </a:spcBef>
            </a:pPr>
            <a:r>
              <a:rPr sz="1700">
                <a:solidFill>
                  <a:srgbClr val="DCE1FF"/>
                </a:solidFill>
                <a:latin typeface="Calibri"/>
              </a:rPr>
              <a:t>  •  Te lange regels: oog verliest de volgende regel, vermoeiend om te lezen</a:t>
            </a:r>
          </a:p>
          <a:p>
            <a:pPr>
              <a:spcBef>
                <a:spcPts val="800"/>
              </a:spcBef>
            </a:pPr>
            <a:r>
              <a:rPr sz="1700">
                <a:solidFill>
                  <a:srgbClr val="DCE1FF"/>
                </a:solidFill>
                <a:latin typeface="Calibri"/>
              </a:rPr>
              <a:t>  •  Optimaal: 45 tot 75 karakters per regel voor body text</a:t>
            </a:r>
          </a:p>
          <a:p>
            <a:pPr>
              <a:spcBef>
                <a:spcPts val="800"/>
              </a:spcBef>
            </a:pPr>
            <a:r>
              <a:rPr sz="1700">
                <a:solidFill>
                  <a:srgbClr val="DCE1FF"/>
                </a:solidFill>
                <a:latin typeface="Calibri"/>
              </a:rPr>
              <a:t>  •  In CSS: max-width van 65ch is een bewezen startpunt</a:t>
            </a:r>
          </a:p>
          <a:p>
            <a:pPr>
              <a:spcBef>
                <a:spcPts val="800"/>
              </a:spcBef>
            </a:pPr>
            <a:r>
              <a:rPr sz="1700">
                <a:solidFill>
                  <a:srgbClr val="DCE1FF"/>
                </a:solidFill>
                <a:latin typeface="Calibri"/>
              </a:rPr>
              <a:t>  •  Narrowere kolommen werken goed voor zijbalken en kaartjes</a:t>
            </a:r>
          </a:p>
        </p:txBody>
      </p:sp>
      <p:sp>
        <p:nvSpPr>
          <p:cNvPr id="8" name="Rectangle 7"/>
          <p:cNvSpPr/>
          <p:nvPr/>
        </p:nvSpPr>
        <p:spPr>
          <a:xfrm>
            <a:off x="7772400" y="1645920"/>
            <a:ext cx="1005840" cy="4114800"/>
          </a:xfrm>
          <a:prstGeom prst="rect">
            <a:avLst/>
          </a:prstGeom>
          <a:solidFill>
            <a:srgbClr val="1E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691640"/>
            <a:ext cx="1005840" cy="274320"/>
          </a:xfrm>
          <a:prstGeom prst="rect">
            <a:avLst/>
          </a:prstGeom>
          <a:noFill/>
        </p:spPr>
        <p:txBody>
          <a:bodyPr wrap="square">
            <a:spAutoFit/>
          </a:bodyPr>
          <a:lstStyle/>
          <a:p>
            <a:pPr algn="ctr"/>
            <a:r>
              <a:rPr sz="1000" b="1" i="0">
                <a:solidFill>
                  <a:srgbClr val="DC2626"/>
                </a:solidFill>
                <a:latin typeface="Calibri"/>
              </a:rPr>
              <a:t>Te smal</a:t>
            </a:r>
          </a:p>
        </p:txBody>
      </p:sp>
      <p:sp>
        <p:nvSpPr>
          <p:cNvPr id="10" name="Rectangle 9"/>
          <p:cNvSpPr/>
          <p:nvPr/>
        </p:nvSpPr>
        <p:spPr>
          <a:xfrm>
            <a:off x="7863840" y="2011680"/>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0" y="2395728"/>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0" y="2779776"/>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63840" y="3163824"/>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3547872"/>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3931920"/>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4315968"/>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4700016"/>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63840" y="5084064"/>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645920"/>
            <a:ext cx="1828800" cy="4114800"/>
          </a:xfrm>
          <a:prstGeom prst="rect">
            <a:avLst/>
          </a:prstGeom>
          <a:solidFill>
            <a:srgbClr val="14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1691640"/>
            <a:ext cx="1828800" cy="274320"/>
          </a:xfrm>
          <a:prstGeom prst="rect">
            <a:avLst/>
          </a:prstGeom>
          <a:noFill/>
        </p:spPr>
        <p:txBody>
          <a:bodyPr wrap="square">
            <a:spAutoFit/>
          </a:bodyPr>
          <a:lstStyle/>
          <a:p>
            <a:pPr algn="ctr"/>
            <a:r>
              <a:rPr sz="1000" b="1" i="0">
                <a:solidFill>
                  <a:srgbClr val="A78BFA"/>
                </a:solidFill>
                <a:latin typeface="Calibri"/>
              </a:rPr>
              <a:t>Ideaal</a:t>
            </a:r>
          </a:p>
        </p:txBody>
      </p:sp>
      <p:sp>
        <p:nvSpPr>
          <p:cNvPr id="21" name="Rectangle 20"/>
          <p:cNvSpPr/>
          <p:nvPr/>
        </p:nvSpPr>
        <p:spPr>
          <a:xfrm>
            <a:off x="8961120" y="1645920"/>
            <a:ext cx="1828800" cy="54864"/>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2011680"/>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0" y="2395728"/>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2560" y="2779776"/>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3163824"/>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3547872"/>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2560" y="3931920"/>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4315968"/>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52560" y="4700016"/>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52560" y="5084064"/>
            <a:ext cx="164592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972800" y="1645920"/>
            <a:ext cx="1005840" cy="4114800"/>
          </a:xfrm>
          <a:prstGeom prst="rect">
            <a:avLst/>
          </a:prstGeom>
          <a:solidFill>
            <a:srgbClr val="1E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0" y="1691640"/>
            <a:ext cx="1005840" cy="274320"/>
          </a:xfrm>
          <a:prstGeom prst="rect">
            <a:avLst/>
          </a:prstGeom>
          <a:noFill/>
        </p:spPr>
        <p:txBody>
          <a:bodyPr wrap="square">
            <a:spAutoFit/>
          </a:bodyPr>
          <a:lstStyle/>
          <a:p>
            <a:pPr algn="ctr"/>
            <a:r>
              <a:rPr sz="1000" b="1" i="0">
                <a:solidFill>
                  <a:srgbClr val="DC2626"/>
                </a:solidFill>
                <a:latin typeface="Calibri"/>
              </a:rPr>
              <a:t>Te breed</a:t>
            </a:r>
          </a:p>
        </p:txBody>
      </p:sp>
      <p:sp>
        <p:nvSpPr>
          <p:cNvPr id="33" name="Rectangle 32"/>
          <p:cNvSpPr/>
          <p:nvPr/>
        </p:nvSpPr>
        <p:spPr>
          <a:xfrm>
            <a:off x="11064240" y="2011680"/>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2395728"/>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064240" y="2779776"/>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064240" y="3163824"/>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064240" y="3547872"/>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3931920"/>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064240" y="4315968"/>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064240" y="4700016"/>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064240" y="5084064"/>
            <a:ext cx="822960" cy="137160"/>
          </a:xfrm>
          <a:prstGeom prst="rect">
            <a:avLst/>
          </a:prstGeom>
          <a:solidFill>
            <a:srgbClr val="46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6263640"/>
            <a:ext cx="5943600" cy="411480"/>
          </a:xfrm>
          <a:prstGeom prst="rect">
            <a:avLst/>
          </a:prstGeom>
          <a:noFill/>
        </p:spPr>
        <p:txBody>
          <a:bodyPr wrap="square">
            <a:spAutoFit/>
          </a:bodyPr>
          <a:lstStyle/>
          <a:p>
            <a:pPr algn="l"/>
            <a:r>
              <a:rPr sz="1500" b="0" i="1">
                <a:solidFill>
                  <a:srgbClr val="A78BFA"/>
                </a:solidFill>
                <a:latin typeface="Calibri"/>
              </a:rPr>
              <a:t>max-width: 65ch</a:t>
            </a:r>
          </a:p>
        </p:txBody>
      </p:sp>
      <p:sp>
        <p:nvSpPr>
          <p:cNvPr id="43" name="TextBox 42"/>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Font pairs: heading plus body</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Goede font combinaties versterken de merkidentiteit</a:t>
            </a:r>
          </a:p>
        </p:txBody>
      </p:sp>
      <p:sp>
        <p:nvSpPr>
          <p:cNvPr id="6" name="Rectangle 5"/>
          <p:cNvSpPr/>
          <p:nvPr/>
        </p:nvSpPr>
        <p:spPr>
          <a:xfrm>
            <a:off x="731520" y="1600200"/>
            <a:ext cx="10515600" cy="138988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64008" cy="1389888"/>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28216"/>
            <a:ext cx="10131552" cy="347472"/>
          </a:xfrm>
          <a:prstGeom prst="rect">
            <a:avLst/>
          </a:prstGeom>
          <a:noFill/>
        </p:spPr>
        <p:txBody>
          <a:bodyPr wrap="square">
            <a:spAutoFit/>
          </a:bodyPr>
          <a:lstStyle/>
          <a:p>
            <a:pPr algn="l"/>
            <a:r>
              <a:rPr sz="2000" b="1" i="0">
                <a:solidFill>
                  <a:srgbClr val="0F172A"/>
                </a:solidFill>
                <a:latin typeface="Calibri"/>
              </a:rPr>
              <a:t>Playfair Display + Inter</a:t>
            </a:r>
          </a:p>
        </p:txBody>
      </p:sp>
      <p:sp>
        <p:nvSpPr>
          <p:cNvPr id="9" name="TextBox 8"/>
          <p:cNvSpPr txBox="1"/>
          <p:nvPr/>
        </p:nvSpPr>
        <p:spPr>
          <a:xfrm>
            <a:off x="960120" y="2075688"/>
            <a:ext cx="10131552" cy="658368"/>
          </a:xfrm>
          <a:prstGeom prst="rect">
            <a:avLst/>
          </a:prstGeom>
          <a:noFill/>
        </p:spPr>
        <p:txBody>
          <a:bodyPr wrap="square">
            <a:spAutoFit/>
          </a:bodyPr>
          <a:lstStyle/>
          <a:p>
            <a:pPr algn="l"/>
            <a:r>
              <a:rPr sz="1400" b="0" i="0">
                <a:solidFill>
                  <a:srgbClr val="334155"/>
                </a:solidFill>
                <a:latin typeface="Calibri"/>
              </a:rPr>
              <a:t>Editorial feel, goed voor lifestyle en cultuur websites. De serif heading geeft karakter, Inter als body zorgt voor uitstekende leesbaarheid.</a:t>
            </a:r>
          </a:p>
        </p:txBody>
      </p:sp>
      <p:sp>
        <p:nvSpPr>
          <p:cNvPr id="10" name="TextBox 9"/>
          <p:cNvSpPr txBox="1"/>
          <p:nvPr/>
        </p:nvSpPr>
        <p:spPr>
          <a:xfrm>
            <a:off x="9445752" y="1728216"/>
            <a:ext cx="1554480" cy="347472"/>
          </a:xfrm>
          <a:prstGeom prst="rect">
            <a:avLst/>
          </a:prstGeom>
          <a:noFill/>
        </p:spPr>
        <p:txBody>
          <a:bodyPr wrap="square">
            <a:spAutoFit/>
          </a:bodyPr>
          <a:lstStyle/>
          <a:p>
            <a:pPr algn="r"/>
            <a:r>
              <a:rPr sz="1800" b="1" i="0">
                <a:solidFill>
                  <a:srgbClr val="7C3AED"/>
                </a:solidFill>
                <a:latin typeface="Calibri"/>
              </a:rPr>
              <a:t>Aa Bb 123</a:t>
            </a:r>
          </a:p>
        </p:txBody>
      </p:sp>
      <p:sp>
        <p:nvSpPr>
          <p:cNvPr id="11" name="Rectangle 10"/>
          <p:cNvSpPr/>
          <p:nvPr/>
        </p:nvSpPr>
        <p:spPr>
          <a:xfrm>
            <a:off x="731520" y="3154680"/>
            <a:ext cx="10515600" cy="138988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154680"/>
            <a:ext cx="64008" cy="1389888"/>
          </a:xfrm>
          <a:prstGeom prst="rect">
            <a:avLst/>
          </a:prstGeom>
          <a:gradFill rotWithShape="1">
            <a:gsLst>
              <a:gs pos="0">
                <a:srgbClr val="2563EB"/>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82696"/>
            <a:ext cx="10131552" cy="347472"/>
          </a:xfrm>
          <a:prstGeom prst="rect">
            <a:avLst/>
          </a:prstGeom>
          <a:noFill/>
        </p:spPr>
        <p:txBody>
          <a:bodyPr wrap="square">
            <a:spAutoFit/>
          </a:bodyPr>
          <a:lstStyle/>
          <a:p>
            <a:pPr algn="l"/>
            <a:r>
              <a:rPr sz="2000" b="1" i="0">
                <a:solidFill>
                  <a:srgbClr val="0F172A"/>
                </a:solidFill>
                <a:latin typeface="Calibri"/>
              </a:rPr>
              <a:t>Outfit + Outfit</a:t>
            </a:r>
          </a:p>
        </p:txBody>
      </p:sp>
      <p:sp>
        <p:nvSpPr>
          <p:cNvPr id="14" name="TextBox 13"/>
          <p:cNvSpPr txBox="1"/>
          <p:nvPr/>
        </p:nvSpPr>
        <p:spPr>
          <a:xfrm>
            <a:off x="960120" y="3630168"/>
            <a:ext cx="10131552" cy="658368"/>
          </a:xfrm>
          <a:prstGeom prst="rect">
            <a:avLst/>
          </a:prstGeom>
          <a:noFill/>
        </p:spPr>
        <p:txBody>
          <a:bodyPr wrap="square">
            <a:spAutoFit/>
          </a:bodyPr>
          <a:lstStyle/>
          <a:p>
            <a:pPr algn="l"/>
            <a:r>
              <a:rPr sz="1400" b="0" i="0">
                <a:solidFill>
                  <a:srgbClr val="334155"/>
                </a:solidFill>
                <a:latin typeface="Calibri"/>
              </a:rPr>
              <a:t>Dezelfde familie, varieer met weight. Modern en clean, uitstekend voor tech en startup projecten. Simpel en effectief.</a:t>
            </a:r>
          </a:p>
        </p:txBody>
      </p:sp>
      <p:sp>
        <p:nvSpPr>
          <p:cNvPr id="15" name="TextBox 14"/>
          <p:cNvSpPr txBox="1"/>
          <p:nvPr/>
        </p:nvSpPr>
        <p:spPr>
          <a:xfrm>
            <a:off x="9445752" y="3282696"/>
            <a:ext cx="1554480" cy="347472"/>
          </a:xfrm>
          <a:prstGeom prst="rect">
            <a:avLst/>
          </a:prstGeom>
          <a:noFill/>
        </p:spPr>
        <p:txBody>
          <a:bodyPr wrap="square">
            <a:spAutoFit/>
          </a:bodyPr>
          <a:lstStyle/>
          <a:p>
            <a:pPr algn="r"/>
            <a:r>
              <a:rPr sz="1800" b="1" i="0">
                <a:solidFill>
                  <a:srgbClr val="2563EB"/>
                </a:solidFill>
                <a:latin typeface="Calibri"/>
              </a:rPr>
              <a:t>Aa Bb 123</a:t>
            </a:r>
          </a:p>
        </p:txBody>
      </p:sp>
      <p:sp>
        <p:nvSpPr>
          <p:cNvPr id="16" name="Rectangle 15"/>
          <p:cNvSpPr/>
          <p:nvPr/>
        </p:nvSpPr>
        <p:spPr>
          <a:xfrm>
            <a:off x="731520" y="4709160"/>
            <a:ext cx="10515600" cy="1389888"/>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709160"/>
            <a:ext cx="64008" cy="1389888"/>
          </a:xfrm>
          <a:prstGeom prst="rect">
            <a:avLst/>
          </a:prstGeom>
          <a:gradFill rotWithShape="1">
            <a:gsLst>
              <a:gs pos="0">
                <a:srgbClr val="16A34A"/>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837176"/>
            <a:ext cx="10131552" cy="347472"/>
          </a:xfrm>
          <a:prstGeom prst="rect">
            <a:avLst/>
          </a:prstGeom>
          <a:noFill/>
        </p:spPr>
        <p:txBody>
          <a:bodyPr wrap="square">
            <a:spAutoFit/>
          </a:bodyPr>
          <a:lstStyle/>
          <a:p>
            <a:pPr algn="l"/>
            <a:r>
              <a:rPr sz="2000" b="1" i="0">
                <a:solidFill>
                  <a:srgbClr val="0F172A"/>
                </a:solidFill>
                <a:latin typeface="Calibri"/>
              </a:rPr>
              <a:t>Space Grotesk + Source Sans Pro</a:t>
            </a:r>
          </a:p>
        </p:txBody>
      </p:sp>
      <p:sp>
        <p:nvSpPr>
          <p:cNvPr id="19" name="TextBox 18"/>
          <p:cNvSpPr txBox="1"/>
          <p:nvPr/>
        </p:nvSpPr>
        <p:spPr>
          <a:xfrm>
            <a:off x="960120" y="5184648"/>
            <a:ext cx="10131552" cy="658368"/>
          </a:xfrm>
          <a:prstGeom prst="rect">
            <a:avLst/>
          </a:prstGeom>
          <a:noFill/>
        </p:spPr>
        <p:txBody>
          <a:bodyPr wrap="square">
            <a:spAutoFit/>
          </a:bodyPr>
          <a:lstStyle/>
          <a:p>
            <a:pPr algn="l"/>
            <a:r>
              <a:rPr sz="1400" b="0" i="0">
                <a:solidFill>
                  <a:srgbClr val="334155"/>
                </a:solidFill>
                <a:latin typeface="Calibri"/>
              </a:rPr>
              <a:t>Tech en startup gevoel. Beide geometrisch, maar Space Grotesk heeft meer karakter als heading.</a:t>
            </a:r>
          </a:p>
        </p:txBody>
      </p:sp>
      <p:sp>
        <p:nvSpPr>
          <p:cNvPr id="20" name="TextBox 19"/>
          <p:cNvSpPr txBox="1"/>
          <p:nvPr/>
        </p:nvSpPr>
        <p:spPr>
          <a:xfrm>
            <a:off x="9445752" y="4837176"/>
            <a:ext cx="1554480" cy="347472"/>
          </a:xfrm>
          <a:prstGeom prst="rect">
            <a:avLst/>
          </a:prstGeom>
          <a:noFill/>
        </p:spPr>
        <p:txBody>
          <a:bodyPr wrap="square">
            <a:spAutoFit/>
          </a:bodyPr>
          <a:lstStyle/>
          <a:p>
            <a:pPr algn="r"/>
            <a:r>
              <a:rPr sz="1800" b="1" i="0">
                <a:solidFill>
                  <a:srgbClr val="16A34A"/>
                </a:solidFill>
                <a:latin typeface="Calibri"/>
              </a:rPr>
              <a:t>Aa Bb 123</a:t>
            </a:r>
          </a:p>
        </p:txBody>
      </p:sp>
      <p:sp>
        <p:nvSpPr>
          <p:cNvPr id="21" name="TextBox 20"/>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Legibility versus Readability</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Twee verwante maar verschillende kwaliteiten van tekst</a:t>
            </a:r>
          </a:p>
        </p:txBody>
      </p:sp>
      <p:sp>
        <p:nvSpPr>
          <p:cNvPr id="6" name="Rectangle 5"/>
          <p:cNvSpPr/>
          <p:nvPr/>
        </p:nvSpPr>
        <p:spPr>
          <a:xfrm>
            <a:off x="731520" y="1600200"/>
            <a:ext cx="5120640" cy="3566160"/>
          </a:xfrm>
          <a:prstGeom prst="rect">
            <a:avLst/>
          </a:prstGeom>
          <a:solidFill>
            <a:srgbClr val="F8F5FF"/>
          </a:solidFill>
          <a:ln w="9525">
            <a:solidFill>
              <a:srgbClr val="C8B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846320" cy="438912"/>
          </a:xfrm>
          <a:prstGeom prst="rect">
            <a:avLst/>
          </a:prstGeom>
          <a:noFill/>
        </p:spPr>
        <p:txBody>
          <a:bodyPr wrap="square">
            <a:spAutoFit/>
          </a:bodyPr>
          <a:lstStyle/>
          <a:p>
            <a:pPr algn="l"/>
            <a:r>
              <a:rPr sz="2200" b="1" i="0">
                <a:solidFill>
                  <a:srgbClr val="7C3AED"/>
                </a:solidFill>
                <a:latin typeface="Calibri"/>
              </a:rPr>
              <a:t>Legibility</a:t>
            </a:r>
          </a:p>
        </p:txBody>
      </p:sp>
      <p:sp>
        <p:nvSpPr>
          <p:cNvPr id="8" name="TextBox 7"/>
          <p:cNvSpPr txBox="1"/>
          <p:nvPr/>
        </p:nvSpPr>
        <p:spPr>
          <a:xfrm>
            <a:off x="914400" y="2148840"/>
            <a:ext cx="4846320" cy="365760"/>
          </a:xfrm>
          <a:prstGeom prst="rect">
            <a:avLst/>
          </a:prstGeom>
          <a:noFill/>
        </p:spPr>
        <p:txBody>
          <a:bodyPr wrap="square">
            <a:spAutoFit/>
          </a:bodyPr>
          <a:lstStyle/>
          <a:p>
            <a:pPr algn="l"/>
            <a:r>
              <a:rPr sz="1300" b="0" i="1">
                <a:solidFill>
                  <a:srgbClr val="647487"/>
                </a:solidFill>
                <a:latin typeface="Calibri"/>
              </a:rPr>
              <a:t>Herkenbaarheid van individuele letters</a:t>
            </a:r>
          </a:p>
        </p:txBody>
      </p:sp>
      <p:sp>
        <p:nvSpPr>
          <p:cNvPr id="9" name="TextBox 8"/>
          <p:cNvSpPr txBox="1"/>
          <p:nvPr/>
        </p:nvSpPr>
        <p:spPr>
          <a:xfrm>
            <a:off x="822960" y="2514600"/>
            <a:ext cx="4937760" cy="2286000"/>
          </a:xfrm>
          <a:prstGeom prst="rect">
            <a:avLst/>
          </a:prstGeom>
          <a:noFill/>
        </p:spPr>
        <p:txBody>
          <a:bodyPr wrap="square">
            <a:spAutoFit/>
          </a:bodyPr>
          <a:lstStyle/>
          <a:p>
            <a:pPr>
              <a:spcBef>
                <a:spcPts val="600"/>
              </a:spcBef>
            </a:pPr>
            <a:r>
              <a:rPr sz="1500">
                <a:solidFill>
                  <a:srgbClr val="334155"/>
                </a:solidFill>
                <a:latin typeface="Calibri"/>
              </a:rPr>
              <a:t>  •  Contrast tussen lettervormen</a:t>
            </a:r>
          </a:p>
          <a:p>
            <a:pPr>
              <a:spcBef>
                <a:spcPts val="600"/>
              </a:spcBef>
            </a:pPr>
            <a:r>
              <a:rPr sz="1500">
                <a:solidFill>
                  <a:srgbClr val="334155"/>
                </a:solidFill>
                <a:latin typeface="Calibri"/>
              </a:rPr>
              <a:t>  •  Duidelijke lettervormen en tekens</a:t>
            </a:r>
          </a:p>
          <a:p>
            <a:pPr>
              <a:spcBef>
                <a:spcPts val="600"/>
              </a:spcBef>
            </a:pPr>
            <a:r>
              <a:rPr sz="1500">
                <a:solidFill>
                  <a:srgbClr val="334155"/>
                </a:solidFill>
                <a:latin typeface="Calibri"/>
              </a:rPr>
              <a:t>  •  Geschikt voor kleine groottes</a:t>
            </a:r>
          </a:p>
          <a:p>
            <a:pPr>
              <a:spcBef>
                <a:spcPts val="600"/>
              </a:spcBef>
            </a:pPr>
            <a:r>
              <a:rPr sz="1500">
                <a:solidFill>
                  <a:srgbClr val="334155"/>
                </a:solidFill>
                <a:latin typeface="Calibri"/>
              </a:rPr>
              <a:t>  •  Groot impact op toegankelijkheid</a:t>
            </a:r>
          </a:p>
        </p:txBody>
      </p:sp>
      <p:sp>
        <p:nvSpPr>
          <p:cNvPr id="10" name="Rectangle 9"/>
          <p:cNvSpPr/>
          <p:nvPr/>
        </p:nvSpPr>
        <p:spPr>
          <a:xfrm>
            <a:off x="6217920" y="1600200"/>
            <a:ext cx="5120640" cy="3566160"/>
          </a:xfrm>
          <a:prstGeom prst="rect">
            <a:avLst/>
          </a:prstGeom>
          <a:solidFill>
            <a:srgbClr val="F5FCF8"/>
          </a:solidFill>
          <a:ln w="9525">
            <a:solidFill>
              <a:srgbClr val="B4E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438912"/>
          </a:xfrm>
          <a:prstGeom prst="rect">
            <a:avLst/>
          </a:prstGeom>
          <a:noFill/>
        </p:spPr>
        <p:txBody>
          <a:bodyPr wrap="square">
            <a:spAutoFit/>
          </a:bodyPr>
          <a:lstStyle/>
          <a:p>
            <a:pPr algn="l"/>
            <a:r>
              <a:rPr sz="2200" b="1" i="0">
                <a:solidFill>
                  <a:srgbClr val="16A34A"/>
                </a:solidFill>
                <a:latin typeface="Calibri"/>
              </a:rPr>
              <a:t>Readability</a:t>
            </a:r>
          </a:p>
        </p:txBody>
      </p:sp>
      <p:sp>
        <p:nvSpPr>
          <p:cNvPr id="12" name="TextBox 11"/>
          <p:cNvSpPr txBox="1"/>
          <p:nvPr/>
        </p:nvSpPr>
        <p:spPr>
          <a:xfrm>
            <a:off x="6400800" y="2148840"/>
            <a:ext cx="4846320" cy="365760"/>
          </a:xfrm>
          <a:prstGeom prst="rect">
            <a:avLst/>
          </a:prstGeom>
          <a:noFill/>
        </p:spPr>
        <p:txBody>
          <a:bodyPr wrap="square">
            <a:spAutoFit/>
          </a:bodyPr>
          <a:lstStyle/>
          <a:p>
            <a:pPr algn="l"/>
            <a:r>
              <a:rPr sz="1300" b="0" i="1">
                <a:solidFill>
                  <a:srgbClr val="647487"/>
                </a:solidFill>
                <a:latin typeface="Calibri"/>
              </a:rPr>
              <a:t>Leesbaarheid van langere tekst</a:t>
            </a:r>
          </a:p>
        </p:txBody>
      </p:sp>
      <p:sp>
        <p:nvSpPr>
          <p:cNvPr id="13" name="TextBox 12"/>
          <p:cNvSpPr txBox="1"/>
          <p:nvPr/>
        </p:nvSpPr>
        <p:spPr>
          <a:xfrm>
            <a:off x="6309360" y="2514600"/>
            <a:ext cx="4937760" cy="2286000"/>
          </a:xfrm>
          <a:prstGeom prst="rect">
            <a:avLst/>
          </a:prstGeom>
          <a:noFill/>
        </p:spPr>
        <p:txBody>
          <a:bodyPr wrap="square">
            <a:spAutoFit/>
          </a:bodyPr>
          <a:lstStyle/>
          <a:p>
            <a:pPr>
              <a:spcBef>
                <a:spcPts val="600"/>
              </a:spcBef>
            </a:pPr>
            <a:r>
              <a:rPr sz="1500">
                <a:solidFill>
                  <a:srgbClr val="334155"/>
                </a:solidFill>
                <a:latin typeface="Calibri"/>
              </a:rPr>
              <a:t>  •  Line-height en letter-spacing</a:t>
            </a:r>
          </a:p>
          <a:p>
            <a:pPr>
              <a:spcBef>
                <a:spcPts val="600"/>
              </a:spcBef>
            </a:pPr>
            <a:r>
              <a:rPr sz="1500">
                <a:solidFill>
                  <a:srgbClr val="334155"/>
                </a:solidFill>
                <a:latin typeface="Calibri"/>
              </a:rPr>
              <a:t>  •  Regellengte en kolombreedte</a:t>
            </a:r>
          </a:p>
          <a:p>
            <a:pPr>
              <a:spcBef>
                <a:spcPts val="600"/>
              </a:spcBef>
            </a:pPr>
            <a:r>
              <a:rPr sz="1500">
                <a:solidFill>
                  <a:srgbClr val="334155"/>
                </a:solidFill>
                <a:latin typeface="Calibri"/>
              </a:rPr>
              <a:t>  •  Contrast met de achtergrond</a:t>
            </a:r>
          </a:p>
          <a:p>
            <a:pPr>
              <a:spcBef>
                <a:spcPts val="600"/>
              </a:spcBef>
            </a:pPr>
            <a:r>
              <a:rPr sz="1500">
                <a:solidFill>
                  <a:srgbClr val="334155"/>
                </a:solidFill>
                <a:latin typeface="Calibri"/>
              </a:rPr>
              <a:t>  •  Lettergrootte in context</a:t>
            </a:r>
          </a:p>
        </p:txBody>
      </p:sp>
      <p:sp>
        <p:nvSpPr>
          <p:cNvPr id="14" name="Rectangle 13"/>
          <p:cNvSpPr/>
          <p:nvPr/>
        </p:nvSpPr>
        <p:spPr>
          <a:xfrm>
            <a:off x="731520" y="5349240"/>
            <a:ext cx="10698480" cy="123444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349240"/>
            <a:ext cx="64008" cy="123444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477256"/>
            <a:ext cx="10314432" cy="548640"/>
          </a:xfrm>
          <a:prstGeom prst="rect">
            <a:avLst/>
          </a:prstGeom>
          <a:noFill/>
        </p:spPr>
        <p:txBody>
          <a:bodyPr wrap="square">
            <a:spAutoFit/>
          </a:bodyPr>
          <a:lstStyle/>
          <a:p>
            <a:pPr algn="l"/>
            <a:r>
              <a:rPr sz="1400" b="0" i="1">
                <a:solidFill>
                  <a:srgbClr val="0F172A"/>
                </a:solidFill>
                <a:latin typeface="Calibri"/>
              </a:rPr>
              <a:t>"Legibility is a quality of the type. Readability is a quality of the typographic arrangement."</a:t>
            </a:r>
          </a:p>
        </p:txBody>
      </p:sp>
      <p:sp>
        <p:nvSpPr>
          <p:cNvPr id="17" name="TextBox 16"/>
          <p:cNvSpPr txBox="1"/>
          <p:nvPr/>
        </p:nvSpPr>
        <p:spPr>
          <a:xfrm>
            <a:off x="960120" y="6025896"/>
            <a:ext cx="10314432" cy="365760"/>
          </a:xfrm>
          <a:prstGeom prst="rect">
            <a:avLst/>
          </a:prstGeom>
          <a:noFill/>
        </p:spPr>
        <p:txBody>
          <a:bodyPr wrap="square">
            <a:spAutoFit/>
          </a:bodyPr>
          <a:lstStyle/>
          <a:p>
            <a:pPr algn="l"/>
            <a:r>
              <a:rPr sz="1300" b="0" i="0">
                <a:solidFill>
                  <a:srgbClr val="647487"/>
                </a:solidFill>
                <a:latin typeface="Calibri"/>
              </a:rPr>
              <a:t>Walter Tracy</a:t>
            </a:r>
          </a:p>
        </p:txBody>
      </p:sp>
      <p:sp>
        <p:nvSpPr>
          <p:cNvPr id="18" name="TextBox 17"/>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201168" cy="685800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Figma: tekststijlen instellen</a:t>
            </a:r>
          </a:p>
        </p:txBody>
      </p:sp>
      <p:sp>
        <p:nvSpPr>
          <p:cNvPr id="5" name="Rectangle 4"/>
          <p:cNvSpPr/>
          <p:nvPr/>
        </p:nvSpPr>
        <p:spPr>
          <a:xfrm>
            <a:off x="914400" y="1298448"/>
            <a:ext cx="182880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32720" cy="384048"/>
          </a:xfrm>
          <a:prstGeom prst="rect">
            <a:avLst/>
          </a:prstGeom>
          <a:noFill/>
        </p:spPr>
        <p:txBody>
          <a:bodyPr wrap="square">
            <a:spAutoFit/>
          </a:bodyPr>
          <a:lstStyle/>
          <a:p>
            <a:pPr algn="l"/>
            <a:r>
              <a:rPr sz="1500" b="0" i="1">
                <a:solidFill>
                  <a:srgbClr val="C8C8F0"/>
                </a:solidFill>
                <a:latin typeface="Calibri"/>
              </a:rPr>
              <a:t>Eenmalig aanmaken, overal hergebruiken</a:t>
            </a:r>
          </a:p>
        </p:txBody>
      </p:sp>
      <p:sp>
        <p:nvSpPr>
          <p:cNvPr id="7" name="Oval 6"/>
          <p:cNvSpPr/>
          <p:nvPr/>
        </p:nvSpPr>
        <p:spPr>
          <a:xfrm>
            <a:off x="996696" y="1837943"/>
            <a:ext cx="475488" cy="47548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929383"/>
            <a:ext cx="320040" cy="329184"/>
          </a:xfrm>
          <a:prstGeom prst="rect">
            <a:avLst/>
          </a:prstGeom>
          <a:noFill/>
        </p:spPr>
        <p:txBody>
          <a:bodyPr wrap="square">
            <a:spAutoFit/>
          </a:bodyPr>
          <a:lstStyle/>
          <a:p>
            <a:pPr algn="ctr"/>
            <a:r>
              <a:rPr sz="1300" b="1" i="0">
                <a:solidFill>
                  <a:srgbClr val="FFFFFF"/>
                </a:solidFill>
                <a:latin typeface="Calibri"/>
              </a:rPr>
              <a:t>1</a:t>
            </a:r>
          </a:p>
        </p:txBody>
      </p:sp>
      <p:sp>
        <p:nvSpPr>
          <p:cNvPr id="9" name="TextBox 8"/>
          <p:cNvSpPr txBox="1"/>
          <p:nvPr/>
        </p:nvSpPr>
        <p:spPr>
          <a:xfrm>
            <a:off x="1600200" y="1874519"/>
            <a:ext cx="9601200" cy="402336"/>
          </a:xfrm>
          <a:prstGeom prst="rect">
            <a:avLst/>
          </a:prstGeom>
          <a:noFill/>
        </p:spPr>
        <p:txBody>
          <a:bodyPr wrap="square">
            <a:spAutoFit/>
          </a:bodyPr>
          <a:lstStyle/>
          <a:p>
            <a:pPr algn="l"/>
            <a:r>
              <a:rPr sz="1600" b="0" i="0">
                <a:solidFill>
                  <a:srgbClr val="DCDCFF"/>
                </a:solidFill>
                <a:latin typeface="Calibri"/>
              </a:rPr>
              <a:t>Selecteer een tekstelement met de juiste instellingen in je Figma frame</a:t>
            </a:r>
          </a:p>
        </p:txBody>
      </p:sp>
      <p:sp>
        <p:nvSpPr>
          <p:cNvPr id="10" name="Oval 9"/>
          <p:cNvSpPr/>
          <p:nvPr/>
        </p:nvSpPr>
        <p:spPr>
          <a:xfrm>
            <a:off x="996696" y="2606039"/>
            <a:ext cx="475488" cy="47548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2697479"/>
            <a:ext cx="320040" cy="329184"/>
          </a:xfrm>
          <a:prstGeom prst="rect">
            <a:avLst/>
          </a:prstGeom>
          <a:noFill/>
        </p:spPr>
        <p:txBody>
          <a:bodyPr wrap="square">
            <a:spAutoFit/>
          </a:bodyPr>
          <a:lstStyle/>
          <a:p>
            <a:pPr algn="ctr"/>
            <a:r>
              <a:rPr sz="1300" b="1" i="0">
                <a:solidFill>
                  <a:srgbClr val="FFFFFF"/>
                </a:solidFill>
                <a:latin typeface="Calibri"/>
              </a:rPr>
              <a:t>2</a:t>
            </a:r>
          </a:p>
        </p:txBody>
      </p:sp>
      <p:sp>
        <p:nvSpPr>
          <p:cNvPr id="12" name="TextBox 11"/>
          <p:cNvSpPr txBox="1"/>
          <p:nvPr/>
        </p:nvSpPr>
        <p:spPr>
          <a:xfrm>
            <a:off x="1600200" y="2642615"/>
            <a:ext cx="9601200" cy="402336"/>
          </a:xfrm>
          <a:prstGeom prst="rect">
            <a:avLst/>
          </a:prstGeom>
          <a:noFill/>
        </p:spPr>
        <p:txBody>
          <a:bodyPr wrap="square">
            <a:spAutoFit/>
          </a:bodyPr>
          <a:lstStyle/>
          <a:p>
            <a:pPr algn="l"/>
            <a:r>
              <a:rPr sz="1600" b="0" i="0">
                <a:solidFill>
                  <a:srgbClr val="DCDCFF"/>
                </a:solidFill>
                <a:latin typeface="Calibri"/>
              </a:rPr>
              <a:t>Klik rechtsboven op de vier puntjes naast het tekstveld in het properties panel</a:t>
            </a:r>
          </a:p>
        </p:txBody>
      </p:sp>
      <p:sp>
        <p:nvSpPr>
          <p:cNvPr id="13" name="Oval 12"/>
          <p:cNvSpPr/>
          <p:nvPr/>
        </p:nvSpPr>
        <p:spPr>
          <a:xfrm>
            <a:off x="996696" y="3374135"/>
            <a:ext cx="475488" cy="475488"/>
          </a:xfrm>
          <a:prstGeom prst="ellipse">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465575"/>
            <a:ext cx="320040" cy="329184"/>
          </a:xfrm>
          <a:prstGeom prst="rect">
            <a:avLst/>
          </a:prstGeom>
          <a:noFill/>
        </p:spPr>
        <p:txBody>
          <a:bodyPr wrap="square">
            <a:spAutoFit/>
          </a:bodyPr>
          <a:lstStyle/>
          <a:p>
            <a:pPr algn="ctr"/>
            <a:r>
              <a:rPr sz="1300" b="1" i="0">
                <a:solidFill>
                  <a:srgbClr val="FFFFFF"/>
                </a:solidFill>
                <a:latin typeface="Calibri"/>
              </a:rPr>
              <a:t>3</a:t>
            </a:r>
          </a:p>
        </p:txBody>
      </p:sp>
      <p:sp>
        <p:nvSpPr>
          <p:cNvPr id="15" name="TextBox 14"/>
          <p:cNvSpPr txBox="1"/>
          <p:nvPr/>
        </p:nvSpPr>
        <p:spPr>
          <a:xfrm>
            <a:off x="1600200" y="3410711"/>
            <a:ext cx="9601200" cy="402336"/>
          </a:xfrm>
          <a:prstGeom prst="rect">
            <a:avLst/>
          </a:prstGeom>
          <a:noFill/>
        </p:spPr>
        <p:txBody>
          <a:bodyPr wrap="square">
            <a:spAutoFit/>
          </a:bodyPr>
          <a:lstStyle/>
          <a:p>
            <a:pPr algn="l"/>
            <a:r>
              <a:rPr sz="1600" b="0" i="0">
                <a:solidFill>
                  <a:srgbClr val="DCDCFF"/>
                </a:solidFill>
                <a:latin typeface="Calibri"/>
              </a:rPr>
              <a:t>Kies 'Create style' en geef het een naam zoals 'heading/h1'</a:t>
            </a:r>
          </a:p>
        </p:txBody>
      </p:sp>
      <p:sp>
        <p:nvSpPr>
          <p:cNvPr id="16" name="Oval 15"/>
          <p:cNvSpPr/>
          <p:nvPr/>
        </p:nvSpPr>
        <p:spPr>
          <a:xfrm>
            <a:off x="996696" y="4142231"/>
            <a:ext cx="475488" cy="47548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233671"/>
            <a:ext cx="320040" cy="329184"/>
          </a:xfrm>
          <a:prstGeom prst="rect">
            <a:avLst/>
          </a:prstGeom>
          <a:noFill/>
        </p:spPr>
        <p:txBody>
          <a:bodyPr wrap="square">
            <a:spAutoFit/>
          </a:bodyPr>
          <a:lstStyle/>
          <a:p>
            <a:pPr algn="ctr"/>
            <a:r>
              <a:rPr sz="1300" b="1" i="0">
                <a:solidFill>
                  <a:srgbClr val="FFFFFF"/>
                </a:solidFill>
                <a:latin typeface="Calibri"/>
              </a:rPr>
              <a:t>4</a:t>
            </a:r>
          </a:p>
        </p:txBody>
      </p:sp>
      <p:sp>
        <p:nvSpPr>
          <p:cNvPr id="18" name="TextBox 17"/>
          <p:cNvSpPr txBox="1"/>
          <p:nvPr/>
        </p:nvSpPr>
        <p:spPr>
          <a:xfrm>
            <a:off x="1600200" y="4178807"/>
            <a:ext cx="9601200" cy="402336"/>
          </a:xfrm>
          <a:prstGeom prst="rect">
            <a:avLst/>
          </a:prstGeom>
          <a:noFill/>
        </p:spPr>
        <p:txBody>
          <a:bodyPr wrap="square">
            <a:spAutoFit/>
          </a:bodyPr>
          <a:lstStyle/>
          <a:p>
            <a:pPr algn="l"/>
            <a:r>
              <a:rPr sz="1600" b="0" i="0">
                <a:solidFill>
                  <a:srgbClr val="DCDCFF"/>
                </a:solidFill>
                <a:latin typeface="Calibri"/>
              </a:rPr>
              <a:t>Gebruik schuine strepen voor groepering: 'body/regular' en 'body/bold'</a:t>
            </a:r>
          </a:p>
        </p:txBody>
      </p:sp>
      <p:sp>
        <p:nvSpPr>
          <p:cNvPr id="19" name="Oval 18"/>
          <p:cNvSpPr/>
          <p:nvPr/>
        </p:nvSpPr>
        <p:spPr>
          <a:xfrm>
            <a:off x="996696" y="4910327"/>
            <a:ext cx="475488" cy="47548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5001767"/>
            <a:ext cx="320040" cy="329184"/>
          </a:xfrm>
          <a:prstGeom prst="rect">
            <a:avLst/>
          </a:prstGeom>
          <a:noFill/>
        </p:spPr>
        <p:txBody>
          <a:bodyPr wrap="square">
            <a:spAutoFit/>
          </a:bodyPr>
          <a:lstStyle/>
          <a:p>
            <a:pPr algn="ctr"/>
            <a:r>
              <a:rPr sz="1300" b="1" i="0">
                <a:solidFill>
                  <a:srgbClr val="FFFFFF"/>
                </a:solidFill>
                <a:latin typeface="Calibri"/>
              </a:rPr>
              <a:t>5</a:t>
            </a:r>
          </a:p>
        </p:txBody>
      </p:sp>
      <p:sp>
        <p:nvSpPr>
          <p:cNvPr id="21" name="TextBox 20"/>
          <p:cNvSpPr txBox="1"/>
          <p:nvPr/>
        </p:nvSpPr>
        <p:spPr>
          <a:xfrm>
            <a:off x="1600200" y="4946903"/>
            <a:ext cx="9601200" cy="402336"/>
          </a:xfrm>
          <a:prstGeom prst="rect">
            <a:avLst/>
          </a:prstGeom>
          <a:noFill/>
        </p:spPr>
        <p:txBody>
          <a:bodyPr wrap="square">
            <a:spAutoFit/>
          </a:bodyPr>
          <a:lstStyle/>
          <a:p>
            <a:pPr algn="l"/>
            <a:r>
              <a:rPr sz="1600" b="0" i="0">
                <a:solidFill>
                  <a:srgbClr val="DCDCFF"/>
                </a:solidFill>
                <a:latin typeface="Calibri"/>
              </a:rPr>
              <a:t>Hergebruik stijlen via het stijlenpanel door op het icoon te klikken</a:t>
            </a:r>
          </a:p>
        </p:txBody>
      </p:sp>
      <p:sp>
        <p:nvSpPr>
          <p:cNvPr id="22" name="Rectangle 21"/>
          <p:cNvSpPr/>
          <p:nvPr/>
        </p:nvSpPr>
        <p:spPr>
          <a:xfrm>
            <a:off x="822960" y="5989320"/>
            <a:ext cx="10515600" cy="658368"/>
          </a:xfrm>
          <a:prstGeom prst="rect">
            <a:avLst/>
          </a:prstGeom>
          <a:solidFill>
            <a:srgbClr val="142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5989320"/>
            <a:ext cx="64008" cy="658368"/>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6080760"/>
            <a:ext cx="10058400" cy="502920"/>
          </a:xfrm>
          <a:prstGeom prst="rect">
            <a:avLst/>
          </a:prstGeom>
          <a:noFill/>
        </p:spPr>
        <p:txBody>
          <a:bodyPr wrap="square">
            <a:spAutoFit/>
          </a:bodyPr>
          <a:lstStyle/>
          <a:p>
            <a:pPr algn="l"/>
            <a:r>
              <a:rPr sz="1400" b="0" i="0">
                <a:solidFill>
                  <a:srgbClr val="C8D2FF"/>
                </a:solidFill>
                <a:latin typeface="Calibri"/>
              </a:rPr>
              <a:t>Maak minimaal: H1, H2, H3, body, body-small, label, caption. Dit dekt 90% van de webdesign behoeften.</a:t>
            </a:r>
          </a:p>
        </p:txBody>
      </p:sp>
      <p:sp>
        <p:nvSpPr>
          <p:cNvPr id="25" name="TextBox 24"/>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Type system in het project</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Overzicht van de aanbevolen tekststijlen</a:t>
            </a:r>
          </a:p>
        </p:txBody>
      </p:sp>
      <p:sp>
        <p:nvSpPr>
          <p:cNvPr id="6" name="Rectangle 5"/>
          <p:cNvSpPr/>
          <p:nvPr/>
        </p:nvSpPr>
        <p:spPr>
          <a:xfrm>
            <a:off x="914400" y="1691640"/>
            <a:ext cx="338328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55648"/>
            <a:ext cx="3383280" cy="393192"/>
          </a:xfrm>
          <a:prstGeom prst="rect">
            <a:avLst/>
          </a:prstGeom>
          <a:noFill/>
        </p:spPr>
        <p:txBody>
          <a:bodyPr wrap="square">
            <a:spAutoFit/>
          </a:bodyPr>
          <a:lstStyle/>
          <a:p>
            <a:pPr algn="ctr"/>
            <a:r>
              <a:rPr sz="2000" b="1" i="0">
                <a:solidFill>
                  <a:srgbClr val="FFFFFF"/>
                </a:solidFill>
                <a:latin typeface="Calibri"/>
              </a:rPr>
              <a:t>Stijlnaam</a:t>
            </a:r>
          </a:p>
        </p:txBody>
      </p:sp>
      <p:sp>
        <p:nvSpPr>
          <p:cNvPr id="8" name="Rectangle 7"/>
          <p:cNvSpPr/>
          <p:nvPr/>
        </p:nvSpPr>
        <p:spPr>
          <a:xfrm>
            <a:off x="4297680" y="1691640"/>
            <a:ext cx="3383280"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755648"/>
            <a:ext cx="3383280" cy="393192"/>
          </a:xfrm>
          <a:prstGeom prst="rect">
            <a:avLst/>
          </a:prstGeom>
          <a:noFill/>
        </p:spPr>
        <p:txBody>
          <a:bodyPr wrap="square">
            <a:spAutoFit/>
          </a:bodyPr>
          <a:lstStyle/>
          <a:p>
            <a:pPr algn="ctr"/>
            <a:r>
              <a:rPr sz="2000" b="1" i="0">
                <a:solidFill>
                  <a:srgbClr val="FFFFFF"/>
                </a:solidFill>
                <a:latin typeface="Calibri"/>
              </a:rPr>
              <a:t>Instellingen</a:t>
            </a:r>
          </a:p>
        </p:txBody>
      </p:sp>
      <p:sp>
        <p:nvSpPr>
          <p:cNvPr id="10" name="Rectangle 9"/>
          <p:cNvSpPr/>
          <p:nvPr/>
        </p:nvSpPr>
        <p:spPr>
          <a:xfrm>
            <a:off x="7680960" y="1691640"/>
            <a:ext cx="3383280"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1755648"/>
            <a:ext cx="3383280" cy="393192"/>
          </a:xfrm>
          <a:prstGeom prst="rect">
            <a:avLst/>
          </a:prstGeom>
          <a:noFill/>
        </p:spPr>
        <p:txBody>
          <a:bodyPr wrap="square">
            <a:spAutoFit/>
          </a:bodyPr>
          <a:lstStyle/>
          <a:p>
            <a:pPr algn="ctr"/>
            <a:r>
              <a:rPr sz="2000" b="1" i="0">
                <a:solidFill>
                  <a:srgbClr val="FFFFFF"/>
                </a:solidFill>
                <a:latin typeface="Calibri"/>
              </a:rPr>
              <a:t>Gebruik</a:t>
            </a:r>
          </a:p>
        </p:txBody>
      </p:sp>
      <p:sp>
        <p:nvSpPr>
          <p:cNvPr id="12" name="Rectangle 11"/>
          <p:cNvSpPr/>
          <p:nvPr/>
        </p:nvSpPr>
        <p:spPr>
          <a:xfrm>
            <a:off x="914400" y="2148840"/>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2148840"/>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148840"/>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240280"/>
            <a:ext cx="3200400" cy="566928"/>
          </a:xfrm>
          <a:prstGeom prst="rect">
            <a:avLst/>
          </a:prstGeom>
          <a:noFill/>
        </p:spPr>
        <p:txBody>
          <a:bodyPr wrap="square">
            <a:spAutoFit/>
          </a:bodyPr>
          <a:lstStyle/>
          <a:p>
            <a:pPr algn="l"/>
            <a:r>
              <a:rPr sz="1300" b="1" i="0">
                <a:solidFill>
                  <a:srgbClr val="0F172A"/>
                </a:solidFill>
                <a:latin typeface="Calibri"/>
              </a:rPr>
              <a:t>heading/h1</a:t>
            </a:r>
          </a:p>
        </p:txBody>
      </p:sp>
      <p:sp>
        <p:nvSpPr>
          <p:cNvPr id="16" name="TextBox 15"/>
          <p:cNvSpPr txBox="1"/>
          <p:nvPr/>
        </p:nvSpPr>
        <p:spPr>
          <a:xfrm>
            <a:off x="4434840" y="2240280"/>
            <a:ext cx="3200400" cy="566928"/>
          </a:xfrm>
          <a:prstGeom prst="rect">
            <a:avLst/>
          </a:prstGeom>
          <a:noFill/>
        </p:spPr>
        <p:txBody>
          <a:bodyPr wrap="square">
            <a:spAutoFit/>
          </a:bodyPr>
          <a:lstStyle/>
          <a:p>
            <a:pPr algn="l"/>
            <a:r>
              <a:rPr sz="1300" b="0" i="0">
                <a:solidFill>
                  <a:srgbClr val="334155"/>
                </a:solidFill>
                <a:latin typeface="Calibri"/>
              </a:rPr>
              <a:t>48px Bold, line-height 1.2</a:t>
            </a:r>
          </a:p>
        </p:txBody>
      </p:sp>
      <p:sp>
        <p:nvSpPr>
          <p:cNvPr id="17" name="TextBox 16"/>
          <p:cNvSpPr txBox="1"/>
          <p:nvPr/>
        </p:nvSpPr>
        <p:spPr>
          <a:xfrm>
            <a:off x="7818120" y="2240280"/>
            <a:ext cx="3200400" cy="566928"/>
          </a:xfrm>
          <a:prstGeom prst="rect">
            <a:avLst/>
          </a:prstGeom>
          <a:noFill/>
        </p:spPr>
        <p:txBody>
          <a:bodyPr wrap="square">
            <a:spAutoFit/>
          </a:bodyPr>
          <a:lstStyle/>
          <a:p>
            <a:pPr algn="l"/>
            <a:r>
              <a:rPr sz="1300" b="0" i="0">
                <a:solidFill>
                  <a:srgbClr val="334155"/>
                </a:solidFill>
                <a:latin typeface="Calibri"/>
              </a:rPr>
              <a:t>Hero en paginatitels</a:t>
            </a:r>
          </a:p>
        </p:txBody>
      </p:sp>
      <p:sp>
        <p:nvSpPr>
          <p:cNvPr id="18" name="Rectangle 17"/>
          <p:cNvSpPr/>
          <p:nvPr/>
        </p:nvSpPr>
        <p:spPr>
          <a:xfrm>
            <a:off x="914400" y="2898648"/>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2898648"/>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2898648"/>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990088"/>
            <a:ext cx="3200400" cy="566928"/>
          </a:xfrm>
          <a:prstGeom prst="rect">
            <a:avLst/>
          </a:prstGeom>
          <a:noFill/>
        </p:spPr>
        <p:txBody>
          <a:bodyPr wrap="square">
            <a:spAutoFit/>
          </a:bodyPr>
          <a:lstStyle/>
          <a:p>
            <a:pPr algn="l"/>
            <a:r>
              <a:rPr sz="1300" b="1" i="0">
                <a:solidFill>
                  <a:srgbClr val="0F172A"/>
                </a:solidFill>
                <a:latin typeface="Calibri"/>
              </a:rPr>
              <a:t>heading/h2</a:t>
            </a:r>
          </a:p>
        </p:txBody>
      </p:sp>
      <p:sp>
        <p:nvSpPr>
          <p:cNvPr id="22" name="TextBox 21"/>
          <p:cNvSpPr txBox="1"/>
          <p:nvPr/>
        </p:nvSpPr>
        <p:spPr>
          <a:xfrm>
            <a:off x="4434840" y="2990088"/>
            <a:ext cx="3200400" cy="566928"/>
          </a:xfrm>
          <a:prstGeom prst="rect">
            <a:avLst/>
          </a:prstGeom>
          <a:noFill/>
        </p:spPr>
        <p:txBody>
          <a:bodyPr wrap="square">
            <a:spAutoFit/>
          </a:bodyPr>
          <a:lstStyle/>
          <a:p>
            <a:pPr algn="l"/>
            <a:r>
              <a:rPr sz="1300" b="0" i="0">
                <a:solidFill>
                  <a:srgbClr val="334155"/>
                </a:solidFill>
                <a:latin typeface="Calibri"/>
              </a:rPr>
              <a:t>36px Bold, line-height 1.25</a:t>
            </a:r>
          </a:p>
        </p:txBody>
      </p:sp>
      <p:sp>
        <p:nvSpPr>
          <p:cNvPr id="23" name="TextBox 22"/>
          <p:cNvSpPr txBox="1"/>
          <p:nvPr/>
        </p:nvSpPr>
        <p:spPr>
          <a:xfrm>
            <a:off x="7818120" y="2990088"/>
            <a:ext cx="3200400" cy="566928"/>
          </a:xfrm>
          <a:prstGeom prst="rect">
            <a:avLst/>
          </a:prstGeom>
          <a:noFill/>
        </p:spPr>
        <p:txBody>
          <a:bodyPr wrap="square">
            <a:spAutoFit/>
          </a:bodyPr>
          <a:lstStyle/>
          <a:p>
            <a:pPr algn="l"/>
            <a:r>
              <a:rPr sz="1300" b="0" i="0">
                <a:solidFill>
                  <a:srgbClr val="334155"/>
                </a:solidFill>
                <a:latin typeface="Calibri"/>
              </a:rPr>
              <a:t>Sectietitels</a:t>
            </a:r>
          </a:p>
        </p:txBody>
      </p:sp>
      <p:sp>
        <p:nvSpPr>
          <p:cNvPr id="24" name="Rectangle 23"/>
          <p:cNvSpPr/>
          <p:nvPr/>
        </p:nvSpPr>
        <p:spPr>
          <a:xfrm>
            <a:off x="914400" y="3648456"/>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3648456"/>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60" y="3648456"/>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3739896"/>
            <a:ext cx="3200400" cy="566928"/>
          </a:xfrm>
          <a:prstGeom prst="rect">
            <a:avLst/>
          </a:prstGeom>
          <a:noFill/>
        </p:spPr>
        <p:txBody>
          <a:bodyPr wrap="square">
            <a:spAutoFit/>
          </a:bodyPr>
          <a:lstStyle/>
          <a:p>
            <a:pPr algn="l"/>
            <a:r>
              <a:rPr sz="1300" b="1" i="0">
                <a:solidFill>
                  <a:srgbClr val="0F172A"/>
                </a:solidFill>
                <a:latin typeface="Calibri"/>
              </a:rPr>
              <a:t>heading/h3</a:t>
            </a:r>
          </a:p>
        </p:txBody>
      </p:sp>
      <p:sp>
        <p:nvSpPr>
          <p:cNvPr id="28" name="TextBox 27"/>
          <p:cNvSpPr txBox="1"/>
          <p:nvPr/>
        </p:nvSpPr>
        <p:spPr>
          <a:xfrm>
            <a:off x="4434840" y="3739896"/>
            <a:ext cx="3200400" cy="566928"/>
          </a:xfrm>
          <a:prstGeom prst="rect">
            <a:avLst/>
          </a:prstGeom>
          <a:noFill/>
        </p:spPr>
        <p:txBody>
          <a:bodyPr wrap="square">
            <a:spAutoFit/>
          </a:bodyPr>
          <a:lstStyle/>
          <a:p>
            <a:pPr algn="l"/>
            <a:r>
              <a:rPr sz="1300" b="0" i="0">
                <a:solidFill>
                  <a:srgbClr val="334155"/>
                </a:solidFill>
                <a:latin typeface="Calibri"/>
              </a:rPr>
              <a:t>24px SemiBold, line-height 1.3</a:t>
            </a:r>
          </a:p>
        </p:txBody>
      </p:sp>
      <p:sp>
        <p:nvSpPr>
          <p:cNvPr id="29" name="TextBox 28"/>
          <p:cNvSpPr txBox="1"/>
          <p:nvPr/>
        </p:nvSpPr>
        <p:spPr>
          <a:xfrm>
            <a:off x="7818120" y="3739896"/>
            <a:ext cx="3200400" cy="566928"/>
          </a:xfrm>
          <a:prstGeom prst="rect">
            <a:avLst/>
          </a:prstGeom>
          <a:noFill/>
        </p:spPr>
        <p:txBody>
          <a:bodyPr wrap="square">
            <a:spAutoFit/>
          </a:bodyPr>
          <a:lstStyle/>
          <a:p>
            <a:pPr algn="l"/>
            <a:r>
              <a:rPr sz="1300" b="0" i="0">
                <a:solidFill>
                  <a:srgbClr val="334155"/>
                </a:solidFill>
                <a:latin typeface="Calibri"/>
              </a:rPr>
              <a:t>Kaart- en componenttitels</a:t>
            </a:r>
          </a:p>
        </p:txBody>
      </p:sp>
      <p:sp>
        <p:nvSpPr>
          <p:cNvPr id="30" name="Rectangle 29"/>
          <p:cNvSpPr/>
          <p:nvPr/>
        </p:nvSpPr>
        <p:spPr>
          <a:xfrm>
            <a:off x="914400" y="4398264"/>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80" y="4398264"/>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80960" y="4398264"/>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489704"/>
            <a:ext cx="3200400" cy="566928"/>
          </a:xfrm>
          <a:prstGeom prst="rect">
            <a:avLst/>
          </a:prstGeom>
          <a:noFill/>
        </p:spPr>
        <p:txBody>
          <a:bodyPr wrap="square">
            <a:spAutoFit/>
          </a:bodyPr>
          <a:lstStyle/>
          <a:p>
            <a:pPr algn="l"/>
            <a:r>
              <a:rPr sz="1300" b="1" i="0">
                <a:solidFill>
                  <a:srgbClr val="0F172A"/>
                </a:solidFill>
                <a:latin typeface="Calibri"/>
              </a:rPr>
              <a:t>body/regular</a:t>
            </a:r>
          </a:p>
        </p:txBody>
      </p:sp>
      <p:sp>
        <p:nvSpPr>
          <p:cNvPr id="34" name="TextBox 33"/>
          <p:cNvSpPr txBox="1"/>
          <p:nvPr/>
        </p:nvSpPr>
        <p:spPr>
          <a:xfrm>
            <a:off x="4434840" y="4489704"/>
            <a:ext cx="3200400" cy="566928"/>
          </a:xfrm>
          <a:prstGeom prst="rect">
            <a:avLst/>
          </a:prstGeom>
          <a:noFill/>
        </p:spPr>
        <p:txBody>
          <a:bodyPr wrap="square">
            <a:spAutoFit/>
          </a:bodyPr>
          <a:lstStyle/>
          <a:p>
            <a:pPr algn="l"/>
            <a:r>
              <a:rPr sz="1300" b="0" i="0">
                <a:solidFill>
                  <a:srgbClr val="334155"/>
                </a:solidFill>
                <a:latin typeface="Calibri"/>
              </a:rPr>
              <a:t>16px Regular, line-height 1.6</a:t>
            </a:r>
          </a:p>
        </p:txBody>
      </p:sp>
      <p:sp>
        <p:nvSpPr>
          <p:cNvPr id="35" name="TextBox 34"/>
          <p:cNvSpPr txBox="1"/>
          <p:nvPr/>
        </p:nvSpPr>
        <p:spPr>
          <a:xfrm>
            <a:off x="7818120" y="4489704"/>
            <a:ext cx="3200400" cy="566928"/>
          </a:xfrm>
          <a:prstGeom prst="rect">
            <a:avLst/>
          </a:prstGeom>
          <a:noFill/>
        </p:spPr>
        <p:txBody>
          <a:bodyPr wrap="square">
            <a:spAutoFit/>
          </a:bodyPr>
          <a:lstStyle/>
          <a:p>
            <a:pPr algn="l"/>
            <a:r>
              <a:rPr sz="1300" b="0" i="0">
                <a:solidFill>
                  <a:srgbClr val="334155"/>
                </a:solidFill>
                <a:latin typeface="Calibri"/>
              </a:rPr>
              <a:t>Beschrijvingen en paragrafen</a:t>
            </a:r>
          </a:p>
        </p:txBody>
      </p:sp>
      <p:sp>
        <p:nvSpPr>
          <p:cNvPr id="36" name="Rectangle 35"/>
          <p:cNvSpPr/>
          <p:nvPr/>
        </p:nvSpPr>
        <p:spPr>
          <a:xfrm>
            <a:off x="914400" y="5148072"/>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7680" y="5148072"/>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680960" y="5148072"/>
            <a:ext cx="3383280" cy="749808"/>
          </a:xfrm>
          <a:prstGeom prst="rect">
            <a:avLst/>
          </a:prstGeom>
          <a:solidFill>
            <a:srgbClr val="F8FAFC"/>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239512"/>
            <a:ext cx="3200400" cy="566928"/>
          </a:xfrm>
          <a:prstGeom prst="rect">
            <a:avLst/>
          </a:prstGeom>
          <a:noFill/>
        </p:spPr>
        <p:txBody>
          <a:bodyPr wrap="square">
            <a:spAutoFit/>
          </a:bodyPr>
          <a:lstStyle/>
          <a:p>
            <a:pPr algn="l"/>
            <a:r>
              <a:rPr sz="1300" b="1" i="0">
                <a:solidFill>
                  <a:srgbClr val="0F172A"/>
                </a:solidFill>
                <a:latin typeface="Calibri"/>
              </a:rPr>
              <a:t>body/small</a:t>
            </a:r>
          </a:p>
        </p:txBody>
      </p:sp>
      <p:sp>
        <p:nvSpPr>
          <p:cNvPr id="40" name="TextBox 39"/>
          <p:cNvSpPr txBox="1"/>
          <p:nvPr/>
        </p:nvSpPr>
        <p:spPr>
          <a:xfrm>
            <a:off x="4434840" y="5239512"/>
            <a:ext cx="3200400" cy="566928"/>
          </a:xfrm>
          <a:prstGeom prst="rect">
            <a:avLst/>
          </a:prstGeom>
          <a:noFill/>
        </p:spPr>
        <p:txBody>
          <a:bodyPr wrap="square">
            <a:spAutoFit/>
          </a:bodyPr>
          <a:lstStyle/>
          <a:p>
            <a:pPr algn="l"/>
            <a:r>
              <a:rPr sz="1300" b="0" i="0">
                <a:solidFill>
                  <a:srgbClr val="334155"/>
                </a:solidFill>
                <a:latin typeface="Calibri"/>
              </a:rPr>
              <a:t>14px Regular, line-height 1.5</a:t>
            </a:r>
          </a:p>
        </p:txBody>
      </p:sp>
      <p:sp>
        <p:nvSpPr>
          <p:cNvPr id="41" name="TextBox 40"/>
          <p:cNvSpPr txBox="1"/>
          <p:nvPr/>
        </p:nvSpPr>
        <p:spPr>
          <a:xfrm>
            <a:off x="7818120" y="5239512"/>
            <a:ext cx="3200400" cy="566928"/>
          </a:xfrm>
          <a:prstGeom prst="rect">
            <a:avLst/>
          </a:prstGeom>
          <a:noFill/>
        </p:spPr>
        <p:txBody>
          <a:bodyPr wrap="square">
            <a:spAutoFit/>
          </a:bodyPr>
          <a:lstStyle/>
          <a:p>
            <a:pPr algn="l"/>
            <a:r>
              <a:rPr sz="1300" b="0" i="0">
                <a:solidFill>
                  <a:srgbClr val="334155"/>
                </a:solidFill>
                <a:latin typeface="Calibri"/>
              </a:rPr>
              <a:t>Secundaire informatie</a:t>
            </a:r>
          </a:p>
        </p:txBody>
      </p:sp>
      <p:sp>
        <p:nvSpPr>
          <p:cNvPr id="42" name="Rectangle 41"/>
          <p:cNvSpPr/>
          <p:nvPr/>
        </p:nvSpPr>
        <p:spPr>
          <a:xfrm>
            <a:off x="914400" y="5897880"/>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97680" y="5897880"/>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80960" y="5897880"/>
            <a:ext cx="3383280" cy="749808"/>
          </a:xfrm>
          <a:prstGeom prst="rect">
            <a:avLst/>
          </a:prstGeom>
          <a:solidFill>
            <a:srgbClr val="FFFFFF"/>
          </a:solidFill>
          <a:ln w="9525">
            <a:solidFill>
              <a:srgbClr val="DC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989320"/>
            <a:ext cx="3200400" cy="566928"/>
          </a:xfrm>
          <a:prstGeom prst="rect">
            <a:avLst/>
          </a:prstGeom>
          <a:noFill/>
        </p:spPr>
        <p:txBody>
          <a:bodyPr wrap="square">
            <a:spAutoFit/>
          </a:bodyPr>
          <a:lstStyle/>
          <a:p>
            <a:pPr algn="l"/>
            <a:r>
              <a:rPr sz="1300" b="1" i="0">
                <a:solidFill>
                  <a:srgbClr val="0F172A"/>
                </a:solidFill>
                <a:latin typeface="Calibri"/>
              </a:rPr>
              <a:t>label</a:t>
            </a:r>
          </a:p>
        </p:txBody>
      </p:sp>
      <p:sp>
        <p:nvSpPr>
          <p:cNvPr id="46" name="TextBox 45"/>
          <p:cNvSpPr txBox="1"/>
          <p:nvPr/>
        </p:nvSpPr>
        <p:spPr>
          <a:xfrm>
            <a:off x="4434840" y="5989320"/>
            <a:ext cx="3200400" cy="566928"/>
          </a:xfrm>
          <a:prstGeom prst="rect">
            <a:avLst/>
          </a:prstGeom>
          <a:noFill/>
        </p:spPr>
        <p:txBody>
          <a:bodyPr wrap="square">
            <a:spAutoFit/>
          </a:bodyPr>
          <a:lstStyle/>
          <a:p>
            <a:pPr algn="l"/>
            <a:r>
              <a:rPr sz="1300" b="0" i="0">
                <a:solidFill>
                  <a:srgbClr val="334155"/>
                </a:solidFill>
                <a:latin typeface="Calibri"/>
              </a:rPr>
              <a:t>12px Medium, line-height 1.4</a:t>
            </a:r>
          </a:p>
        </p:txBody>
      </p:sp>
      <p:sp>
        <p:nvSpPr>
          <p:cNvPr id="47" name="TextBox 46"/>
          <p:cNvSpPr txBox="1"/>
          <p:nvPr/>
        </p:nvSpPr>
        <p:spPr>
          <a:xfrm>
            <a:off x="7818120" y="5989320"/>
            <a:ext cx="3200400" cy="566928"/>
          </a:xfrm>
          <a:prstGeom prst="rect">
            <a:avLst/>
          </a:prstGeom>
          <a:noFill/>
        </p:spPr>
        <p:txBody>
          <a:bodyPr wrap="square">
            <a:spAutoFit/>
          </a:bodyPr>
          <a:lstStyle/>
          <a:p>
            <a:pPr algn="l"/>
            <a:r>
              <a:rPr sz="1300" b="0" i="0">
                <a:solidFill>
                  <a:srgbClr val="334155"/>
                </a:solidFill>
                <a:latin typeface="Calibri"/>
              </a:rPr>
              <a:t>Knoppen en navigatie</a:t>
            </a:r>
          </a:p>
        </p:txBody>
      </p:sp>
      <p:sp>
        <p:nvSpPr>
          <p:cNvPr id="48" name="TextBox 47"/>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201168" cy="685800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Goed doel: typografie kiezen</a:t>
            </a:r>
          </a:p>
        </p:txBody>
      </p:sp>
      <p:sp>
        <p:nvSpPr>
          <p:cNvPr id="5" name="Rectangle 4"/>
          <p:cNvSpPr/>
          <p:nvPr/>
        </p:nvSpPr>
        <p:spPr>
          <a:xfrm>
            <a:off x="914400" y="1298448"/>
            <a:ext cx="182880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32720" cy="384048"/>
          </a:xfrm>
          <a:prstGeom prst="rect">
            <a:avLst/>
          </a:prstGeom>
          <a:noFill/>
        </p:spPr>
        <p:txBody>
          <a:bodyPr wrap="square">
            <a:spAutoFit/>
          </a:bodyPr>
          <a:lstStyle/>
          <a:p>
            <a:pPr algn="l"/>
            <a:r>
              <a:rPr sz="1500" b="0" i="1">
                <a:solidFill>
                  <a:srgbClr val="C8C8F0"/>
                </a:solidFill>
                <a:latin typeface="Calibri"/>
              </a:rPr>
              <a:t>Praktische gids voor je charity website</a:t>
            </a:r>
          </a:p>
        </p:txBody>
      </p:sp>
      <p:sp>
        <p:nvSpPr>
          <p:cNvPr id="7" name="Oval 6"/>
          <p:cNvSpPr/>
          <p:nvPr/>
        </p:nvSpPr>
        <p:spPr>
          <a:xfrm>
            <a:off x="969264" y="1956816"/>
            <a:ext cx="256032" cy="25603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1920240"/>
            <a:ext cx="6583680" cy="402336"/>
          </a:xfrm>
          <a:prstGeom prst="rect">
            <a:avLst/>
          </a:prstGeom>
          <a:noFill/>
        </p:spPr>
        <p:txBody>
          <a:bodyPr wrap="square">
            <a:spAutoFit/>
          </a:bodyPr>
          <a:lstStyle/>
          <a:p>
            <a:pPr algn="l"/>
            <a:r>
              <a:rPr sz="1600" b="0" i="0">
                <a:solidFill>
                  <a:srgbClr val="DCDCFF"/>
                </a:solidFill>
                <a:latin typeface="Calibri"/>
              </a:rPr>
              <a:t>Kies een gratis Google Font voor de heading: zoek op fonts.google.com/knowledge</a:t>
            </a:r>
          </a:p>
        </p:txBody>
      </p:sp>
      <p:sp>
        <p:nvSpPr>
          <p:cNvPr id="9" name="Oval 8"/>
          <p:cNvSpPr/>
          <p:nvPr/>
        </p:nvSpPr>
        <p:spPr>
          <a:xfrm>
            <a:off x="969264" y="2615184"/>
            <a:ext cx="256032" cy="25603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2578608"/>
            <a:ext cx="6583680" cy="402336"/>
          </a:xfrm>
          <a:prstGeom prst="rect">
            <a:avLst/>
          </a:prstGeom>
          <a:noFill/>
        </p:spPr>
        <p:txBody>
          <a:bodyPr wrap="square">
            <a:spAutoFit/>
          </a:bodyPr>
          <a:lstStyle/>
          <a:p>
            <a:pPr algn="l"/>
            <a:r>
              <a:rPr sz="1600" b="0" i="0">
                <a:solidFill>
                  <a:srgbClr val="DCDCFF"/>
                </a:solidFill>
                <a:latin typeface="Calibri"/>
              </a:rPr>
              <a:t>Kies Inter of Outfit als body font: beide zijn uitstekend leesbaar op schermen</a:t>
            </a:r>
          </a:p>
        </p:txBody>
      </p:sp>
      <p:sp>
        <p:nvSpPr>
          <p:cNvPr id="11" name="Oval 10"/>
          <p:cNvSpPr/>
          <p:nvPr/>
        </p:nvSpPr>
        <p:spPr>
          <a:xfrm>
            <a:off x="969264" y="3273552"/>
            <a:ext cx="256032" cy="25603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3236976"/>
            <a:ext cx="6583680" cy="402336"/>
          </a:xfrm>
          <a:prstGeom prst="rect">
            <a:avLst/>
          </a:prstGeom>
          <a:noFill/>
        </p:spPr>
        <p:txBody>
          <a:bodyPr wrap="square">
            <a:spAutoFit/>
          </a:bodyPr>
          <a:lstStyle/>
          <a:p>
            <a:pPr algn="l"/>
            <a:r>
              <a:rPr sz="1600" b="0" i="0">
                <a:solidFill>
                  <a:srgbClr val="DCDCFF"/>
                </a:solidFill>
                <a:latin typeface="Calibri"/>
              </a:rPr>
              <a:t>Stel je type scale in Figma in voor je begint met ontwerpen</a:t>
            </a:r>
          </a:p>
        </p:txBody>
      </p:sp>
      <p:sp>
        <p:nvSpPr>
          <p:cNvPr id="13" name="Oval 12"/>
          <p:cNvSpPr/>
          <p:nvPr/>
        </p:nvSpPr>
        <p:spPr>
          <a:xfrm>
            <a:off x="969264" y="3931920"/>
            <a:ext cx="256032" cy="25603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895344"/>
            <a:ext cx="6583680" cy="402336"/>
          </a:xfrm>
          <a:prstGeom prst="rect">
            <a:avLst/>
          </a:prstGeom>
          <a:noFill/>
        </p:spPr>
        <p:txBody>
          <a:bodyPr wrap="square">
            <a:spAutoFit/>
          </a:bodyPr>
          <a:lstStyle/>
          <a:p>
            <a:pPr algn="l"/>
            <a:r>
              <a:rPr sz="1600" b="0" i="0">
                <a:solidFill>
                  <a:srgbClr val="DCDCFF"/>
                </a:solidFill>
                <a:latin typeface="Calibri"/>
              </a:rPr>
              <a:t>Controleer contrast: body text minimaal WCAG AA (4.5:1 ratio)</a:t>
            </a:r>
          </a:p>
        </p:txBody>
      </p:sp>
      <p:sp>
        <p:nvSpPr>
          <p:cNvPr id="15" name="Rectangle 14"/>
          <p:cNvSpPr/>
          <p:nvPr/>
        </p:nvSpPr>
        <p:spPr>
          <a:xfrm>
            <a:off x="8046720" y="1828800"/>
            <a:ext cx="3840480" cy="36576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828800"/>
            <a:ext cx="384048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1965960"/>
            <a:ext cx="3657600" cy="411480"/>
          </a:xfrm>
          <a:prstGeom prst="rect">
            <a:avLst/>
          </a:prstGeom>
          <a:noFill/>
        </p:spPr>
        <p:txBody>
          <a:bodyPr wrap="square">
            <a:spAutoFit/>
          </a:bodyPr>
          <a:lstStyle/>
          <a:p>
            <a:pPr algn="l"/>
            <a:r>
              <a:rPr sz="1600" b="1" i="0">
                <a:solidFill>
                  <a:srgbClr val="A78BFA"/>
                </a:solidFill>
                <a:latin typeface="Calibri"/>
              </a:rPr>
              <a:t>Starter pack</a:t>
            </a:r>
          </a:p>
        </p:txBody>
      </p:sp>
      <p:sp>
        <p:nvSpPr>
          <p:cNvPr id="18" name="TextBox 17"/>
          <p:cNvSpPr txBox="1"/>
          <p:nvPr/>
        </p:nvSpPr>
        <p:spPr>
          <a:xfrm>
            <a:off x="8229600" y="2487168"/>
            <a:ext cx="1005840" cy="347472"/>
          </a:xfrm>
          <a:prstGeom prst="rect">
            <a:avLst/>
          </a:prstGeom>
          <a:noFill/>
        </p:spPr>
        <p:txBody>
          <a:bodyPr wrap="square">
            <a:spAutoFit/>
          </a:bodyPr>
          <a:lstStyle/>
          <a:p>
            <a:pPr algn="l"/>
            <a:r>
              <a:rPr sz="1300" b="1" i="0">
                <a:solidFill>
                  <a:srgbClr val="A78BFA"/>
                </a:solidFill>
                <a:latin typeface="Calibri"/>
              </a:rPr>
              <a:t>Heading:</a:t>
            </a:r>
          </a:p>
        </p:txBody>
      </p:sp>
      <p:sp>
        <p:nvSpPr>
          <p:cNvPr id="19" name="TextBox 18"/>
          <p:cNvSpPr txBox="1"/>
          <p:nvPr/>
        </p:nvSpPr>
        <p:spPr>
          <a:xfrm>
            <a:off x="9281160" y="2487168"/>
            <a:ext cx="2468880" cy="347472"/>
          </a:xfrm>
          <a:prstGeom prst="rect">
            <a:avLst/>
          </a:prstGeom>
          <a:noFill/>
        </p:spPr>
        <p:txBody>
          <a:bodyPr wrap="square">
            <a:spAutoFit/>
          </a:bodyPr>
          <a:lstStyle/>
          <a:p>
            <a:pPr algn="l"/>
            <a:r>
              <a:rPr sz="1300" b="0" i="0">
                <a:solidFill>
                  <a:srgbClr val="C8D2FF"/>
                </a:solidFill>
                <a:latin typeface="Calibri"/>
              </a:rPr>
              <a:t>Outfit Bold 48/36/28px</a:t>
            </a:r>
          </a:p>
        </p:txBody>
      </p:sp>
      <p:sp>
        <p:nvSpPr>
          <p:cNvPr id="20" name="TextBox 19"/>
          <p:cNvSpPr txBox="1"/>
          <p:nvPr/>
        </p:nvSpPr>
        <p:spPr>
          <a:xfrm>
            <a:off x="8229600" y="3310128"/>
            <a:ext cx="1005840" cy="347472"/>
          </a:xfrm>
          <a:prstGeom prst="rect">
            <a:avLst/>
          </a:prstGeom>
          <a:noFill/>
        </p:spPr>
        <p:txBody>
          <a:bodyPr wrap="square">
            <a:spAutoFit/>
          </a:bodyPr>
          <a:lstStyle/>
          <a:p>
            <a:pPr algn="l"/>
            <a:r>
              <a:rPr sz="1300" b="1" i="0">
                <a:solidFill>
                  <a:srgbClr val="A78BFA"/>
                </a:solidFill>
                <a:latin typeface="Calibri"/>
              </a:rPr>
              <a:t>Body:</a:t>
            </a:r>
          </a:p>
        </p:txBody>
      </p:sp>
      <p:sp>
        <p:nvSpPr>
          <p:cNvPr id="21" name="TextBox 20"/>
          <p:cNvSpPr txBox="1"/>
          <p:nvPr/>
        </p:nvSpPr>
        <p:spPr>
          <a:xfrm>
            <a:off x="9281160" y="3310128"/>
            <a:ext cx="2468880" cy="347472"/>
          </a:xfrm>
          <a:prstGeom prst="rect">
            <a:avLst/>
          </a:prstGeom>
          <a:noFill/>
        </p:spPr>
        <p:txBody>
          <a:bodyPr wrap="square">
            <a:spAutoFit/>
          </a:bodyPr>
          <a:lstStyle/>
          <a:p>
            <a:pPr algn="l"/>
            <a:r>
              <a:rPr sz="1300" b="0" i="0">
                <a:solidFill>
                  <a:srgbClr val="C8D2FF"/>
                </a:solidFill>
                <a:latin typeface="Calibri"/>
              </a:rPr>
              <a:t>Inter Regular 16px lh 1.6</a:t>
            </a:r>
          </a:p>
        </p:txBody>
      </p:sp>
      <p:sp>
        <p:nvSpPr>
          <p:cNvPr id="22" name="TextBox 21"/>
          <p:cNvSpPr txBox="1"/>
          <p:nvPr/>
        </p:nvSpPr>
        <p:spPr>
          <a:xfrm>
            <a:off x="8229600" y="4133088"/>
            <a:ext cx="1005840" cy="347472"/>
          </a:xfrm>
          <a:prstGeom prst="rect">
            <a:avLst/>
          </a:prstGeom>
          <a:noFill/>
        </p:spPr>
        <p:txBody>
          <a:bodyPr wrap="square">
            <a:spAutoFit/>
          </a:bodyPr>
          <a:lstStyle/>
          <a:p>
            <a:pPr algn="l"/>
            <a:r>
              <a:rPr sz="1300" b="1" i="0">
                <a:solidFill>
                  <a:srgbClr val="A78BFA"/>
                </a:solidFill>
                <a:latin typeface="Calibri"/>
              </a:rPr>
              <a:t>Caption:</a:t>
            </a:r>
          </a:p>
        </p:txBody>
      </p:sp>
      <p:sp>
        <p:nvSpPr>
          <p:cNvPr id="23" name="TextBox 22"/>
          <p:cNvSpPr txBox="1"/>
          <p:nvPr/>
        </p:nvSpPr>
        <p:spPr>
          <a:xfrm>
            <a:off x="9281160" y="4133088"/>
            <a:ext cx="2468880" cy="347472"/>
          </a:xfrm>
          <a:prstGeom prst="rect">
            <a:avLst/>
          </a:prstGeom>
          <a:noFill/>
        </p:spPr>
        <p:txBody>
          <a:bodyPr wrap="square">
            <a:spAutoFit/>
          </a:bodyPr>
          <a:lstStyle/>
          <a:p>
            <a:pPr algn="l"/>
            <a:r>
              <a:rPr sz="1300" b="0" i="0">
                <a:solidFill>
                  <a:srgbClr val="C8D2FF"/>
                </a:solidFill>
                <a:latin typeface="Calibri"/>
              </a:rPr>
              <a:t>Inter Regular 12px</a:t>
            </a:r>
          </a:p>
        </p:txBody>
      </p:sp>
      <p:sp>
        <p:nvSpPr>
          <p:cNvPr id="24" name="TextBox 23"/>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Live analyse: typografie herkennen</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Onderzoek echte websites met de inspector</a:t>
            </a:r>
          </a:p>
        </p:txBody>
      </p:sp>
      <p:sp>
        <p:nvSpPr>
          <p:cNvPr id="6" name="Rectangle 5"/>
          <p:cNvSpPr/>
          <p:nvPr/>
        </p:nvSpPr>
        <p:spPr>
          <a:xfrm>
            <a:off x="731520" y="1691640"/>
            <a:ext cx="10515600" cy="86868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64008" cy="86868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819656"/>
            <a:ext cx="320040" cy="502920"/>
          </a:xfrm>
          <a:prstGeom prst="rect">
            <a:avLst/>
          </a:prstGeom>
          <a:noFill/>
        </p:spPr>
        <p:txBody>
          <a:bodyPr wrap="square">
            <a:spAutoFit/>
          </a:bodyPr>
          <a:lstStyle/>
          <a:p>
            <a:pPr algn="l"/>
            <a:r>
              <a:rPr sz="1800" b="1" i="0">
                <a:solidFill>
                  <a:srgbClr val="7C3AED"/>
                </a:solidFill>
                <a:latin typeface="Calibri"/>
              </a:rPr>
              <a:t>1.</a:t>
            </a:r>
          </a:p>
        </p:txBody>
      </p:sp>
      <p:sp>
        <p:nvSpPr>
          <p:cNvPr id="9" name="TextBox 8"/>
          <p:cNvSpPr txBox="1"/>
          <p:nvPr/>
        </p:nvSpPr>
        <p:spPr>
          <a:xfrm>
            <a:off x="1216152" y="1819656"/>
            <a:ext cx="9875520" cy="621792"/>
          </a:xfrm>
          <a:prstGeom prst="rect">
            <a:avLst/>
          </a:prstGeom>
          <a:noFill/>
        </p:spPr>
        <p:txBody>
          <a:bodyPr wrap="square">
            <a:spAutoFit/>
          </a:bodyPr>
          <a:lstStyle/>
          <a:p>
            <a:pPr algn="l"/>
            <a:r>
              <a:rPr sz="1500" b="0" i="0">
                <a:solidFill>
                  <a:srgbClr val="334155"/>
                </a:solidFill>
                <a:latin typeface="Calibri"/>
              </a:rPr>
              <a:t>Open een nieuwssite en een techblog. Welk font gebruikt elke site voor de headings?</a:t>
            </a:r>
          </a:p>
        </p:txBody>
      </p:sp>
      <p:sp>
        <p:nvSpPr>
          <p:cNvPr id="10" name="Rectangle 9"/>
          <p:cNvSpPr/>
          <p:nvPr/>
        </p:nvSpPr>
        <p:spPr>
          <a:xfrm>
            <a:off x="731520" y="2715768"/>
            <a:ext cx="10515600" cy="86868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715768"/>
            <a:ext cx="64008" cy="868680"/>
          </a:xfrm>
          <a:prstGeom prst="rect">
            <a:avLst/>
          </a:prstGeom>
          <a:gradFill rotWithShape="1">
            <a:gsLst>
              <a:gs pos="0">
                <a:srgbClr val="2563EB"/>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843784"/>
            <a:ext cx="320040" cy="502920"/>
          </a:xfrm>
          <a:prstGeom prst="rect">
            <a:avLst/>
          </a:prstGeom>
          <a:noFill/>
        </p:spPr>
        <p:txBody>
          <a:bodyPr wrap="square">
            <a:spAutoFit/>
          </a:bodyPr>
          <a:lstStyle/>
          <a:p>
            <a:pPr algn="l"/>
            <a:r>
              <a:rPr sz="1800" b="1" i="0">
                <a:solidFill>
                  <a:srgbClr val="2563EB"/>
                </a:solidFill>
                <a:latin typeface="Calibri"/>
              </a:rPr>
              <a:t>2.</a:t>
            </a:r>
          </a:p>
        </p:txBody>
      </p:sp>
      <p:sp>
        <p:nvSpPr>
          <p:cNvPr id="13" name="TextBox 12"/>
          <p:cNvSpPr txBox="1"/>
          <p:nvPr/>
        </p:nvSpPr>
        <p:spPr>
          <a:xfrm>
            <a:off x="1216152" y="2843784"/>
            <a:ext cx="9875520" cy="621792"/>
          </a:xfrm>
          <a:prstGeom prst="rect">
            <a:avLst/>
          </a:prstGeom>
          <a:noFill/>
        </p:spPr>
        <p:txBody>
          <a:bodyPr wrap="square">
            <a:spAutoFit/>
          </a:bodyPr>
          <a:lstStyle/>
          <a:p>
            <a:pPr algn="l"/>
            <a:r>
              <a:rPr sz="1500" b="0" i="0">
                <a:solidFill>
                  <a:srgbClr val="334155"/>
                </a:solidFill>
                <a:latin typeface="Calibri"/>
              </a:rPr>
              <a:t>Hoeveel tekststijlen zie je op een typische landingspagina?</a:t>
            </a:r>
          </a:p>
        </p:txBody>
      </p:sp>
      <p:sp>
        <p:nvSpPr>
          <p:cNvPr id="14" name="Rectangle 13"/>
          <p:cNvSpPr/>
          <p:nvPr/>
        </p:nvSpPr>
        <p:spPr>
          <a:xfrm>
            <a:off x="731520" y="3739896"/>
            <a:ext cx="10515600" cy="86868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39896"/>
            <a:ext cx="64008" cy="868680"/>
          </a:xfrm>
          <a:prstGeom prst="rect">
            <a:avLst/>
          </a:prstGeom>
          <a:gradFill rotWithShape="1">
            <a:gsLst>
              <a:gs pos="0">
                <a:srgbClr val="16A34A"/>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867912"/>
            <a:ext cx="320040" cy="502920"/>
          </a:xfrm>
          <a:prstGeom prst="rect">
            <a:avLst/>
          </a:prstGeom>
          <a:noFill/>
        </p:spPr>
        <p:txBody>
          <a:bodyPr wrap="square">
            <a:spAutoFit/>
          </a:bodyPr>
          <a:lstStyle/>
          <a:p>
            <a:pPr algn="l"/>
            <a:r>
              <a:rPr sz="1800" b="1" i="0">
                <a:solidFill>
                  <a:srgbClr val="16A34A"/>
                </a:solidFill>
                <a:latin typeface="Calibri"/>
              </a:rPr>
              <a:t>3.</a:t>
            </a:r>
          </a:p>
        </p:txBody>
      </p:sp>
      <p:sp>
        <p:nvSpPr>
          <p:cNvPr id="17" name="TextBox 16"/>
          <p:cNvSpPr txBox="1"/>
          <p:nvPr/>
        </p:nvSpPr>
        <p:spPr>
          <a:xfrm>
            <a:off x="1216152" y="3867912"/>
            <a:ext cx="9875520" cy="621792"/>
          </a:xfrm>
          <a:prstGeom prst="rect">
            <a:avLst/>
          </a:prstGeom>
          <a:noFill/>
        </p:spPr>
        <p:txBody>
          <a:bodyPr wrap="square">
            <a:spAutoFit/>
          </a:bodyPr>
          <a:lstStyle/>
          <a:p>
            <a:pPr algn="l"/>
            <a:r>
              <a:rPr sz="1500" b="0" i="0">
                <a:solidFill>
                  <a:srgbClr val="334155"/>
                </a:solidFill>
                <a:latin typeface="Calibri"/>
              </a:rPr>
              <a:t>Meet de regellengte van een alinea. Hoeveel woorden passen er op een regel?</a:t>
            </a:r>
          </a:p>
        </p:txBody>
      </p:sp>
      <p:sp>
        <p:nvSpPr>
          <p:cNvPr id="18" name="Rectangle 17"/>
          <p:cNvSpPr/>
          <p:nvPr/>
        </p:nvSpPr>
        <p:spPr>
          <a:xfrm>
            <a:off x="731520" y="4764024"/>
            <a:ext cx="10515600" cy="86868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764024"/>
            <a:ext cx="64008" cy="868680"/>
          </a:xfrm>
          <a:prstGeom prst="rect">
            <a:avLst/>
          </a:prstGeom>
          <a:gradFill rotWithShape="1">
            <a:gsLst>
              <a:gs pos="0">
                <a:srgbClr val="DC2626"/>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892040"/>
            <a:ext cx="320040" cy="502920"/>
          </a:xfrm>
          <a:prstGeom prst="rect">
            <a:avLst/>
          </a:prstGeom>
          <a:noFill/>
        </p:spPr>
        <p:txBody>
          <a:bodyPr wrap="square">
            <a:spAutoFit/>
          </a:bodyPr>
          <a:lstStyle/>
          <a:p>
            <a:pPr algn="l"/>
            <a:r>
              <a:rPr sz="1800" b="1" i="0">
                <a:solidFill>
                  <a:srgbClr val="DC2626"/>
                </a:solidFill>
                <a:latin typeface="Calibri"/>
              </a:rPr>
              <a:t>4.</a:t>
            </a:r>
          </a:p>
        </p:txBody>
      </p:sp>
      <p:sp>
        <p:nvSpPr>
          <p:cNvPr id="21" name="TextBox 20"/>
          <p:cNvSpPr txBox="1"/>
          <p:nvPr/>
        </p:nvSpPr>
        <p:spPr>
          <a:xfrm>
            <a:off x="1216152" y="4892040"/>
            <a:ext cx="9875520" cy="621792"/>
          </a:xfrm>
          <a:prstGeom prst="rect">
            <a:avLst/>
          </a:prstGeom>
          <a:noFill/>
        </p:spPr>
        <p:txBody>
          <a:bodyPr wrap="square">
            <a:spAutoFit/>
          </a:bodyPr>
          <a:lstStyle/>
          <a:p>
            <a:pPr algn="l"/>
            <a:r>
              <a:rPr sz="1500" b="0" i="0">
                <a:solidFill>
                  <a:srgbClr val="334155"/>
                </a:solidFill>
                <a:latin typeface="Calibri"/>
              </a:rPr>
              <a:t>Bekijk de letter-spacing van een heading op Apple.com. Voelt het ruimer of strakker dan normaal?</a:t>
            </a:r>
          </a:p>
        </p:txBody>
      </p:sp>
      <p:sp>
        <p:nvSpPr>
          <p:cNvPr id="22" name="TextBox 21"/>
          <p:cNvSpPr txBox="1"/>
          <p:nvPr/>
        </p:nvSpPr>
        <p:spPr>
          <a:xfrm>
            <a:off x="731520" y="6035040"/>
            <a:ext cx="10515600" cy="457200"/>
          </a:xfrm>
          <a:prstGeom prst="rect">
            <a:avLst/>
          </a:prstGeom>
          <a:noFill/>
        </p:spPr>
        <p:txBody>
          <a:bodyPr wrap="square">
            <a:spAutoFit/>
          </a:bodyPr>
          <a:lstStyle/>
          <a:p>
            <a:pPr algn="l"/>
            <a:r>
              <a:rPr sz="1400" b="0" i="1">
                <a:solidFill>
                  <a:srgbClr val="647487"/>
                </a:solidFill>
                <a:latin typeface="Calibri"/>
              </a:rPr>
              <a:t>Gebruik de browser inspector (F12) of Figma Inspect panel om lettertypewaarden te zien.</a:t>
            </a:r>
          </a:p>
        </p:txBody>
      </p:sp>
      <p:sp>
        <p:nvSpPr>
          <p:cNvPr id="23" name="TextBox 22"/>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Bronnen en verdieping</a:t>
            </a:r>
          </a:p>
        </p:txBody>
      </p:sp>
      <p:sp>
        <p:nvSpPr>
          <p:cNvPr id="4" name="Rectangle 3"/>
          <p:cNvSpPr/>
          <p:nvPr/>
        </p:nvSpPr>
        <p:spPr>
          <a:xfrm>
            <a:off x="914400" y="1261872"/>
            <a:ext cx="164592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Verder leren over typografie</a:t>
            </a:r>
          </a:p>
        </p:txBody>
      </p:sp>
      <p:sp>
        <p:nvSpPr>
          <p:cNvPr id="6" name="Rectangle 5"/>
          <p:cNvSpPr/>
          <p:nvPr/>
        </p:nvSpPr>
        <p:spPr>
          <a:xfrm>
            <a:off x="731520" y="1691640"/>
            <a:ext cx="10515600" cy="77724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64008" cy="77724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4114800" cy="384048"/>
          </a:xfrm>
          <a:prstGeom prst="rect">
            <a:avLst/>
          </a:prstGeom>
          <a:noFill/>
        </p:spPr>
        <p:txBody>
          <a:bodyPr wrap="square">
            <a:spAutoFit/>
          </a:bodyPr>
          <a:lstStyle/>
          <a:p>
            <a:pPr algn="l"/>
            <a:r>
              <a:rPr sz="1600" b="1" i="0">
                <a:solidFill>
                  <a:srgbClr val="0F172A"/>
                </a:solidFill>
                <a:latin typeface="Calibri"/>
              </a:rPr>
              <a:t>Google Fonts Knowledge</a:t>
            </a:r>
          </a:p>
        </p:txBody>
      </p:sp>
      <p:sp>
        <p:nvSpPr>
          <p:cNvPr id="9" name="TextBox 8"/>
          <p:cNvSpPr txBox="1"/>
          <p:nvPr/>
        </p:nvSpPr>
        <p:spPr>
          <a:xfrm>
            <a:off x="5166360" y="1819656"/>
            <a:ext cx="4114800" cy="347472"/>
          </a:xfrm>
          <a:prstGeom prst="rect">
            <a:avLst/>
          </a:prstGeom>
          <a:noFill/>
        </p:spPr>
        <p:txBody>
          <a:bodyPr wrap="square">
            <a:spAutoFit/>
          </a:bodyPr>
          <a:lstStyle/>
          <a:p>
            <a:pPr algn="l"/>
            <a:r>
              <a:rPr sz="1400" b="0" i="1">
                <a:solidFill>
                  <a:srgbClr val="7C3AED"/>
                </a:solidFill>
                <a:latin typeface="Calibri"/>
              </a:rPr>
              <a:t>fonts.google.com/knowledge</a:t>
            </a:r>
          </a:p>
        </p:txBody>
      </p:sp>
      <p:sp>
        <p:nvSpPr>
          <p:cNvPr id="10" name="TextBox 9"/>
          <p:cNvSpPr txBox="1"/>
          <p:nvPr/>
        </p:nvSpPr>
        <p:spPr>
          <a:xfrm>
            <a:off x="960120" y="2185416"/>
            <a:ext cx="10131552" cy="320040"/>
          </a:xfrm>
          <a:prstGeom prst="rect">
            <a:avLst/>
          </a:prstGeom>
          <a:noFill/>
        </p:spPr>
        <p:txBody>
          <a:bodyPr wrap="square">
            <a:spAutoFit/>
          </a:bodyPr>
          <a:lstStyle/>
          <a:p>
            <a:pPr algn="l"/>
            <a:r>
              <a:rPr sz="1300" b="0" i="0">
                <a:solidFill>
                  <a:srgbClr val="647487"/>
                </a:solidFill>
                <a:latin typeface="Calibri"/>
              </a:rPr>
              <a:t>Alles over font keuze en combinaties</a:t>
            </a:r>
          </a:p>
        </p:txBody>
      </p:sp>
      <p:sp>
        <p:nvSpPr>
          <p:cNvPr id="11" name="Rectangle 10"/>
          <p:cNvSpPr/>
          <p:nvPr/>
        </p:nvSpPr>
        <p:spPr>
          <a:xfrm>
            <a:off x="731520" y="2606040"/>
            <a:ext cx="10515600" cy="77724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606040"/>
            <a:ext cx="64008" cy="777240"/>
          </a:xfrm>
          <a:prstGeom prst="rect">
            <a:avLst/>
          </a:prstGeom>
          <a:gradFill rotWithShape="1">
            <a:gsLst>
              <a:gs pos="0">
                <a:srgbClr val="2563EB"/>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734056"/>
            <a:ext cx="4114800" cy="384048"/>
          </a:xfrm>
          <a:prstGeom prst="rect">
            <a:avLst/>
          </a:prstGeom>
          <a:noFill/>
        </p:spPr>
        <p:txBody>
          <a:bodyPr wrap="square">
            <a:spAutoFit/>
          </a:bodyPr>
          <a:lstStyle/>
          <a:p>
            <a:pPr algn="l"/>
            <a:r>
              <a:rPr sz="1600" b="1" i="0">
                <a:solidFill>
                  <a:srgbClr val="0F172A"/>
                </a:solidFill>
                <a:latin typeface="Calibri"/>
              </a:rPr>
              <a:t>Typewolf: font inspiratie</a:t>
            </a:r>
          </a:p>
        </p:txBody>
      </p:sp>
      <p:sp>
        <p:nvSpPr>
          <p:cNvPr id="14" name="TextBox 13"/>
          <p:cNvSpPr txBox="1"/>
          <p:nvPr/>
        </p:nvSpPr>
        <p:spPr>
          <a:xfrm>
            <a:off x="5166360" y="2734056"/>
            <a:ext cx="4114800" cy="347472"/>
          </a:xfrm>
          <a:prstGeom prst="rect">
            <a:avLst/>
          </a:prstGeom>
          <a:noFill/>
        </p:spPr>
        <p:txBody>
          <a:bodyPr wrap="square">
            <a:spAutoFit/>
          </a:bodyPr>
          <a:lstStyle/>
          <a:p>
            <a:pPr algn="l"/>
            <a:r>
              <a:rPr sz="1400" b="0" i="1">
                <a:solidFill>
                  <a:srgbClr val="2563EB"/>
                </a:solidFill>
                <a:latin typeface="Calibri"/>
              </a:rPr>
              <a:t>typewolf.com</a:t>
            </a:r>
          </a:p>
        </p:txBody>
      </p:sp>
      <p:sp>
        <p:nvSpPr>
          <p:cNvPr id="15" name="TextBox 14"/>
          <p:cNvSpPr txBox="1"/>
          <p:nvPr/>
        </p:nvSpPr>
        <p:spPr>
          <a:xfrm>
            <a:off x="960120" y="3099816"/>
            <a:ext cx="10131552" cy="320040"/>
          </a:xfrm>
          <a:prstGeom prst="rect">
            <a:avLst/>
          </a:prstGeom>
          <a:noFill/>
        </p:spPr>
        <p:txBody>
          <a:bodyPr wrap="square">
            <a:spAutoFit/>
          </a:bodyPr>
          <a:lstStyle/>
          <a:p>
            <a:pPr algn="l"/>
            <a:r>
              <a:rPr sz="1300" b="0" i="0">
                <a:solidFill>
                  <a:srgbClr val="647487"/>
                </a:solidFill>
                <a:latin typeface="Calibri"/>
              </a:rPr>
              <a:t>Real-world font gebruik en trending fonts</a:t>
            </a:r>
          </a:p>
        </p:txBody>
      </p:sp>
      <p:sp>
        <p:nvSpPr>
          <p:cNvPr id="16" name="Rectangle 15"/>
          <p:cNvSpPr/>
          <p:nvPr/>
        </p:nvSpPr>
        <p:spPr>
          <a:xfrm>
            <a:off x="731520" y="3520440"/>
            <a:ext cx="10515600" cy="77724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20440"/>
            <a:ext cx="64008" cy="777240"/>
          </a:xfrm>
          <a:prstGeom prst="rect">
            <a:avLst/>
          </a:prstGeom>
          <a:gradFill rotWithShape="1">
            <a:gsLst>
              <a:gs pos="0">
                <a:srgbClr val="8C64DC"/>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648456"/>
            <a:ext cx="4114800" cy="384048"/>
          </a:xfrm>
          <a:prstGeom prst="rect">
            <a:avLst/>
          </a:prstGeom>
          <a:noFill/>
        </p:spPr>
        <p:txBody>
          <a:bodyPr wrap="square">
            <a:spAutoFit/>
          </a:bodyPr>
          <a:lstStyle/>
          <a:p>
            <a:pPr algn="l"/>
            <a:r>
              <a:rPr sz="1600" b="1" i="0">
                <a:solidFill>
                  <a:srgbClr val="0F172A"/>
                </a:solidFill>
                <a:latin typeface="Calibri"/>
              </a:rPr>
              <a:t>The Elements of Typographic Style</a:t>
            </a:r>
          </a:p>
        </p:txBody>
      </p:sp>
      <p:sp>
        <p:nvSpPr>
          <p:cNvPr id="19" name="TextBox 18"/>
          <p:cNvSpPr txBox="1"/>
          <p:nvPr/>
        </p:nvSpPr>
        <p:spPr>
          <a:xfrm>
            <a:off x="5166360" y="3648456"/>
            <a:ext cx="4114800" cy="347472"/>
          </a:xfrm>
          <a:prstGeom prst="rect">
            <a:avLst/>
          </a:prstGeom>
          <a:noFill/>
        </p:spPr>
        <p:txBody>
          <a:bodyPr wrap="square">
            <a:spAutoFit/>
          </a:bodyPr>
          <a:lstStyle/>
          <a:p>
            <a:pPr algn="l"/>
            <a:r>
              <a:rPr sz="1400" b="0" i="1">
                <a:solidFill>
                  <a:srgbClr val="8C64DC"/>
                </a:solidFill>
                <a:latin typeface="Calibri"/>
              </a:rPr>
              <a:t>webtypography.net</a:t>
            </a:r>
          </a:p>
        </p:txBody>
      </p:sp>
      <p:sp>
        <p:nvSpPr>
          <p:cNvPr id="20" name="TextBox 19"/>
          <p:cNvSpPr txBox="1"/>
          <p:nvPr/>
        </p:nvSpPr>
        <p:spPr>
          <a:xfrm>
            <a:off x="960120" y="4014216"/>
            <a:ext cx="10131552" cy="320040"/>
          </a:xfrm>
          <a:prstGeom prst="rect">
            <a:avLst/>
          </a:prstGeom>
          <a:noFill/>
        </p:spPr>
        <p:txBody>
          <a:bodyPr wrap="square">
            <a:spAutoFit/>
          </a:bodyPr>
          <a:lstStyle/>
          <a:p>
            <a:pPr algn="l"/>
            <a:r>
              <a:rPr sz="1300" b="0" i="0">
                <a:solidFill>
                  <a:srgbClr val="647487"/>
                </a:solidFill>
                <a:latin typeface="Calibri"/>
              </a:rPr>
              <a:t>Het klassieker online, gratis te lezen</a:t>
            </a:r>
          </a:p>
        </p:txBody>
      </p:sp>
      <p:sp>
        <p:nvSpPr>
          <p:cNvPr id="21" name="Rectangle 20"/>
          <p:cNvSpPr/>
          <p:nvPr/>
        </p:nvSpPr>
        <p:spPr>
          <a:xfrm>
            <a:off x="731520" y="4434840"/>
            <a:ext cx="10515600" cy="77724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434840"/>
            <a:ext cx="64008" cy="777240"/>
          </a:xfrm>
          <a:prstGeom prst="rect">
            <a:avLst/>
          </a:prstGeom>
          <a:gradFill rotWithShape="1">
            <a:gsLst>
              <a:gs pos="0">
                <a:srgbClr val="16A34A"/>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562856"/>
            <a:ext cx="4114800" cy="384048"/>
          </a:xfrm>
          <a:prstGeom prst="rect">
            <a:avLst/>
          </a:prstGeom>
          <a:noFill/>
        </p:spPr>
        <p:txBody>
          <a:bodyPr wrap="square">
            <a:spAutoFit/>
          </a:bodyPr>
          <a:lstStyle/>
          <a:p>
            <a:pPr algn="l"/>
            <a:r>
              <a:rPr sz="1600" b="1" i="0">
                <a:solidFill>
                  <a:srgbClr val="0F172A"/>
                </a:solidFill>
                <a:latin typeface="Calibri"/>
              </a:rPr>
              <a:t>Practical Typography</a:t>
            </a:r>
          </a:p>
        </p:txBody>
      </p:sp>
      <p:sp>
        <p:nvSpPr>
          <p:cNvPr id="24" name="TextBox 23"/>
          <p:cNvSpPr txBox="1"/>
          <p:nvPr/>
        </p:nvSpPr>
        <p:spPr>
          <a:xfrm>
            <a:off x="5166360" y="4562856"/>
            <a:ext cx="4114800" cy="347472"/>
          </a:xfrm>
          <a:prstGeom prst="rect">
            <a:avLst/>
          </a:prstGeom>
          <a:noFill/>
        </p:spPr>
        <p:txBody>
          <a:bodyPr wrap="square">
            <a:spAutoFit/>
          </a:bodyPr>
          <a:lstStyle/>
          <a:p>
            <a:pPr algn="l"/>
            <a:r>
              <a:rPr sz="1400" b="0" i="1">
                <a:solidFill>
                  <a:srgbClr val="16A34A"/>
                </a:solidFill>
                <a:latin typeface="Calibri"/>
              </a:rPr>
              <a:t>practicaltypography.com</a:t>
            </a:r>
          </a:p>
        </p:txBody>
      </p:sp>
      <p:sp>
        <p:nvSpPr>
          <p:cNvPr id="25" name="TextBox 24"/>
          <p:cNvSpPr txBox="1"/>
          <p:nvPr/>
        </p:nvSpPr>
        <p:spPr>
          <a:xfrm>
            <a:off x="960120" y="4928616"/>
            <a:ext cx="10131552" cy="320040"/>
          </a:xfrm>
          <a:prstGeom prst="rect">
            <a:avLst/>
          </a:prstGeom>
          <a:noFill/>
        </p:spPr>
        <p:txBody>
          <a:bodyPr wrap="square">
            <a:spAutoFit/>
          </a:bodyPr>
          <a:lstStyle/>
          <a:p>
            <a:pPr algn="l"/>
            <a:r>
              <a:rPr sz="1300" b="0" i="0">
                <a:solidFill>
                  <a:srgbClr val="647487"/>
                </a:solidFill>
                <a:latin typeface="Calibri"/>
              </a:rPr>
              <a:t>Praktische typografieregels voor het web</a:t>
            </a:r>
          </a:p>
        </p:txBody>
      </p:sp>
      <p:sp>
        <p:nvSpPr>
          <p:cNvPr id="26" name="Rectangle 25"/>
          <p:cNvSpPr/>
          <p:nvPr/>
        </p:nvSpPr>
        <p:spPr>
          <a:xfrm>
            <a:off x="731520" y="5349240"/>
            <a:ext cx="10515600" cy="77724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349240"/>
            <a:ext cx="64008" cy="77724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477256"/>
            <a:ext cx="4114800" cy="384048"/>
          </a:xfrm>
          <a:prstGeom prst="rect">
            <a:avLst/>
          </a:prstGeom>
          <a:noFill/>
        </p:spPr>
        <p:txBody>
          <a:bodyPr wrap="square">
            <a:spAutoFit/>
          </a:bodyPr>
          <a:lstStyle/>
          <a:p>
            <a:pPr algn="l"/>
            <a:r>
              <a:rPr sz="1600" b="1" i="0">
                <a:solidFill>
                  <a:srgbClr val="0F172A"/>
                </a:solidFill>
                <a:latin typeface="Calibri"/>
              </a:rPr>
              <a:t>Type Scale generator</a:t>
            </a:r>
          </a:p>
        </p:txBody>
      </p:sp>
      <p:sp>
        <p:nvSpPr>
          <p:cNvPr id="29" name="TextBox 28"/>
          <p:cNvSpPr txBox="1"/>
          <p:nvPr/>
        </p:nvSpPr>
        <p:spPr>
          <a:xfrm>
            <a:off x="5166360" y="5477256"/>
            <a:ext cx="4114800" cy="347472"/>
          </a:xfrm>
          <a:prstGeom prst="rect">
            <a:avLst/>
          </a:prstGeom>
          <a:noFill/>
        </p:spPr>
        <p:txBody>
          <a:bodyPr wrap="square">
            <a:spAutoFit/>
          </a:bodyPr>
          <a:lstStyle/>
          <a:p>
            <a:pPr algn="l"/>
            <a:r>
              <a:rPr sz="1400" b="0" i="1">
                <a:solidFill>
                  <a:srgbClr val="7C3AED"/>
                </a:solidFill>
                <a:latin typeface="Calibri"/>
              </a:rPr>
              <a:t>typescale.com</a:t>
            </a:r>
          </a:p>
        </p:txBody>
      </p:sp>
      <p:sp>
        <p:nvSpPr>
          <p:cNvPr id="30" name="TextBox 29"/>
          <p:cNvSpPr txBox="1"/>
          <p:nvPr/>
        </p:nvSpPr>
        <p:spPr>
          <a:xfrm>
            <a:off x="960120" y="5843016"/>
            <a:ext cx="10131552" cy="320040"/>
          </a:xfrm>
          <a:prstGeom prst="rect">
            <a:avLst/>
          </a:prstGeom>
          <a:noFill/>
        </p:spPr>
        <p:txBody>
          <a:bodyPr wrap="square">
            <a:spAutoFit/>
          </a:bodyPr>
          <a:lstStyle/>
          <a:p>
            <a:pPr algn="l"/>
            <a:r>
              <a:rPr sz="1300" b="0" i="0">
                <a:solidFill>
                  <a:srgbClr val="647487"/>
                </a:solidFill>
                <a:latin typeface="Calibri"/>
              </a:rPr>
              <a:t>Genereer een type scale automatisch</a:t>
            </a:r>
          </a:p>
        </p:txBody>
      </p:sp>
      <p:sp>
        <p:nvSpPr>
          <p:cNvPr id="31" name="TextBox 30"/>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201168" cy="685800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0040"/>
            <a:ext cx="10058400" cy="548640"/>
          </a:xfrm>
          <a:prstGeom prst="rect">
            <a:avLst/>
          </a:prstGeom>
          <a:noFill/>
        </p:spPr>
        <p:txBody>
          <a:bodyPr wrap="square">
            <a:spAutoFit/>
          </a:bodyPr>
          <a:lstStyle/>
          <a:p>
            <a:pPr algn="l"/>
            <a:r>
              <a:rPr sz="2200" b="1" i="0">
                <a:solidFill>
                  <a:srgbClr val="A78BFA"/>
                </a:solidFill>
                <a:latin typeface="Calibri"/>
              </a:rPr>
              <a:t>Opdracht . Les 3</a:t>
            </a:r>
          </a:p>
        </p:txBody>
      </p:sp>
      <p:sp>
        <p:nvSpPr>
          <p:cNvPr id="5" name="TextBox 4"/>
          <p:cNvSpPr txBox="1"/>
          <p:nvPr/>
        </p:nvSpPr>
        <p:spPr>
          <a:xfrm>
            <a:off x="914400" y="841248"/>
            <a:ext cx="10058400" cy="457200"/>
          </a:xfrm>
          <a:prstGeom prst="rect">
            <a:avLst/>
          </a:prstGeom>
          <a:noFill/>
        </p:spPr>
        <p:txBody>
          <a:bodyPr wrap="square">
            <a:spAutoFit/>
          </a:bodyPr>
          <a:lstStyle/>
          <a:p>
            <a:pPr algn="l"/>
            <a:r>
              <a:rPr sz="1600" b="0" i="1">
                <a:solidFill>
                  <a:srgbClr val="B4B4DC"/>
                </a:solidFill>
                <a:latin typeface="Calibri"/>
              </a:rPr>
              <a:t>Goed Doel Website . Typografie</a:t>
            </a:r>
          </a:p>
        </p:txBody>
      </p:sp>
      <p:sp>
        <p:nvSpPr>
          <p:cNvPr id="6" name="Rectangle 5"/>
          <p:cNvSpPr/>
          <p:nvPr/>
        </p:nvSpPr>
        <p:spPr>
          <a:xfrm>
            <a:off x="914400" y="1298448"/>
            <a:ext cx="201168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4984" y="1490472"/>
            <a:ext cx="438912" cy="43891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81912"/>
            <a:ext cx="256032" cy="292608"/>
          </a:xfrm>
          <a:prstGeom prst="rect">
            <a:avLst/>
          </a:prstGeom>
          <a:noFill/>
        </p:spPr>
        <p:txBody>
          <a:bodyPr wrap="square">
            <a:spAutoFit/>
          </a:bodyPr>
          <a:lstStyle/>
          <a:p>
            <a:pPr algn="ctr"/>
            <a:r>
              <a:rPr sz="1200" b="1" i="0">
                <a:solidFill>
                  <a:srgbClr val="FFFFFF"/>
                </a:solidFill>
                <a:latin typeface="Calibri"/>
              </a:rPr>
              <a:t>1</a:t>
            </a:r>
          </a:p>
        </p:txBody>
      </p:sp>
      <p:sp>
        <p:nvSpPr>
          <p:cNvPr id="9" name="TextBox 8"/>
          <p:cNvSpPr txBox="1"/>
          <p:nvPr/>
        </p:nvSpPr>
        <p:spPr>
          <a:xfrm>
            <a:off x="1572768" y="1508760"/>
            <a:ext cx="9601200" cy="402336"/>
          </a:xfrm>
          <a:prstGeom prst="rect">
            <a:avLst/>
          </a:prstGeom>
          <a:noFill/>
        </p:spPr>
        <p:txBody>
          <a:bodyPr wrap="square">
            <a:spAutoFit/>
          </a:bodyPr>
          <a:lstStyle/>
          <a:p>
            <a:pPr algn="l"/>
            <a:r>
              <a:rPr sz="1700" b="0" i="0">
                <a:solidFill>
                  <a:srgbClr val="DCE1FF"/>
                </a:solidFill>
                <a:latin typeface="Calibri"/>
              </a:rPr>
              <a:t>Kies twee Google Fonts: een heading font en een body font</a:t>
            </a:r>
          </a:p>
        </p:txBody>
      </p:sp>
      <p:sp>
        <p:nvSpPr>
          <p:cNvPr id="10" name="Oval 9"/>
          <p:cNvSpPr/>
          <p:nvPr/>
        </p:nvSpPr>
        <p:spPr>
          <a:xfrm>
            <a:off x="1014984" y="2258568"/>
            <a:ext cx="438912" cy="43891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350008"/>
            <a:ext cx="256032" cy="292608"/>
          </a:xfrm>
          <a:prstGeom prst="rect">
            <a:avLst/>
          </a:prstGeom>
          <a:noFill/>
        </p:spPr>
        <p:txBody>
          <a:bodyPr wrap="square">
            <a:spAutoFit/>
          </a:bodyPr>
          <a:lstStyle/>
          <a:p>
            <a:pPr algn="ctr"/>
            <a:r>
              <a:rPr sz="1200" b="1" i="0">
                <a:solidFill>
                  <a:srgbClr val="FFFFFF"/>
                </a:solidFill>
                <a:latin typeface="Calibri"/>
              </a:rPr>
              <a:t>2</a:t>
            </a:r>
          </a:p>
        </p:txBody>
      </p:sp>
      <p:sp>
        <p:nvSpPr>
          <p:cNvPr id="12" name="TextBox 11"/>
          <p:cNvSpPr txBox="1"/>
          <p:nvPr/>
        </p:nvSpPr>
        <p:spPr>
          <a:xfrm>
            <a:off x="1572768" y="2276856"/>
            <a:ext cx="9601200" cy="402336"/>
          </a:xfrm>
          <a:prstGeom prst="rect">
            <a:avLst/>
          </a:prstGeom>
          <a:noFill/>
        </p:spPr>
        <p:txBody>
          <a:bodyPr wrap="square">
            <a:spAutoFit/>
          </a:bodyPr>
          <a:lstStyle/>
          <a:p>
            <a:pPr algn="l"/>
            <a:r>
              <a:rPr sz="1700" b="0" i="0">
                <a:solidFill>
                  <a:srgbClr val="DCE1FF"/>
                </a:solidFill>
                <a:latin typeface="Calibri"/>
              </a:rPr>
              <a:t>Maak een type scale aan in Figma: H1 t/m caption (minimaal 6 stijlen)</a:t>
            </a:r>
          </a:p>
        </p:txBody>
      </p:sp>
      <p:sp>
        <p:nvSpPr>
          <p:cNvPr id="13" name="Oval 12"/>
          <p:cNvSpPr/>
          <p:nvPr/>
        </p:nvSpPr>
        <p:spPr>
          <a:xfrm>
            <a:off x="1014984" y="3026664"/>
            <a:ext cx="438912" cy="43891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18104"/>
            <a:ext cx="256032" cy="292608"/>
          </a:xfrm>
          <a:prstGeom prst="rect">
            <a:avLst/>
          </a:prstGeom>
          <a:noFill/>
        </p:spPr>
        <p:txBody>
          <a:bodyPr wrap="square">
            <a:spAutoFit/>
          </a:bodyPr>
          <a:lstStyle/>
          <a:p>
            <a:pPr algn="ctr"/>
            <a:r>
              <a:rPr sz="1200" b="1" i="0">
                <a:solidFill>
                  <a:srgbClr val="FFFFFF"/>
                </a:solidFill>
                <a:latin typeface="Calibri"/>
              </a:rPr>
              <a:t>3</a:t>
            </a:r>
          </a:p>
        </p:txBody>
      </p:sp>
      <p:sp>
        <p:nvSpPr>
          <p:cNvPr id="15" name="TextBox 14"/>
          <p:cNvSpPr txBox="1"/>
          <p:nvPr/>
        </p:nvSpPr>
        <p:spPr>
          <a:xfrm>
            <a:off x="1572768" y="3044952"/>
            <a:ext cx="9601200" cy="402336"/>
          </a:xfrm>
          <a:prstGeom prst="rect">
            <a:avLst/>
          </a:prstGeom>
          <a:noFill/>
        </p:spPr>
        <p:txBody>
          <a:bodyPr wrap="square">
            <a:spAutoFit/>
          </a:bodyPr>
          <a:lstStyle/>
          <a:p>
            <a:pPr algn="l"/>
            <a:r>
              <a:rPr sz="1700" b="0" i="0">
                <a:solidFill>
                  <a:srgbClr val="DCE1FF"/>
                </a:solidFill>
                <a:latin typeface="Calibri"/>
              </a:rPr>
              <a:t>Verwerk de typografie in je wireframe van les 2</a:t>
            </a:r>
          </a:p>
        </p:txBody>
      </p:sp>
      <p:sp>
        <p:nvSpPr>
          <p:cNvPr id="16" name="Oval 15"/>
          <p:cNvSpPr/>
          <p:nvPr/>
        </p:nvSpPr>
        <p:spPr>
          <a:xfrm>
            <a:off x="1014984" y="3794760"/>
            <a:ext cx="438912" cy="43891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886200"/>
            <a:ext cx="256032" cy="292608"/>
          </a:xfrm>
          <a:prstGeom prst="rect">
            <a:avLst/>
          </a:prstGeom>
          <a:noFill/>
        </p:spPr>
        <p:txBody>
          <a:bodyPr wrap="square">
            <a:spAutoFit/>
          </a:bodyPr>
          <a:lstStyle/>
          <a:p>
            <a:pPr algn="ctr"/>
            <a:r>
              <a:rPr sz="1200" b="1" i="0">
                <a:solidFill>
                  <a:srgbClr val="FFFFFF"/>
                </a:solidFill>
                <a:latin typeface="Calibri"/>
              </a:rPr>
              <a:t>4</a:t>
            </a:r>
          </a:p>
        </p:txBody>
      </p:sp>
      <p:sp>
        <p:nvSpPr>
          <p:cNvPr id="18" name="TextBox 17"/>
          <p:cNvSpPr txBox="1"/>
          <p:nvPr/>
        </p:nvSpPr>
        <p:spPr>
          <a:xfrm>
            <a:off x="1572768" y="3813048"/>
            <a:ext cx="9601200" cy="402336"/>
          </a:xfrm>
          <a:prstGeom prst="rect">
            <a:avLst/>
          </a:prstGeom>
          <a:noFill/>
        </p:spPr>
        <p:txBody>
          <a:bodyPr wrap="square">
            <a:spAutoFit/>
          </a:bodyPr>
          <a:lstStyle/>
          <a:p>
            <a:pPr algn="l"/>
            <a:r>
              <a:rPr sz="1700" b="0" i="0">
                <a:solidFill>
                  <a:srgbClr val="DCE1FF"/>
                </a:solidFill>
                <a:latin typeface="Calibri"/>
              </a:rPr>
              <a:t>Controleer de regellengte van je bodytekst: max 75 karakters</a:t>
            </a:r>
          </a:p>
        </p:txBody>
      </p:sp>
      <p:sp>
        <p:nvSpPr>
          <p:cNvPr id="19" name="Oval 18"/>
          <p:cNvSpPr/>
          <p:nvPr/>
        </p:nvSpPr>
        <p:spPr>
          <a:xfrm>
            <a:off x="1014984" y="4562856"/>
            <a:ext cx="438912" cy="43891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654296"/>
            <a:ext cx="256032" cy="292608"/>
          </a:xfrm>
          <a:prstGeom prst="rect">
            <a:avLst/>
          </a:prstGeom>
          <a:noFill/>
        </p:spPr>
        <p:txBody>
          <a:bodyPr wrap="square">
            <a:spAutoFit/>
          </a:bodyPr>
          <a:lstStyle/>
          <a:p>
            <a:pPr algn="ctr"/>
            <a:r>
              <a:rPr sz="1200" b="1" i="0">
                <a:solidFill>
                  <a:srgbClr val="FFFFFF"/>
                </a:solidFill>
                <a:latin typeface="Calibri"/>
              </a:rPr>
              <a:t>5</a:t>
            </a:r>
          </a:p>
        </p:txBody>
      </p:sp>
      <p:sp>
        <p:nvSpPr>
          <p:cNvPr id="21" name="TextBox 20"/>
          <p:cNvSpPr txBox="1"/>
          <p:nvPr/>
        </p:nvSpPr>
        <p:spPr>
          <a:xfrm>
            <a:off x="1572768" y="4581144"/>
            <a:ext cx="9601200" cy="402336"/>
          </a:xfrm>
          <a:prstGeom prst="rect">
            <a:avLst/>
          </a:prstGeom>
          <a:noFill/>
        </p:spPr>
        <p:txBody>
          <a:bodyPr wrap="square">
            <a:spAutoFit/>
          </a:bodyPr>
          <a:lstStyle/>
          <a:p>
            <a:pPr algn="l"/>
            <a:r>
              <a:rPr sz="1700" b="0" i="0">
                <a:solidFill>
                  <a:srgbClr val="DCE1FF"/>
                </a:solidFill>
                <a:latin typeface="Calibri"/>
              </a:rPr>
              <a:t>Lever je Figma link in via de leeromgeving voor les 4</a:t>
            </a:r>
          </a:p>
        </p:txBody>
      </p:sp>
      <p:sp>
        <p:nvSpPr>
          <p:cNvPr id="22" name="Rectangle 21"/>
          <p:cNvSpPr/>
          <p:nvPr/>
        </p:nvSpPr>
        <p:spPr>
          <a:xfrm>
            <a:off x="822960" y="6035040"/>
            <a:ext cx="10515600" cy="59436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6035040"/>
            <a:ext cx="64008" cy="59436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6126480"/>
            <a:ext cx="10058400" cy="438912"/>
          </a:xfrm>
          <a:prstGeom prst="rect">
            <a:avLst/>
          </a:prstGeom>
          <a:noFill/>
        </p:spPr>
        <p:txBody>
          <a:bodyPr wrap="square">
            <a:spAutoFit/>
          </a:bodyPr>
          <a:lstStyle/>
          <a:p>
            <a:pPr algn="l"/>
            <a:r>
              <a:rPr sz="1300" b="0" i="0">
                <a:solidFill>
                  <a:srgbClr val="B4C8FF"/>
                </a:solidFill>
                <a:latin typeface="Calibri"/>
              </a:rPr>
              <a:t>Tip: bekijk fonts.google.com/knowledge voor uitleg over welke fonts goed samen werken</a:t>
            </a:r>
          </a:p>
        </p:txBody>
      </p:sp>
      <p:sp>
        <p:nvSpPr>
          <p:cNvPr id="25" name="TextBox 24"/>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201168" cy="685800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10058400" cy="822960"/>
          </a:xfrm>
          <a:prstGeom prst="rect">
            <a:avLst/>
          </a:prstGeom>
          <a:noFill/>
        </p:spPr>
        <p:txBody>
          <a:bodyPr wrap="square">
            <a:spAutoFit/>
          </a:bodyPr>
          <a:lstStyle/>
          <a:p>
            <a:pPr algn="l"/>
            <a:r>
              <a:rPr sz="4000" b="1" i="0">
                <a:solidFill>
                  <a:srgbClr val="FFFFFF"/>
                </a:solidFill>
                <a:latin typeface="Calibri"/>
              </a:rPr>
              <a:t>Volgende les</a:t>
            </a:r>
          </a:p>
        </p:txBody>
      </p:sp>
      <p:sp>
        <p:nvSpPr>
          <p:cNvPr id="5" name="Rectangle 4"/>
          <p:cNvSpPr/>
          <p:nvPr/>
        </p:nvSpPr>
        <p:spPr>
          <a:xfrm>
            <a:off x="914400" y="1261872"/>
            <a:ext cx="2286000" cy="73152"/>
          </a:xfrm>
          <a:prstGeom prst="rect">
            <a:avLst/>
          </a:prstGeom>
          <a:gradFill rotWithShape="1">
            <a:gsLst>
              <a:gs pos="0">
                <a:srgbClr val="7C3AED"/>
              </a:gs>
              <a:gs pos="100000">
                <a:srgbClr val="A78BF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89888"/>
            <a:ext cx="8229600" cy="594360"/>
          </a:xfrm>
          <a:prstGeom prst="rect">
            <a:avLst/>
          </a:prstGeom>
          <a:noFill/>
        </p:spPr>
        <p:txBody>
          <a:bodyPr wrap="square">
            <a:spAutoFit/>
          </a:bodyPr>
          <a:lstStyle/>
          <a:p>
            <a:pPr algn="l"/>
            <a:r>
              <a:rPr sz="2800" b="1" i="0">
                <a:solidFill>
                  <a:srgbClr val="A78BFA"/>
                </a:solidFill>
                <a:latin typeface="Calibri"/>
              </a:rPr>
              <a:t>Kleur en Contrast</a:t>
            </a:r>
          </a:p>
        </p:txBody>
      </p:sp>
      <p:sp>
        <p:nvSpPr>
          <p:cNvPr id="7" name="Rectangle 6"/>
          <p:cNvSpPr/>
          <p:nvPr/>
        </p:nvSpPr>
        <p:spPr>
          <a:xfrm>
            <a:off x="914400" y="2148840"/>
            <a:ext cx="10241280" cy="621792"/>
          </a:xfrm>
          <a:prstGeom prst="rect">
            <a:avLst/>
          </a:prstGeom>
          <a:solidFill>
            <a:srgbClr val="121C48"/>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2148840"/>
            <a:ext cx="64008" cy="621792"/>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276856"/>
            <a:ext cx="9857232" cy="438912"/>
          </a:xfrm>
          <a:prstGeom prst="rect">
            <a:avLst/>
          </a:prstGeom>
          <a:noFill/>
        </p:spPr>
        <p:txBody>
          <a:bodyPr wrap="square">
            <a:spAutoFit/>
          </a:bodyPr>
          <a:lstStyle/>
          <a:p>
            <a:pPr algn="l"/>
            <a:r>
              <a:rPr sz="1500" b="0" i="0">
                <a:solidFill>
                  <a:srgbClr val="D2D7FF"/>
                </a:solidFill>
                <a:latin typeface="Calibri"/>
              </a:rPr>
              <a:t>WCAG contrast ratio's en toegankelijkheid</a:t>
            </a:r>
          </a:p>
        </p:txBody>
      </p:sp>
      <p:sp>
        <p:nvSpPr>
          <p:cNvPr id="10" name="Rectangle 9"/>
          <p:cNvSpPr/>
          <p:nvPr/>
        </p:nvSpPr>
        <p:spPr>
          <a:xfrm>
            <a:off x="914400" y="2898648"/>
            <a:ext cx="10241280" cy="621792"/>
          </a:xfrm>
          <a:prstGeom prst="rect">
            <a:avLst/>
          </a:prstGeom>
          <a:solidFill>
            <a:srgbClr val="121C48"/>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898648"/>
            <a:ext cx="64008" cy="621792"/>
          </a:xfrm>
          <a:prstGeom prst="rect">
            <a:avLst/>
          </a:prstGeom>
          <a:gradFill rotWithShape="1">
            <a:gsLst>
              <a:gs pos="0">
                <a:srgbClr val="6D28D9"/>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026664"/>
            <a:ext cx="9857232" cy="438912"/>
          </a:xfrm>
          <a:prstGeom prst="rect">
            <a:avLst/>
          </a:prstGeom>
          <a:noFill/>
        </p:spPr>
        <p:txBody>
          <a:bodyPr wrap="square">
            <a:spAutoFit/>
          </a:bodyPr>
          <a:lstStyle/>
          <a:p>
            <a:pPr algn="l"/>
            <a:r>
              <a:rPr sz="1500" b="0" i="0">
                <a:solidFill>
                  <a:srgbClr val="D2D7FF"/>
                </a:solidFill>
                <a:latin typeface="Calibri"/>
              </a:rPr>
              <a:t>Kleurharmonie: aanvullend, triadisch en analoog</a:t>
            </a:r>
          </a:p>
        </p:txBody>
      </p:sp>
      <p:sp>
        <p:nvSpPr>
          <p:cNvPr id="13" name="Rectangle 12"/>
          <p:cNvSpPr/>
          <p:nvPr/>
        </p:nvSpPr>
        <p:spPr>
          <a:xfrm>
            <a:off x="914400" y="3648456"/>
            <a:ext cx="10241280" cy="621792"/>
          </a:xfrm>
          <a:prstGeom prst="rect">
            <a:avLst/>
          </a:prstGeom>
          <a:solidFill>
            <a:srgbClr val="121C48"/>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648456"/>
            <a:ext cx="64008" cy="621792"/>
          </a:xfrm>
          <a:prstGeom prst="rect">
            <a:avLst/>
          </a:prstGeom>
          <a:gradFill rotWithShape="1">
            <a:gsLst>
              <a:gs pos="0">
                <a:srgbClr val="5B21B6"/>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3776472"/>
            <a:ext cx="9857232" cy="438912"/>
          </a:xfrm>
          <a:prstGeom prst="rect">
            <a:avLst/>
          </a:prstGeom>
          <a:noFill/>
        </p:spPr>
        <p:txBody>
          <a:bodyPr wrap="square">
            <a:spAutoFit/>
          </a:bodyPr>
          <a:lstStyle/>
          <a:p>
            <a:pPr algn="l"/>
            <a:r>
              <a:rPr sz="1500" b="0" i="0">
                <a:solidFill>
                  <a:srgbClr val="D2D7FF"/>
                </a:solidFill>
                <a:latin typeface="Calibri"/>
              </a:rPr>
              <a:t>Semantische kleuren voor states (success, error, warning)</a:t>
            </a:r>
          </a:p>
        </p:txBody>
      </p:sp>
      <p:sp>
        <p:nvSpPr>
          <p:cNvPr id="16" name="Rectangle 15"/>
          <p:cNvSpPr/>
          <p:nvPr/>
        </p:nvSpPr>
        <p:spPr>
          <a:xfrm>
            <a:off x="914400" y="4398264"/>
            <a:ext cx="10241280" cy="621792"/>
          </a:xfrm>
          <a:prstGeom prst="rect">
            <a:avLst/>
          </a:prstGeom>
          <a:solidFill>
            <a:srgbClr val="121C48"/>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4398264"/>
            <a:ext cx="64008" cy="621792"/>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526280"/>
            <a:ext cx="9857232" cy="438912"/>
          </a:xfrm>
          <a:prstGeom prst="rect">
            <a:avLst/>
          </a:prstGeom>
          <a:noFill/>
        </p:spPr>
        <p:txBody>
          <a:bodyPr wrap="square">
            <a:spAutoFit/>
          </a:bodyPr>
          <a:lstStyle/>
          <a:p>
            <a:pPr algn="l"/>
            <a:r>
              <a:rPr sz="1500" b="0" i="0">
                <a:solidFill>
                  <a:srgbClr val="D2D7FF"/>
                </a:solidFill>
                <a:latin typeface="Calibri"/>
              </a:rPr>
              <a:t>Kleurpaletten opzetten in Figma</a:t>
            </a:r>
          </a:p>
        </p:txBody>
      </p:sp>
      <p:sp>
        <p:nvSpPr>
          <p:cNvPr id="19" name="Rectangle 18"/>
          <p:cNvSpPr/>
          <p:nvPr/>
        </p:nvSpPr>
        <p:spPr>
          <a:xfrm>
            <a:off x="822960" y="5989320"/>
            <a:ext cx="10515600" cy="64008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989320"/>
            <a:ext cx="64008" cy="640080"/>
          </a:xfrm>
          <a:prstGeom prst="rect">
            <a:avLst/>
          </a:prstGeom>
          <a:gradFill rotWithShape="1">
            <a:gsLst>
              <a:gs pos="0">
                <a:srgbClr val="7C3AED"/>
              </a:gs>
              <a:gs pos="100000">
                <a:srgbClr val="A78BFA"/>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6089904"/>
            <a:ext cx="10058400" cy="475488"/>
          </a:xfrm>
          <a:prstGeom prst="rect">
            <a:avLst/>
          </a:prstGeom>
          <a:noFill/>
        </p:spPr>
        <p:txBody>
          <a:bodyPr wrap="square">
            <a:spAutoFit/>
          </a:bodyPr>
          <a:lstStyle/>
          <a:p>
            <a:pPr algn="l"/>
            <a:r>
              <a:rPr sz="1300" b="0" i="0">
                <a:solidFill>
                  <a:srgbClr val="B4C8FF"/>
                </a:solidFill>
                <a:latin typeface="Calibri"/>
              </a:rPr>
              <a:t>Kijk alvast naar coolors.co en kies drie kleuren die passen bij het thema van jouw goed doel</a:t>
            </a:r>
          </a:p>
        </p:txBody>
      </p:sp>
      <p:sp>
        <p:nvSpPr>
          <p:cNvPr id="22" name="TextBox 21"/>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