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bij les 5. Vandaag leer je hoe je ontwerpen opbouwt als een systeem van herbruikbare componenten - net zoals developers dat doen met code. Dit is een cruciale stap in professioneel ontwerpen.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 de agenda door. Leg uit dat alles wat we in de vorige lessen hebben gedaan (wit ruimte, typografie, kleur) nu samenkomt in een systeem. Vandaag leren studenten denken als een design system engineer.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een van de bekende design systems zien op het scherm. Material Design is goed toegankelijk en gratis. Vraag: 'Welke websites gebruiken denk je een design system?' - bijna alle grote platforms.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Atomic Design is een methode van Brad Frost uit 2013. Het helpt ontwerpers denken in herbruikbare eenheden. Vergelijk met LEGO: losse blokjes (atoms) vormen samen grotere structuren. Vraag studenten: welke atoms kennen ze al van hun goed doel ontwerp?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 dit live voor in Figma. Maak een eenvoudige knop-shape, stijl hem, en gebruik dan Ctrl+Alt+K. Laat zien hoe de ruitvorm verschijnt. Maak daarna een instance door Alt+slepen en verander de master. Studenten zien het effect direct.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Varianten zijn een van de krachtigste functies van Figma. Laat zien hoe je in Figma een component set maakt en varianten toevoegt. Leg uit dat dit in code overeenkomt met CSS klassen of props in React.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in Figma: maak een knop zonder Auto Layout en typ een langere tekst. Laat zien dat het overloopt. Zet dan Auto Layout aan en doe hetzelfde. Studenten zien direct het verschil. Vergelijk met CSS flexbox die ze later zullen gebruiken.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States zijn essentieel voor een goede gebruikerservaring. Gebruikers verwachten visuele feedback bij interactie. Leg uit dat in Figma states als varianten worden gedefinieerd en dat developers later de CSS :hover, :active en :disabled pseudo-classes gebruiken.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 dit live in Figma samen met studenten. De navigatie is een perfect voorbeeld van een organism in atomic design: het bestaat uit logo (atom), links (atoms) en een knop-component (molecule). Benadruk dat de 'scrolled' variant nuttig is voor sticky navigatie.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hero is het gezicht van de goed doel website. Benadruk dat studenten nu hun eerder gemaakte knop-component hergebruiken als instance. Dit is het moment waarop het design system echt gaat werken: een stijlwijziging in de master knop past automatisch de hero bij.</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 van terugblik. Studenten hebben in 5 lessen de fundamenten gelegd van een design system. Vergelijk dit met professionele systemen als Material Design - die zijn ook ooit klein begonnen. Moedig studenten aan trots te zijn op wat ze hebben opgebouwd.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Stuur de links na de les via de cursuspagina. Atomic Design van Brad Frost is gratis online beschikbaar. Storybook is handig om later te laten zien als studenten verder gaan met development. Material Design geeft goed inzicht in hoe grote bedrijven design systems documenteren.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Geef studenten 20 minuten voor deze oefening. Loop rond en help individueel. Veel studenten zullen moeite hebben met de variant property namen - wijs ze op de Figma documentatie. Stap 3 (instances gebruiken) is het meest waardevol: dat is het aha-moment van design systems.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Inleverdeadline: voor de volgende les. Controleer of studenten: (1) echte Figma components gebruiken, niet gewoon gekopieerde shapes, (2) Auto Layout correct hebben ingesteld, (3) instances gebruiken in plaats van kopieeen. Dit zijn de drie grootste valkuilen.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Sluit de les af met een korte samenvatting: vandaag hebben studenten geleerd wat een design system is, hoe atomic design werkt, hoe je Figma components maakt met varianten en Auto Layout, en hoe je deze toepast op het goed doel project. Volgende les is de finale van periode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1645920"/>
            <a:ext cx="109728" cy="347472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7315200" cy="502920"/>
          </a:xfrm>
          <a:prstGeom prst="rect">
            <a:avLst/>
          </a:prstGeom>
          <a:noFill/>
        </p:spPr>
        <p:txBody>
          <a:bodyPr wrap="square">
            <a:spAutoFit/>
          </a:bodyPr>
          <a:lstStyle/>
          <a:p>
            <a:pPr algn="l"/>
            <a:r>
              <a:rPr sz="1600" b="0" i="1">
                <a:solidFill>
                  <a:srgbClr val="B4F0C8"/>
                </a:solidFill>
                <a:latin typeface="Calibri"/>
              </a:rPr>
              <a:t>Les 5</a:t>
            </a:r>
          </a:p>
        </p:txBody>
      </p:sp>
      <p:sp>
        <p:nvSpPr>
          <p:cNvPr id="5" name="TextBox 4"/>
          <p:cNvSpPr txBox="1"/>
          <p:nvPr/>
        </p:nvSpPr>
        <p:spPr>
          <a:xfrm>
            <a:off x="365760" y="1645920"/>
            <a:ext cx="9144000" cy="2011680"/>
          </a:xfrm>
          <a:prstGeom prst="rect">
            <a:avLst/>
          </a:prstGeom>
          <a:noFill/>
        </p:spPr>
        <p:txBody>
          <a:bodyPr wrap="square">
            <a:spAutoFit/>
          </a:bodyPr>
          <a:lstStyle/>
          <a:p>
            <a:pPr algn="l"/>
            <a:r>
              <a:rPr sz="5200" b="1" i="0">
                <a:solidFill>
                  <a:srgbClr val="FFFFFF"/>
                </a:solidFill>
                <a:latin typeface="Calibri"/>
              </a:rPr>
              <a:t>Componenten
en Design Systems</a:t>
            </a:r>
          </a:p>
        </p:txBody>
      </p:sp>
      <p:sp>
        <p:nvSpPr>
          <p:cNvPr id="6" name="TextBox 5"/>
          <p:cNvSpPr txBox="1"/>
          <p:nvPr/>
        </p:nvSpPr>
        <p:spPr>
          <a:xfrm>
            <a:off x="365760" y="3611880"/>
            <a:ext cx="7315200" cy="457200"/>
          </a:xfrm>
          <a:prstGeom prst="rect">
            <a:avLst/>
          </a:prstGeom>
          <a:noFill/>
        </p:spPr>
        <p:txBody>
          <a:bodyPr wrap="square">
            <a:spAutoFit/>
          </a:bodyPr>
          <a:lstStyle/>
          <a:p>
            <a:pPr algn="l"/>
            <a:r>
              <a:rPr sz="1600" b="0" i="0">
                <a:solidFill>
                  <a:srgbClr val="B4F0C8"/>
                </a:solidFill>
                <a:latin typeface="Calibri"/>
              </a:rPr>
              <a:t>Periode 1  |  Les 5</a:t>
            </a:r>
          </a:p>
        </p:txBody>
      </p:sp>
      <p:sp>
        <p:nvSpPr>
          <p:cNvPr id="7" name="Rectangle 6"/>
          <p:cNvSpPr/>
          <p:nvPr/>
        </p:nvSpPr>
        <p:spPr>
          <a:xfrm>
            <a:off x="365760" y="4160520"/>
            <a:ext cx="2743200" cy="64008"/>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4297680"/>
            <a:ext cx="9144000" cy="457200"/>
          </a:xfrm>
          <a:prstGeom prst="rect">
            <a:avLst/>
          </a:prstGeom>
          <a:noFill/>
        </p:spPr>
        <p:txBody>
          <a:bodyPr wrap="square">
            <a:spAutoFit/>
          </a:bodyPr>
          <a:lstStyle/>
          <a:p>
            <a:pPr algn="l"/>
            <a:r>
              <a:rPr sz="1700" b="0" i="1">
                <a:solidFill>
                  <a:srgbClr val="C8E6FF"/>
                </a:solidFill>
                <a:latin typeface="Calibri"/>
              </a:rPr>
              <a:t>Ontwerpen als systeem, niet als losse onderdelen</a:t>
            </a:r>
          </a:p>
        </p:txBody>
      </p:sp>
      <p:sp>
        <p:nvSpPr>
          <p:cNvPr id="9" name="Oval 8"/>
          <p:cNvSpPr/>
          <p:nvPr/>
        </p:nvSpPr>
        <p:spPr>
          <a:xfrm>
            <a:off x="10012680" y="868680"/>
            <a:ext cx="1005840" cy="100584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81360" y="1645920"/>
            <a:ext cx="548640" cy="548640"/>
          </a:xfrm>
          <a:prstGeom prst="ellipse">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92640" y="5120640"/>
            <a:ext cx="365760" cy="36576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Vandaag</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Les 5 overzicht</a:t>
            </a:r>
          </a:p>
        </p:txBody>
      </p:sp>
      <p:sp>
        <p:nvSpPr>
          <p:cNvPr id="6" name="Rectangle 5"/>
          <p:cNvSpPr/>
          <p:nvPr/>
        </p:nvSpPr>
        <p:spPr>
          <a:xfrm>
            <a:off x="914400" y="1691640"/>
            <a:ext cx="10058400" cy="62179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691640"/>
            <a:ext cx="64008" cy="621792"/>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19656"/>
            <a:ext cx="320040" cy="493776"/>
          </a:xfrm>
          <a:prstGeom prst="rect">
            <a:avLst/>
          </a:prstGeom>
          <a:noFill/>
        </p:spPr>
        <p:txBody>
          <a:bodyPr wrap="square">
            <a:spAutoFit/>
          </a:bodyPr>
          <a:lstStyle/>
          <a:p>
            <a:pPr algn="l"/>
            <a:r>
              <a:rPr sz="1700" b="1" i="0">
                <a:solidFill>
                  <a:srgbClr val="16A34A"/>
                </a:solidFill>
                <a:latin typeface="Calibri"/>
              </a:rPr>
              <a:t>1.</a:t>
            </a:r>
          </a:p>
        </p:txBody>
      </p:sp>
      <p:sp>
        <p:nvSpPr>
          <p:cNvPr id="9" name="TextBox 8"/>
          <p:cNvSpPr txBox="1"/>
          <p:nvPr/>
        </p:nvSpPr>
        <p:spPr>
          <a:xfrm>
            <a:off x="1417320" y="1819656"/>
            <a:ext cx="9235440" cy="493776"/>
          </a:xfrm>
          <a:prstGeom prst="rect">
            <a:avLst/>
          </a:prstGeom>
          <a:noFill/>
        </p:spPr>
        <p:txBody>
          <a:bodyPr wrap="square">
            <a:spAutoFit/>
          </a:bodyPr>
          <a:lstStyle/>
          <a:p>
            <a:pPr algn="l"/>
            <a:r>
              <a:rPr sz="1700" b="0" i="0">
                <a:solidFill>
                  <a:srgbClr val="0F172A"/>
                </a:solidFill>
                <a:latin typeface="Calibri"/>
              </a:rPr>
              <a:t>Wat is een design system en waarom gebruik je het</a:t>
            </a:r>
          </a:p>
        </p:txBody>
      </p:sp>
      <p:sp>
        <p:nvSpPr>
          <p:cNvPr id="10" name="Rectangle 9"/>
          <p:cNvSpPr/>
          <p:nvPr/>
        </p:nvSpPr>
        <p:spPr>
          <a:xfrm>
            <a:off x="914400" y="2386584"/>
            <a:ext cx="10058400" cy="62179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386584"/>
            <a:ext cx="64008" cy="621792"/>
          </a:xfrm>
          <a:prstGeom prst="rect">
            <a:avLst/>
          </a:prstGeom>
          <a:gradFill rotWithShape="1">
            <a:gsLst>
              <a:gs pos="0">
                <a:srgbClr val="2563EB"/>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514600"/>
            <a:ext cx="320040" cy="493776"/>
          </a:xfrm>
          <a:prstGeom prst="rect">
            <a:avLst/>
          </a:prstGeom>
          <a:noFill/>
        </p:spPr>
        <p:txBody>
          <a:bodyPr wrap="square">
            <a:spAutoFit/>
          </a:bodyPr>
          <a:lstStyle/>
          <a:p>
            <a:pPr algn="l"/>
            <a:r>
              <a:rPr sz="1700" b="1" i="0">
                <a:solidFill>
                  <a:srgbClr val="2563EB"/>
                </a:solidFill>
                <a:latin typeface="Calibri"/>
              </a:rPr>
              <a:t>2.</a:t>
            </a:r>
          </a:p>
        </p:txBody>
      </p:sp>
      <p:sp>
        <p:nvSpPr>
          <p:cNvPr id="13" name="TextBox 12"/>
          <p:cNvSpPr txBox="1"/>
          <p:nvPr/>
        </p:nvSpPr>
        <p:spPr>
          <a:xfrm>
            <a:off x="1417320" y="2514600"/>
            <a:ext cx="9235440" cy="493776"/>
          </a:xfrm>
          <a:prstGeom prst="rect">
            <a:avLst/>
          </a:prstGeom>
          <a:noFill/>
        </p:spPr>
        <p:txBody>
          <a:bodyPr wrap="square">
            <a:spAutoFit/>
          </a:bodyPr>
          <a:lstStyle/>
          <a:p>
            <a:pPr algn="l"/>
            <a:r>
              <a:rPr sz="1700" b="0" i="0">
                <a:solidFill>
                  <a:srgbClr val="0F172A"/>
                </a:solidFill>
                <a:latin typeface="Calibri"/>
              </a:rPr>
              <a:t>Atomic design: atoms, molecules, organisms</a:t>
            </a:r>
          </a:p>
        </p:txBody>
      </p:sp>
      <p:sp>
        <p:nvSpPr>
          <p:cNvPr id="14" name="Rectangle 13"/>
          <p:cNvSpPr/>
          <p:nvPr/>
        </p:nvSpPr>
        <p:spPr>
          <a:xfrm>
            <a:off x="914400" y="3081528"/>
            <a:ext cx="10058400" cy="62179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3081528"/>
            <a:ext cx="64008" cy="621792"/>
          </a:xfrm>
          <a:prstGeom prst="rect">
            <a:avLst/>
          </a:prstGeom>
          <a:gradFill rotWithShape="1">
            <a:gsLst>
              <a:gs pos="0">
                <a:srgbClr val="7C3AED"/>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209544"/>
            <a:ext cx="320040" cy="493776"/>
          </a:xfrm>
          <a:prstGeom prst="rect">
            <a:avLst/>
          </a:prstGeom>
          <a:noFill/>
        </p:spPr>
        <p:txBody>
          <a:bodyPr wrap="square">
            <a:spAutoFit/>
          </a:bodyPr>
          <a:lstStyle/>
          <a:p>
            <a:pPr algn="l"/>
            <a:r>
              <a:rPr sz="1700" b="1" i="0">
                <a:solidFill>
                  <a:srgbClr val="7C3AED"/>
                </a:solidFill>
                <a:latin typeface="Calibri"/>
              </a:rPr>
              <a:t>3.</a:t>
            </a:r>
          </a:p>
        </p:txBody>
      </p:sp>
      <p:sp>
        <p:nvSpPr>
          <p:cNvPr id="17" name="TextBox 16"/>
          <p:cNvSpPr txBox="1"/>
          <p:nvPr/>
        </p:nvSpPr>
        <p:spPr>
          <a:xfrm>
            <a:off x="1417320" y="3209544"/>
            <a:ext cx="9235440" cy="493776"/>
          </a:xfrm>
          <a:prstGeom prst="rect">
            <a:avLst/>
          </a:prstGeom>
          <a:noFill/>
        </p:spPr>
        <p:txBody>
          <a:bodyPr wrap="square">
            <a:spAutoFit/>
          </a:bodyPr>
          <a:lstStyle/>
          <a:p>
            <a:pPr algn="l"/>
            <a:r>
              <a:rPr sz="1700" b="0" i="0">
                <a:solidFill>
                  <a:srgbClr val="0F172A"/>
                </a:solidFill>
                <a:latin typeface="Calibri"/>
              </a:rPr>
              <a:t>Figma: je eerste component aanmaken</a:t>
            </a:r>
          </a:p>
        </p:txBody>
      </p:sp>
      <p:sp>
        <p:nvSpPr>
          <p:cNvPr id="18" name="Rectangle 17"/>
          <p:cNvSpPr/>
          <p:nvPr/>
        </p:nvSpPr>
        <p:spPr>
          <a:xfrm>
            <a:off x="914400" y="3776472"/>
            <a:ext cx="10058400" cy="62179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3776472"/>
            <a:ext cx="64008" cy="621792"/>
          </a:xfrm>
          <a:prstGeom prst="rect">
            <a:avLst/>
          </a:prstGeom>
          <a:gradFill rotWithShape="1">
            <a:gsLst>
              <a:gs pos="0">
                <a:srgbClr val="0D9488"/>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904488"/>
            <a:ext cx="320040" cy="493776"/>
          </a:xfrm>
          <a:prstGeom prst="rect">
            <a:avLst/>
          </a:prstGeom>
          <a:noFill/>
        </p:spPr>
        <p:txBody>
          <a:bodyPr wrap="square">
            <a:spAutoFit/>
          </a:bodyPr>
          <a:lstStyle/>
          <a:p>
            <a:pPr algn="l"/>
            <a:r>
              <a:rPr sz="1700" b="1" i="0">
                <a:solidFill>
                  <a:srgbClr val="0D9488"/>
                </a:solidFill>
                <a:latin typeface="Calibri"/>
              </a:rPr>
              <a:t>4.</a:t>
            </a:r>
          </a:p>
        </p:txBody>
      </p:sp>
      <p:sp>
        <p:nvSpPr>
          <p:cNvPr id="21" name="TextBox 20"/>
          <p:cNvSpPr txBox="1"/>
          <p:nvPr/>
        </p:nvSpPr>
        <p:spPr>
          <a:xfrm>
            <a:off x="1417320" y="3904488"/>
            <a:ext cx="9235440" cy="493776"/>
          </a:xfrm>
          <a:prstGeom prst="rect">
            <a:avLst/>
          </a:prstGeom>
          <a:noFill/>
        </p:spPr>
        <p:txBody>
          <a:bodyPr wrap="square">
            <a:spAutoFit/>
          </a:bodyPr>
          <a:lstStyle/>
          <a:p>
            <a:pPr algn="l"/>
            <a:r>
              <a:rPr sz="1700" b="0" i="0">
                <a:solidFill>
                  <a:srgbClr val="0F172A"/>
                </a:solidFill>
                <a:latin typeface="Calibri"/>
              </a:rPr>
              <a:t>Varianten en properties instellen</a:t>
            </a:r>
          </a:p>
        </p:txBody>
      </p:sp>
      <p:sp>
        <p:nvSpPr>
          <p:cNvPr id="22" name="Rectangle 21"/>
          <p:cNvSpPr/>
          <p:nvPr/>
        </p:nvSpPr>
        <p:spPr>
          <a:xfrm>
            <a:off x="914400" y="4471416"/>
            <a:ext cx="10058400" cy="62179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4471416"/>
            <a:ext cx="64008" cy="621792"/>
          </a:xfrm>
          <a:prstGeom prst="rect">
            <a:avLst/>
          </a:prstGeom>
          <a:gradFill rotWithShape="1">
            <a:gsLst>
              <a:gs pos="0">
                <a:srgbClr val="D97706"/>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599432"/>
            <a:ext cx="320040" cy="493776"/>
          </a:xfrm>
          <a:prstGeom prst="rect">
            <a:avLst/>
          </a:prstGeom>
          <a:noFill/>
        </p:spPr>
        <p:txBody>
          <a:bodyPr wrap="square">
            <a:spAutoFit/>
          </a:bodyPr>
          <a:lstStyle/>
          <a:p>
            <a:pPr algn="l"/>
            <a:r>
              <a:rPr sz="1700" b="1" i="0">
                <a:solidFill>
                  <a:srgbClr val="D97706"/>
                </a:solidFill>
                <a:latin typeface="Calibri"/>
              </a:rPr>
              <a:t>5.</a:t>
            </a:r>
          </a:p>
        </p:txBody>
      </p:sp>
      <p:sp>
        <p:nvSpPr>
          <p:cNvPr id="25" name="TextBox 24"/>
          <p:cNvSpPr txBox="1"/>
          <p:nvPr/>
        </p:nvSpPr>
        <p:spPr>
          <a:xfrm>
            <a:off x="1417320" y="4599432"/>
            <a:ext cx="9235440" cy="493776"/>
          </a:xfrm>
          <a:prstGeom prst="rect">
            <a:avLst/>
          </a:prstGeom>
          <a:noFill/>
        </p:spPr>
        <p:txBody>
          <a:bodyPr wrap="square">
            <a:spAutoFit/>
          </a:bodyPr>
          <a:lstStyle/>
          <a:p>
            <a:pPr algn="l"/>
            <a:r>
              <a:rPr sz="1700" b="0" i="0">
                <a:solidFill>
                  <a:srgbClr val="0F172A"/>
                </a:solidFill>
                <a:latin typeface="Calibri"/>
              </a:rPr>
              <a:t>Auto Layout voor flexibele componenten</a:t>
            </a:r>
          </a:p>
        </p:txBody>
      </p:sp>
      <p:sp>
        <p:nvSpPr>
          <p:cNvPr id="26" name="Rectangle 25"/>
          <p:cNvSpPr/>
          <p:nvPr/>
        </p:nvSpPr>
        <p:spPr>
          <a:xfrm>
            <a:off x="914400" y="5166360"/>
            <a:ext cx="10058400" cy="62179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5166360"/>
            <a:ext cx="64008" cy="621792"/>
          </a:xfrm>
          <a:prstGeom prst="rect">
            <a:avLst/>
          </a:prstGeom>
          <a:gradFill rotWithShape="1">
            <a:gsLst>
              <a:gs pos="0">
                <a:srgbClr val="DC2626"/>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294376"/>
            <a:ext cx="320040" cy="493776"/>
          </a:xfrm>
          <a:prstGeom prst="rect">
            <a:avLst/>
          </a:prstGeom>
          <a:noFill/>
        </p:spPr>
        <p:txBody>
          <a:bodyPr wrap="square">
            <a:spAutoFit/>
          </a:bodyPr>
          <a:lstStyle/>
          <a:p>
            <a:pPr algn="l"/>
            <a:r>
              <a:rPr sz="1700" b="1" i="0">
                <a:solidFill>
                  <a:srgbClr val="DC2626"/>
                </a:solidFill>
                <a:latin typeface="Calibri"/>
              </a:rPr>
              <a:t>6.</a:t>
            </a:r>
          </a:p>
        </p:txBody>
      </p:sp>
      <p:sp>
        <p:nvSpPr>
          <p:cNvPr id="29" name="TextBox 28"/>
          <p:cNvSpPr txBox="1"/>
          <p:nvPr/>
        </p:nvSpPr>
        <p:spPr>
          <a:xfrm>
            <a:off x="1417320" y="5294376"/>
            <a:ext cx="9235440" cy="493776"/>
          </a:xfrm>
          <a:prstGeom prst="rect">
            <a:avLst/>
          </a:prstGeom>
          <a:noFill/>
        </p:spPr>
        <p:txBody>
          <a:bodyPr wrap="square">
            <a:spAutoFit/>
          </a:bodyPr>
          <a:lstStyle/>
          <a:p>
            <a:pPr algn="l"/>
            <a:r>
              <a:rPr sz="1700" b="0" i="0">
                <a:solidFill>
                  <a:srgbClr val="0F172A"/>
                </a:solidFill>
                <a:latin typeface="Calibri"/>
              </a:rPr>
              <a:t>Goed doel: hero en navigatie als component</a:t>
            </a:r>
          </a:p>
        </p:txBody>
      </p:sp>
      <p:sp>
        <p:nvSpPr>
          <p:cNvPr id="30" name="TextBox 29"/>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060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365760"/>
            <a:ext cx="4297680" cy="640080"/>
          </a:xfrm>
          <a:prstGeom prst="rect">
            <a:avLst/>
          </a:prstGeom>
          <a:noFill/>
        </p:spPr>
        <p:txBody>
          <a:bodyPr wrap="square">
            <a:spAutoFit/>
          </a:bodyPr>
          <a:lstStyle/>
          <a:p>
            <a:pPr algn="l"/>
            <a:r>
              <a:rPr sz="2200" b="1" i="0">
                <a:solidFill>
                  <a:srgbClr val="FFFFFF"/>
                </a:solidFill>
                <a:latin typeface="Calibri"/>
              </a:rPr>
              <a:t>Wat is een design system?</a:t>
            </a:r>
          </a:p>
        </p:txBody>
      </p:sp>
      <p:sp>
        <p:nvSpPr>
          <p:cNvPr id="5" name="Rectangle 4"/>
          <p:cNvSpPr/>
          <p:nvPr/>
        </p:nvSpPr>
        <p:spPr>
          <a:xfrm>
            <a:off x="228600" y="1024128"/>
            <a:ext cx="1371600" cy="64008"/>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170432"/>
            <a:ext cx="4251960" cy="2011680"/>
          </a:xfrm>
          <a:prstGeom prst="rect">
            <a:avLst/>
          </a:prstGeom>
          <a:noFill/>
        </p:spPr>
        <p:txBody>
          <a:bodyPr wrap="square">
            <a:spAutoFit/>
          </a:bodyPr>
          <a:lstStyle/>
          <a:p>
            <a:pPr algn="l"/>
            <a:r>
              <a:rPr sz="1900" b="0" i="0">
                <a:solidFill>
                  <a:srgbClr val="D2E6FF"/>
                </a:solidFill>
                <a:latin typeface="Calibri"/>
              </a:rPr>
              <a:t>Een design system is een collectie van herbruikbare componenten, richtlijnen en beslissingen die samenwerken als een taal.</a:t>
            </a:r>
          </a:p>
        </p:txBody>
      </p:sp>
      <p:sp>
        <p:nvSpPr>
          <p:cNvPr id="7" name="TextBox 6"/>
          <p:cNvSpPr txBox="1"/>
          <p:nvPr/>
        </p:nvSpPr>
        <p:spPr>
          <a:xfrm>
            <a:off x="228600" y="3246120"/>
            <a:ext cx="4297680" cy="365760"/>
          </a:xfrm>
          <a:prstGeom prst="rect">
            <a:avLst/>
          </a:prstGeom>
          <a:noFill/>
        </p:spPr>
        <p:txBody>
          <a:bodyPr wrap="square">
            <a:spAutoFit/>
          </a:bodyPr>
          <a:lstStyle/>
          <a:p>
            <a:pPr algn="l"/>
            <a:r>
              <a:rPr sz="1400" b="0" i="1">
                <a:solidFill>
                  <a:srgbClr val="A0B4DC"/>
                </a:solidFill>
                <a:latin typeface="Calibri"/>
              </a:rPr>
              <a:t>Zonder design system:</a:t>
            </a:r>
          </a:p>
        </p:txBody>
      </p:sp>
      <p:sp>
        <p:nvSpPr>
          <p:cNvPr id="8" name="TextBox 7"/>
          <p:cNvSpPr txBox="1"/>
          <p:nvPr/>
        </p:nvSpPr>
        <p:spPr>
          <a:xfrm>
            <a:off x="228600" y="3611880"/>
            <a:ext cx="4297680" cy="1188720"/>
          </a:xfrm>
          <a:prstGeom prst="rect">
            <a:avLst/>
          </a:prstGeom>
          <a:noFill/>
        </p:spPr>
        <p:txBody>
          <a:bodyPr wrap="square">
            <a:spAutoFit/>
          </a:bodyPr>
          <a:lstStyle/>
          <a:p>
            <a:pPr>
              <a:spcBef>
                <a:spcPts val="700"/>
              </a:spcBef>
            </a:pPr>
            <a:r>
              <a:rPr sz="1400">
                <a:solidFill>
                  <a:srgbClr val="B4C8F0"/>
                </a:solidFill>
                <a:latin typeface="Calibri"/>
              </a:rPr>
              <a:t>  •  Elke pagina ziet er anders uit</a:t>
            </a:r>
          </a:p>
          <a:p>
            <a:pPr>
              <a:spcBef>
                <a:spcPts val="700"/>
              </a:spcBef>
            </a:pPr>
            <a:r>
              <a:rPr sz="1400">
                <a:solidFill>
                  <a:srgbClr val="B4C8F0"/>
                </a:solidFill>
                <a:latin typeface="Calibri"/>
              </a:rPr>
              <a:t>  •  Aanpassingen kosten veel tijd</a:t>
            </a:r>
          </a:p>
          <a:p>
            <a:pPr>
              <a:spcBef>
                <a:spcPts val="700"/>
              </a:spcBef>
            </a:pPr>
            <a:r>
              <a:rPr sz="1400">
                <a:solidFill>
                  <a:srgbClr val="B4C8F0"/>
                </a:solidFill>
                <a:latin typeface="Calibri"/>
              </a:rPr>
              <a:t>  •  Inconsistente stijlen en maten</a:t>
            </a:r>
          </a:p>
        </p:txBody>
      </p:sp>
      <p:sp>
        <p:nvSpPr>
          <p:cNvPr id="9" name="TextBox 8"/>
          <p:cNvSpPr txBox="1"/>
          <p:nvPr/>
        </p:nvSpPr>
        <p:spPr>
          <a:xfrm>
            <a:off x="5029200" y="411480"/>
            <a:ext cx="6858000" cy="502920"/>
          </a:xfrm>
          <a:prstGeom prst="rect">
            <a:avLst/>
          </a:prstGeom>
          <a:noFill/>
        </p:spPr>
        <p:txBody>
          <a:bodyPr wrap="square">
            <a:spAutoFit/>
          </a:bodyPr>
          <a:lstStyle/>
          <a:p>
            <a:pPr algn="l"/>
            <a:r>
              <a:rPr sz="2200" b="1" i="0">
                <a:solidFill>
                  <a:srgbClr val="0F172A"/>
                </a:solidFill>
                <a:latin typeface="Calibri"/>
              </a:rPr>
              <a:t>Voordelen van een design system</a:t>
            </a:r>
          </a:p>
        </p:txBody>
      </p:sp>
      <p:sp>
        <p:nvSpPr>
          <p:cNvPr id="10" name="Rectangle 9"/>
          <p:cNvSpPr/>
          <p:nvPr/>
        </p:nvSpPr>
        <p:spPr>
          <a:xfrm>
            <a:off x="5029200" y="914400"/>
            <a:ext cx="1371600" cy="64008"/>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097280"/>
            <a:ext cx="6858000" cy="2194560"/>
          </a:xfrm>
          <a:prstGeom prst="rect">
            <a:avLst/>
          </a:prstGeom>
          <a:noFill/>
        </p:spPr>
        <p:txBody>
          <a:bodyPr wrap="square">
            <a:spAutoFit/>
          </a:bodyPr>
          <a:lstStyle/>
          <a:p>
            <a:pPr>
              <a:spcBef>
                <a:spcPts val="700"/>
              </a:spcBef>
            </a:pPr>
            <a:r>
              <a:rPr sz="1700">
                <a:solidFill>
                  <a:srgbClr val="334155"/>
                </a:solidFill>
                <a:latin typeface="Calibri"/>
              </a:rPr>
              <a:t>  •  Consistentie over alle paginas van je website</a:t>
            </a:r>
          </a:p>
          <a:p>
            <a:pPr>
              <a:spcBef>
                <a:spcPts val="700"/>
              </a:spcBef>
            </a:pPr>
            <a:r>
              <a:rPr sz="1700">
                <a:solidFill>
                  <a:srgbClr val="334155"/>
                </a:solidFill>
                <a:latin typeface="Calibri"/>
              </a:rPr>
              <a:t>  •  Sneller bouwen door hergebruik van componenten</a:t>
            </a:r>
          </a:p>
          <a:p>
            <a:pPr>
              <a:spcBef>
                <a:spcPts val="700"/>
              </a:spcBef>
            </a:pPr>
            <a:r>
              <a:rPr sz="1700">
                <a:solidFill>
                  <a:srgbClr val="334155"/>
                </a:solidFill>
                <a:latin typeface="Calibri"/>
              </a:rPr>
              <a:t>  •  Makkelijker aanpassen: wijzig eenmalig in de master</a:t>
            </a:r>
          </a:p>
          <a:p>
            <a:pPr>
              <a:spcBef>
                <a:spcPts val="700"/>
              </a:spcBef>
            </a:pPr>
            <a:r>
              <a:rPr sz="1700">
                <a:solidFill>
                  <a:srgbClr val="334155"/>
                </a:solidFill>
                <a:latin typeface="Calibri"/>
              </a:rPr>
              <a:t>  •  Betere samenwerking tussen ontwerpers en developers</a:t>
            </a:r>
          </a:p>
        </p:txBody>
      </p:sp>
      <p:sp>
        <p:nvSpPr>
          <p:cNvPr id="12" name="Rectangle 11"/>
          <p:cNvSpPr/>
          <p:nvPr/>
        </p:nvSpPr>
        <p:spPr>
          <a:xfrm>
            <a:off x="5029200" y="3474720"/>
            <a:ext cx="6858000" cy="265176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0" y="3474720"/>
            <a:ext cx="64008" cy="265176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3602736"/>
            <a:ext cx="6473952" cy="347472"/>
          </a:xfrm>
          <a:prstGeom prst="rect">
            <a:avLst/>
          </a:prstGeom>
          <a:noFill/>
        </p:spPr>
        <p:txBody>
          <a:bodyPr wrap="square">
            <a:spAutoFit/>
          </a:bodyPr>
          <a:lstStyle/>
          <a:p>
            <a:pPr algn="l"/>
            <a:r>
              <a:rPr sz="1500" b="1" i="0">
                <a:solidFill>
                  <a:srgbClr val="0F172A"/>
                </a:solidFill>
                <a:latin typeface="Calibri"/>
              </a:rPr>
              <a:t>Bekende design systems:</a:t>
            </a:r>
          </a:p>
        </p:txBody>
      </p:sp>
      <p:sp>
        <p:nvSpPr>
          <p:cNvPr id="15" name="TextBox 14"/>
          <p:cNvSpPr txBox="1"/>
          <p:nvPr/>
        </p:nvSpPr>
        <p:spPr>
          <a:xfrm>
            <a:off x="5257800" y="3968496"/>
            <a:ext cx="6473952" cy="1920240"/>
          </a:xfrm>
          <a:prstGeom prst="rect">
            <a:avLst/>
          </a:prstGeom>
          <a:noFill/>
        </p:spPr>
        <p:txBody>
          <a:bodyPr wrap="square">
            <a:spAutoFit/>
          </a:bodyPr>
          <a:lstStyle/>
          <a:p>
            <a:pPr>
              <a:spcBef>
                <a:spcPts val="700"/>
              </a:spcBef>
            </a:pPr>
            <a:r>
              <a:rPr sz="1400">
                <a:solidFill>
                  <a:srgbClr val="334155"/>
                </a:solidFill>
                <a:latin typeface="Calibri"/>
              </a:rPr>
              <a:t>  •  Material Design (Google) - m3.material.io</a:t>
            </a:r>
          </a:p>
          <a:p>
            <a:pPr>
              <a:spcBef>
                <a:spcPts val="700"/>
              </a:spcBef>
            </a:pPr>
            <a:r>
              <a:rPr sz="1400">
                <a:solidFill>
                  <a:srgbClr val="334155"/>
                </a:solidFill>
                <a:latin typeface="Calibri"/>
              </a:rPr>
              <a:t>  •  Human Interface Guidelines (Apple) - developer.apple.com</a:t>
            </a:r>
          </a:p>
          <a:p>
            <a:pPr>
              <a:spcBef>
                <a:spcPts val="700"/>
              </a:spcBef>
            </a:pPr>
            <a:r>
              <a:rPr sz="1400">
                <a:solidFill>
                  <a:srgbClr val="334155"/>
                </a:solidFill>
                <a:latin typeface="Calibri"/>
              </a:rPr>
              <a:t>  •  Tailwind UI (web) - tailwindui.com</a:t>
            </a:r>
          </a:p>
        </p:txBody>
      </p:sp>
      <p:sp>
        <p:nvSpPr>
          <p:cNvPr id="16" name="TextBox 15"/>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Atomic Design: van klein naar groot</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Brad Frost (2013) - ontwerpen als chemische bouwstenen</a:t>
            </a:r>
          </a:p>
        </p:txBody>
      </p:sp>
      <p:sp>
        <p:nvSpPr>
          <p:cNvPr id="6" name="Rectangle 5"/>
          <p:cNvSpPr/>
          <p:nvPr/>
        </p:nvSpPr>
        <p:spPr>
          <a:xfrm>
            <a:off x="914400" y="1572768"/>
            <a:ext cx="3383280"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36776"/>
            <a:ext cx="3383280" cy="393192"/>
          </a:xfrm>
          <a:prstGeom prst="rect">
            <a:avLst/>
          </a:prstGeom>
          <a:noFill/>
        </p:spPr>
        <p:txBody>
          <a:bodyPr wrap="square">
            <a:spAutoFit/>
          </a:bodyPr>
          <a:lstStyle/>
          <a:p>
            <a:pPr algn="ctr"/>
            <a:r>
              <a:rPr sz="2000" b="1" i="0">
                <a:solidFill>
                  <a:srgbClr val="FFFFFF"/>
                </a:solidFill>
                <a:latin typeface="Calibri"/>
              </a:rPr>
              <a:t>Atoms</a:t>
            </a:r>
          </a:p>
        </p:txBody>
      </p:sp>
      <p:sp>
        <p:nvSpPr>
          <p:cNvPr id="8" name="Rectangle 7"/>
          <p:cNvSpPr/>
          <p:nvPr/>
        </p:nvSpPr>
        <p:spPr>
          <a:xfrm>
            <a:off x="914400" y="2029968"/>
            <a:ext cx="3383280" cy="393192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39696"/>
            <a:ext cx="3108960" cy="320040"/>
          </a:xfrm>
          <a:prstGeom prst="rect">
            <a:avLst/>
          </a:prstGeom>
          <a:noFill/>
        </p:spPr>
        <p:txBody>
          <a:bodyPr wrap="square">
            <a:spAutoFit/>
          </a:bodyPr>
          <a:lstStyle/>
          <a:p>
            <a:pPr algn="l"/>
            <a:r>
              <a:rPr sz="1300" b="0" i="1">
                <a:solidFill>
                  <a:srgbClr val="647487"/>
                </a:solidFill>
                <a:latin typeface="Calibri"/>
              </a:rPr>
              <a:t>de kleinste bouwstenen</a:t>
            </a:r>
          </a:p>
        </p:txBody>
      </p:sp>
      <p:sp>
        <p:nvSpPr>
          <p:cNvPr id="10" name="TextBox 9"/>
          <p:cNvSpPr txBox="1"/>
          <p:nvPr/>
        </p:nvSpPr>
        <p:spPr>
          <a:xfrm>
            <a:off x="1051560" y="2487168"/>
            <a:ext cx="3108960" cy="320040"/>
          </a:xfrm>
          <a:prstGeom prst="rect">
            <a:avLst/>
          </a:prstGeom>
          <a:noFill/>
        </p:spPr>
        <p:txBody>
          <a:bodyPr wrap="square">
            <a:spAutoFit/>
          </a:bodyPr>
          <a:lstStyle/>
          <a:p>
            <a:pPr algn="l"/>
            <a:r>
              <a:rPr sz="1400" b="1" i="0">
                <a:solidFill>
                  <a:srgbClr val="16A34A"/>
                </a:solidFill>
                <a:latin typeface="Calibri"/>
              </a:rPr>
              <a:t>Voorbeelden:</a:t>
            </a:r>
          </a:p>
        </p:txBody>
      </p:sp>
      <p:sp>
        <p:nvSpPr>
          <p:cNvPr id="11" name="TextBox 10"/>
          <p:cNvSpPr txBox="1"/>
          <p:nvPr/>
        </p:nvSpPr>
        <p:spPr>
          <a:xfrm>
            <a:off x="1051560" y="2834640"/>
            <a:ext cx="3108960" cy="347472"/>
          </a:xfrm>
          <a:prstGeom prst="rect">
            <a:avLst/>
          </a:prstGeom>
          <a:noFill/>
        </p:spPr>
        <p:txBody>
          <a:bodyPr wrap="square">
            <a:spAutoFit/>
          </a:bodyPr>
          <a:lstStyle/>
          <a:p>
            <a:pPr algn="l"/>
            <a:r>
              <a:rPr sz="1400" b="0" i="0">
                <a:solidFill>
                  <a:srgbClr val="334155"/>
                </a:solidFill>
                <a:latin typeface="Calibri"/>
              </a:rPr>
              <a:t>  •  knop</a:t>
            </a:r>
          </a:p>
        </p:txBody>
      </p:sp>
      <p:sp>
        <p:nvSpPr>
          <p:cNvPr id="12" name="TextBox 11"/>
          <p:cNvSpPr txBox="1"/>
          <p:nvPr/>
        </p:nvSpPr>
        <p:spPr>
          <a:xfrm>
            <a:off x="1051560" y="3182112"/>
            <a:ext cx="3108960" cy="347472"/>
          </a:xfrm>
          <a:prstGeom prst="rect">
            <a:avLst/>
          </a:prstGeom>
          <a:noFill/>
        </p:spPr>
        <p:txBody>
          <a:bodyPr wrap="square">
            <a:spAutoFit/>
          </a:bodyPr>
          <a:lstStyle/>
          <a:p>
            <a:pPr algn="l"/>
            <a:r>
              <a:rPr sz="1400" b="0" i="0">
                <a:solidFill>
                  <a:srgbClr val="334155"/>
                </a:solidFill>
                <a:latin typeface="Calibri"/>
              </a:rPr>
              <a:t>  •  invoerveld</a:t>
            </a:r>
          </a:p>
        </p:txBody>
      </p:sp>
      <p:sp>
        <p:nvSpPr>
          <p:cNvPr id="13" name="TextBox 12"/>
          <p:cNvSpPr txBox="1"/>
          <p:nvPr/>
        </p:nvSpPr>
        <p:spPr>
          <a:xfrm>
            <a:off x="1051560" y="3529584"/>
            <a:ext cx="3108960" cy="347472"/>
          </a:xfrm>
          <a:prstGeom prst="rect">
            <a:avLst/>
          </a:prstGeom>
          <a:noFill/>
        </p:spPr>
        <p:txBody>
          <a:bodyPr wrap="square">
            <a:spAutoFit/>
          </a:bodyPr>
          <a:lstStyle/>
          <a:p>
            <a:pPr algn="l"/>
            <a:r>
              <a:rPr sz="1400" b="0" i="0">
                <a:solidFill>
                  <a:srgbClr val="334155"/>
                </a:solidFill>
                <a:latin typeface="Calibri"/>
              </a:rPr>
              <a:t>  •  label</a:t>
            </a:r>
          </a:p>
        </p:txBody>
      </p:sp>
      <p:sp>
        <p:nvSpPr>
          <p:cNvPr id="14" name="TextBox 13"/>
          <p:cNvSpPr txBox="1"/>
          <p:nvPr/>
        </p:nvSpPr>
        <p:spPr>
          <a:xfrm>
            <a:off x="1051560" y="3877056"/>
            <a:ext cx="3108960" cy="347472"/>
          </a:xfrm>
          <a:prstGeom prst="rect">
            <a:avLst/>
          </a:prstGeom>
          <a:noFill/>
        </p:spPr>
        <p:txBody>
          <a:bodyPr wrap="square">
            <a:spAutoFit/>
          </a:bodyPr>
          <a:lstStyle/>
          <a:p>
            <a:pPr algn="l"/>
            <a:r>
              <a:rPr sz="1400" b="0" i="0">
                <a:solidFill>
                  <a:srgbClr val="334155"/>
                </a:solidFill>
                <a:latin typeface="Calibri"/>
              </a:rPr>
              <a:t>  •  icoon</a:t>
            </a:r>
          </a:p>
        </p:txBody>
      </p:sp>
      <p:sp>
        <p:nvSpPr>
          <p:cNvPr id="15" name="TextBox 14"/>
          <p:cNvSpPr txBox="1"/>
          <p:nvPr/>
        </p:nvSpPr>
        <p:spPr>
          <a:xfrm>
            <a:off x="1051560" y="4224528"/>
            <a:ext cx="3108960" cy="347472"/>
          </a:xfrm>
          <a:prstGeom prst="rect">
            <a:avLst/>
          </a:prstGeom>
          <a:noFill/>
        </p:spPr>
        <p:txBody>
          <a:bodyPr wrap="square">
            <a:spAutoFit/>
          </a:bodyPr>
          <a:lstStyle/>
          <a:p>
            <a:pPr algn="l"/>
            <a:r>
              <a:rPr sz="1400" b="0" i="0">
                <a:solidFill>
                  <a:srgbClr val="334155"/>
                </a:solidFill>
                <a:latin typeface="Calibri"/>
              </a:rPr>
              <a:t>  •  kleurvlak</a:t>
            </a:r>
          </a:p>
        </p:txBody>
      </p:sp>
      <p:sp>
        <p:nvSpPr>
          <p:cNvPr id="16" name="Rectangle 15"/>
          <p:cNvSpPr/>
          <p:nvPr/>
        </p:nvSpPr>
        <p:spPr>
          <a:xfrm>
            <a:off x="1188720" y="5184648"/>
            <a:ext cx="82296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8840" y="5184648"/>
            <a:ext cx="548640" cy="292608"/>
          </a:xfrm>
          <a:prstGeom prst="rect">
            <a:avLst/>
          </a:prstGeom>
          <a:solidFill>
            <a:srgbClr val="F8FAFC"/>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54096" y="5184648"/>
            <a:ext cx="292608" cy="29260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98848" y="1572768"/>
            <a:ext cx="3383280"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8" y="1636776"/>
            <a:ext cx="3383280" cy="393192"/>
          </a:xfrm>
          <a:prstGeom prst="rect">
            <a:avLst/>
          </a:prstGeom>
          <a:noFill/>
        </p:spPr>
        <p:txBody>
          <a:bodyPr wrap="square">
            <a:spAutoFit/>
          </a:bodyPr>
          <a:lstStyle/>
          <a:p>
            <a:pPr algn="ctr"/>
            <a:r>
              <a:rPr sz="2000" b="1" i="0">
                <a:solidFill>
                  <a:srgbClr val="FFFFFF"/>
                </a:solidFill>
                <a:latin typeface="Calibri"/>
              </a:rPr>
              <a:t>Molecules</a:t>
            </a:r>
          </a:p>
        </p:txBody>
      </p:sp>
      <p:sp>
        <p:nvSpPr>
          <p:cNvPr id="21" name="Rectangle 20"/>
          <p:cNvSpPr/>
          <p:nvPr/>
        </p:nvSpPr>
        <p:spPr>
          <a:xfrm>
            <a:off x="4498848" y="2029968"/>
            <a:ext cx="3383280" cy="393192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2139696"/>
            <a:ext cx="3108960" cy="320040"/>
          </a:xfrm>
          <a:prstGeom prst="rect">
            <a:avLst/>
          </a:prstGeom>
          <a:noFill/>
        </p:spPr>
        <p:txBody>
          <a:bodyPr wrap="square">
            <a:spAutoFit/>
          </a:bodyPr>
          <a:lstStyle/>
          <a:p>
            <a:pPr algn="l"/>
            <a:r>
              <a:rPr sz="1300" b="0" i="1">
                <a:solidFill>
                  <a:srgbClr val="647487"/>
                </a:solidFill>
                <a:latin typeface="Calibri"/>
              </a:rPr>
              <a:t>combinaties van atoms</a:t>
            </a:r>
          </a:p>
        </p:txBody>
      </p:sp>
      <p:sp>
        <p:nvSpPr>
          <p:cNvPr id="23" name="TextBox 22"/>
          <p:cNvSpPr txBox="1"/>
          <p:nvPr/>
        </p:nvSpPr>
        <p:spPr>
          <a:xfrm>
            <a:off x="4636008" y="2487168"/>
            <a:ext cx="3108960" cy="320040"/>
          </a:xfrm>
          <a:prstGeom prst="rect">
            <a:avLst/>
          </a:prstGeom>
          <a:noFill/>
        </p:spPr>
        <p:txBody>
          <a:bodyPr wrap="square">
            <a:spAutoFit/>
          </a:bodyPr>
          <a:lstStyle/>
          <a:p>
            <a:pPr algn="l"/>
            <a:r>
              <a:rPr sz="1400" b="1" i="0">
                <a:solidFill>
                  <a:srgbClr val="2563EB"/>
                </a:solidFill>
                <a:latin typeface="Calibri"/>
              </a:rPr>
              <a:t>Voorbeelden:</a:t>
            </a:r>
          </a:p>
        </p:txBody>
      </p:sp>
      <p:sp>
        <p:nvSpPr>
          <p:cNvPr id="24" name="TextBox 23"/>
          <p:cNvSpPr txBox="1"/>
          <p:nvPr/>
        </p:nvSpPr>
        <p:spPr>
          <a:xfrm>
            <a:off x="4636008" y="2834640"/>
            <a:ext cx="3108960" cy="347472"/>
          </a:xfrm>
          <a:prstGeom prst="rect">
            <a:avLst/>
          </a:prstGeom>
          <a:noFill/>
        </p:spPr>
        <p:txBody>
          <a:bodyPr wrap="square">
            <a:spAutoFit/>
          </a:bodyPr>
          <a:lstStyle/>
          <a:p>
            <a:pPr algn="l"/>
            <a:r>
              <a:rPr sz="1400" b="0" i="0">
                <a:solidFill>
                  <a:srgbClr val="334155"/>
                </a:solidFill>
                <a:latin typeface="Calibri"/>
              </a:rPr>
              <a:t>  •  zoekveld (invoer + knop)</a:t>
            </a:r>
          </a:p>
        </p:txBody>
      </p:sp>
      <p:sp>
        <p:nvSpPr>
          <p:cNvPr id="25" name="TextBox 24"/>
          <p:cNvSpPr txBox="1"/>
          <p:nvPr/>
        </p:nvSpPr>
        <p:spPr>
          <a:xfrm>
            <a:off x="4636008" y="3182112"/>
            <a:ext cx="3108960" cy="347472"/>
          </a:xfrm>
          <a:prstGeom prst="rect">
            <a:avLst/>
          </a:prstGeom>
          <a:noFill/>
        </p:spPr>
        <p:txBody>
          <a:bodyPr wrap="square">
            <a:spAutoFit/>
          </a:bodyPr>
          <a:lstStyle/>
          <a:p>
            <a:pPr algn="l"/>
            <a:r>
              <a:rPr sz="1400" b="0" i="0">
                <a:solidFill>
                  <a:srgbClr val="334155"/>
                </a:solidFill>
                <a:latin typeface="Calibri"/>
              </a:rPr>
              <a:t>  •  nav-item (icoon + label)</a:t>
            </a:r>
          </a:p>
        </p:txBody>
      </p:sp>
      <p:sp>
        <p:nvSpPr>
          <p:cNvPr id="26" name="TextBox 25"/>
          <p:cNvSpPr txBox="1"/>
          <p:nvPr/>
        </p:nvSpPr>
        <p:spPr>
          <a:xfrm>
            <a:off x="4636008" y="3529584"/>
            <a:ext cx="3108960" cy="347472"/>
          </a:xfrm>
          <a:prstGeom prst="rect">
            <a:avLst/>
          </a:prstGeom>
          <a:noFill/>
        </p:spPr>
        <p:txBody>
          <a:bodyPr wrap="square">
            <a:spAutoFit/>
          </a:bodyPr>
          <a:lstStyle/>
          <a:p>
            <a:pPr algn="l"/>
            <a:r>
              <a:rPr sz="1400" b="0" i="0">
                <a:solidFill>
                  <a:srgbClr val="334155"/>
                </a:solidFill>
                <a:latin typeface="Calibri"/>
              </a:rPr>
              <a:t>  •  formulierveld (label + input + fout)</a:t>
            </a:r>
          </a:p>
        </p:txBody>
      </p:sp>
      <p:sp>
        <p:nvSpPr>
          <p:cNvPr id="27" name="Rectangle 26"/>
          <p:cNvSpPr/>
          <p:nvPr/>
        </p:nvSpPr>
        <p:spPr>
          <a:xfrm>
            <a:off x="4681728" y="5184648"/>
            <a:ext cx="1371600" cy="292608"/>
          </a:xfrm>
          <a:prstGeom prst="rect">
            <a:avLst/>
          </a:prstGeom>
          <a:solidFill>
            <a:srgbClr val="F8FAFC"/>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44768" y="5184648"/>
            <a:ext cx="65836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83296" y="1572768"/>
            <a:ext cx="338328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83296" y="1636776"/>
            <a:ext cx="3383280" cy="393192"/>
          </a:xfrm>
          <a:prstGeom prst="rect">
            <a:avLst/>
          </a:prstGeom>
          <a:noFill/>
        </p:spPr>
        <p:txBody>
          <a:bodyPr wrap="square">
            <a:spAutoFit/>
          </a:bodyPr>
          <a:lstStyle/>
          <a:p>
            <a:pPr algn="ctr"/>
            <a:r>
              <a:rPr sz="2000" b="1" i="0">
                <a:solidFill>
                  <a:srgbClr val="FFFFFF"/>
                </a:solidFill>
                <a:latin typeface="Calibri"/>
              </a:rPr>
              <a:t>Organisms</a:t>
            </a:r>
          </a:p>
        </p:txBody>
      </p:sp>
      <p:sp>
        <p:nvSpPr>
          <p:cNvPr id="31" name="Rectangle 30"/>
          <p:cNvSpPr/>
          <p:nvPr/>
        </p:nvSpPr>
        <p:spPr>
          <a:xfrm>
            <a:off x="8083296" y="2029968"/>
            <a:ext cx="3383280" cy="393192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2139696"/>
            <a:ext cx="3108960" cy="320040"/>
          </a:xfrm>
          <a:prstGeom prst="rect">
            <a:avLst/>
          </a:prstGeom>
          <a:noFill/>
        </p:spPr>
        <p:txBody>
          <a:bodyPr wrap="square">
            <a:spAutoFit/>
          </a:bodyPr>
          <a:lstStyle/>
          <a:p>
            <a:pPr algn="l"/>
            <a:r>
              <a:rPr sz="1300" b="0" i="1">
                <a:solidFill>
                  <a:srgbClr val="647487"/>
                </a:solidFill>
                <a:latin typeface="Calibri"/>
              </a:rPr>
              <a:t>complete secties</a:t>
            </a:r>
          </a:p>
        </p:txBody>
      </p:sp>
      <p:sp>
        <p:nvSpPr>
          <p:cNvPr id="33" name="TextBox 32"/>
          <p:cNvSpPr txBox="1"/>
          <p:nvPr/>
        </p:nvSpPr>
        <p:spPr>
          <a:xfrm>
            <a:off x="8220456" y="2487168"/>
            <a:ext cx="3108960" cy="320040"/>
          </a:xfrm>
          <a:prstGeom prst="rect">
            <a:avLst/>
          </a:prstGeom>
          <a:noFill/>
        </p:spPr>
        <p:txBody>
          <a:bodyPr wrap="square">
            <a:spAutoFit/>
          </a:bodyPr>
          <a:lstStyle/>
          <a:p>
            <a:pPr algn="l"/>
            <a:r>
              <a:rPr sz="1400" b="1" i="0">
                <a:solidFill>
                  <a:srgbClr val="1E3A8A"/>
                </a:solidFill>
                <a:latin typeface="Calibri"/>
              </a:rPr>
              <a:t>Voorbeelden:</a:t>
            </a:r>
          </a:p>
        </p:txBody>
      </p:sp>
      <p:sp>
        <p:nvSpPr>
          <p:cNvPr id="34" name="TextBox 33"/>
          <p:cNvSpPr txBox="1"/>
          <p:nvPr/>
        </p:nvSpPr>
        <p:spPr>
          <a:xfrm>
            <a:off x="8220456" y="2834640"/>
            <a:ext cx="3108960" cy="347472"/>
          </a:xfrm>
          <a:prstGeom prst="rect">
            <a:avLst/>
          </a:prstGeom>
          <a:noFill/>
        </p:spPr>
        <p:txBody>
          <a:bodyPr wrap="square">
            <a:spAutoFit/>
          </a:bodyPr>
          <a:lstStyle/>
          <a:p>
            <a:pPr algn="l"/>
            <a:r>
              <a:rPr sz="1400" b="0" i="0">
                <a:solidFill>
                  <a:srgbClr val="334155"/>
                </a:solidFill>
                <a:latin typeface="Calibri"/>
              </a:rPr>
              <a:t>  •  navigatiebalk (logo + links + knop)</a:t>
            </a:r>
          </a:p>
        </p:txBody>
      </p:sp>
      <p:sp>
        <p:nvSpPr>
          <p:cNvPr id="35" name="TextBox 34"/>
          <p:cNvSpPr txBox="1"/>
          <p:nvPr/>
        </p:nvSpPr>
        <p:spPr>
          <a:xfrm>
            <a:off x="8220456" y="3182112"/>
            <a:ext cx="3108960" cy="347472"/>
          </a:xfrm>
          <a:prstGeom prst="rect">
            <a:avLst/>
          </a:prstGeom>
          <a:noFill/>
        </p:spPr>
        <p:txBody>
          <a:bodyPr wrap="square">
            <a:spAutoFit/>
          </a:bodyPr>
          <a:lstStyle/>
          <a:p>
            <a:pPr algn="l"/>
            <a:r>
              <a:rPr sz="1400" b="0" i="0">
                <a:solidFill>
                  <a:srgbClr val="334155"/>
                </a:solidFill>
                <a:latin typeface="Calibri"/>
              </a:rPr>
              <a:t>  •  hero sectie (heading + tekst + CTA)</a:t>
            </a:r>
          </a:p>
        </p:txBody>
      </p:sp>
      <p:sp>
        <p:nvSpPr>
          <p:cNvPr id="36" name="TextBox 35"/>
          <p:cNvSpPr txBox="1"/>
          <p:nvPr/>
        </p:nvSpPr>
        <p:spPr>
          <a:xfrm>
            <a:off x="8220456" y="3529584"/>
            <a:ext cx="3108960" cy="347472"/>
          </a:xfrm>
          <a:prstGeom prst="rect">
            <a:avLst/>
          </a:prstGeom>
          <a:noFill/>
        </p:spPr>
        <p:txBody>
          <a:bodyPr wrap="square">
            <a:spAutoFit/>
          </a:bodyPr>
          <a:lstStyle/>
          <a:p>
            <a:pPr algn="l"/>
            <a:r>
              <a:rPr sz="1400" b="0" i="0">
                <a:solidFill>
                  <a:srgbClr val="334155"/>
                </a:solidFill>
                <a:latin typeface="Calibri"/>
              </a:rPr>
              <a:t>  •  testimonial kaart</a:t>
            </a:r>
          </a:p>
        </p:txBody>
      </p:sp>
      <p:sp>
        <p:nvSpPr>
          <p:cNvPr id="37" name="Rectangle 36"/>
          <p:cNvSpPr/>
          <p:nvPr/>
        </p:nvSpPr>
        <p:spPr>
          <a:xfrm>
            <a:off x="8266176" y="5093208"/>
            <a:ext cx="3017520" cy="502920"/>
          </a:xfrm>
          <a:prstGeom prst="rect">
            <a:avLst/>
          </a:prstGeom>
          <a:solidFill>
            <a:srgbClr val="F8FAFC"/>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66176" y="5093208"/>
            <a:ext cx="54864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Figma: je eerste component</a:t>
            </a:r>
          </a:p>
        </p:txBody>
      </p:sp>
      <p:sp>
        <p:nvSpPr>
          <p:cNvPr id="4" name="Rectangle 3"/>
          <p:cNvSpPr/>
          <p:nvPr/>
        </p:nvSpPr>
        <p:spPr>
          <a:xfrm>
            <a:off x="914400" y="1298448"/>
            <a:ext cx="182880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B4F0C8"/>
                </a:solidFill>
                <a:latin typeface="Calibri"/>
              </a:rPr>
              <a:t>Van gewone shapes naar herbruikbare bouwstenen</a:t>
            </a:r>
          </a:p>
        </p:txBody>
      </p:sp>
      <p:sp>
        <p:nvSpPr>
          <p:cNvPr id="6" name="Rectangle 5"/>
          <p:cNvSpPr/>
          <p:nvPr/>
        </p:nvSpPr>
        <p:spPr>
          <a:xfrm>
            <a:off x="914400" y="1783080"/>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37944"/>
            <a:ext cx="411480" cy="438912"/>
          </a:xfrm>
          <a:prstGeom prst="rect">
            <a:avLst/>
          </a:prstGeom>
          <a:noFill/>
        </p:spPr>
        <p:txBody>
          <a:bodyPr wrap="square">
            <a:spAutoFit/>
          </a:bodyPr>
          <a:lstStyle/>
          <a:p>
            <a:pPr algn="ctr"/>
            <a:r>
              <a:rPr sz="1700" b="1" i="0">
                <a:solidFill>
                  <a:srgbClr val="FFFFFF"/>
                </a:solidFill>
                <a:latin typeface="Calibri"/>
              </a:rPr>
              <a:t>1</a:t>
            </a:r>
          </a:p>
        </p:txBody>
      </p:sp>
      <p:sp>
        <p:nvSpPr>
          <p:cNvPr id="8" name="Rectangle 7"/>
          <p:cNvSpPr/>
          <p:nvPr/>
        </p:nvSpPr>
        <p:spPr>
          <a:xfrm>
            <a:off x="1335024" y="1783080"/>
            <a:ext cx="9180576"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856232"/>
            <a:ext cx="8961120" cy="420624"/>
          </a:xfrm>
          <a:prstGeom prst="rect">
            <a:avLst/>
          </a:prstGeom>
          <a:noFill/>
        </p:spPr>
        <p:txBody>
          <a:bodyPr wrap="square">
            <a:spAutoFit/>
          </a:bodyPr>
          <a:lstStyle/>
          <a:p>
            <a:pPr algn="l"/>
            <a:r>
              <a:rPr sz="1500" b="0" i="0">
                <a:solidFill>
                  <a:srgbClr val="D2E6FF"/>
                </a:solidFill>
                <a:latin typeface="Calibri"/>
              </a:rPr>
              <a:t>Maak een frame aan met de gewenste afmetingen, bijvoorbeeld 180x48 voor een knop</a:t>
            </a:r>
          </a:p>
        </p:txBody>
      </p:sp>
      <p:sp>
        <p:nvSpPr>
          <p:cNvPr id="10" name="Rectangle 9"/>
          <p:cNvSpPr/>
          <p:nvPr/>
        </p:nvSpPr>
        <p:spPr>
          <a:xfrm>
            <a:off x="914400" y="2350008"/>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04872"/>
            <a:ext cx="411480" cy="438912"/>
          </a:xfrm>
          <a:prstGeom prst="rect">
            <a:avLst/>
          </a:prstGeom>
          <a:noFill/>
        </p:spPr>
        <p:txBody>
          <a:bodyPr wrap="square">
            <a:spAutoFit/>
          </a:bodyPr>
          <a:lstStyle/>
          <a:p>
            <a:pPr algn="ctr"/>
            <a:r>
              <a:rPr sz="1700" b="1" i="0">
                <a:solidFill>
                  <a:srgbClr val="FFFFFF"/>
                </a:solidFill>
                <a:latin typeface="Calibri"/>
              </a:rPr>
              <a:t>2</a:t>
            </a:r>
          </a:p>
        </p:txBody>
      </p:sp>
      <p:sp>
        <p:nvSpPr>
          <p:cNvPr id="12" name="Rectangle 11"/>
          <p:cNvSpPr/>
          <p:nvPr/>
        </p:nvSpPr>
        <p:spPr>
          <a:xfrm>
            <a:off x="1335024" y="2350008"/>
            <a:ext cx="9180576"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423160"/>
            <a:ext cx="8961120" cy="420624"/>
          </a:xfrm>
          <a:prstGeom prst="rect">
            <a:avLst/>
          </a:prstGeom>
          <a:noFill/>
        </p:spPr>
        <p:txBody>
          <a:bodyPr wrap="square">
            <a:spAutoFit/>
          </a:bodyPr>
          <a:lstStyle/>
          <a:p>
            <a:pPr algn="l"/>
            <a:r>
              <a:rPr sz="1500" b="0" i="0">
                <a:solidFill>
                  <a:srgbClr val="D2E6FF"/>
                </a:solidFill>
                <a:latin typeface="Calibri"/>
              </a:rPr>
              <a:t>Stijl het element met kleur, typografie en afstanden uit je stijlen</a:t>
            </a:r>
          </a:p>
        </p:txBody>
      </p:sp>
      <p:sp>
        <p:nvSpPr>
          <p:cNvPr id="14" name="Rectangle 13"/>
          <p:cNvSpPr/>
          <p:nvPr/>
        </p:nvSpPr>
        <p:spPr>
          <a:xfrm>
            <a:off x="914400" y="2916936"/>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71800"/>
            <a:ext cx="411480" cy="438912"/>
          </a:xfrm>
          <a:prstGeom prst="rect">
            <a:avLst/>
          </a:prstGeom>
          <a:noFill/>
        </p:spPr>
        <p:txBody>
          <a:bodyPr wrap="square">
            <a:spAutoFit/>
          </a:bodyPr>
          <a:lstStyle/>
          <a:p>
            <a:pPr algn="ctr"/>
            <a:r>
              <a:rPr sz="1700" b="1" i="0">
                <a:solidFill>
                  <a:srgbClr val="FFFFFF"/>
                </a:solidFill>
                <a:latin typeface="Calibri"/>
              </a:rPr>
              <a:t>3</a:t>
            </a:r>
          </a:p>
        </p:txBody>
      </p:sp>
      <p:sp>
        <p:nvSpPr>
          <p:cNvPr id="16" name="Rectangle 15"/>
          <p:cNvSpPr/>
          <p:nvPr/>
        </p:nvSpPr>
        <p:spPr>
          <a:xfrm>
            <a:off x="1335024" y="2916936"/>
            <a:ext cx="9180576"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8760" y="2990088"/>
            <a:ext cx="8961120" cy="420624"/>
          </a:xfrm>
          <a:prstGeom prst="rect">
            <a:avLst/>
          </a:prstGeom>
          <a:noFill/>
        </p:spPr>
        <p:txBody>
          <a:bodyPr wrap="square">
            <a:spAutoFit/>
          </a:bodyPr>
          <a:lstStyle/>
          <a:p>
            <a:pPr algn="l"/>
            <a:r>
              <a:rPr sz="1500" b="0" i="0">
                <a:solidFill>
                  <a:srgbClr val="D2E6FF"/>
                </a:solidFill>
                <a:latin typeface="Calibri"/>
              </a:rPr>
              <a:t>Selecteer het frame en druk op Ctrl+Alt+K (Mac: Cmd+Alt+K) om een component te maken</a:t>
            </a:r>
          </a:p>
        </p:txBody>
      </p:sp>
      <p:sp>
        <p:nvSpPr>
          <p:cNvPr id="18" name="Rectangle 17"/>
          <p:cNvSpPr/>
          <p:nvPr/>
        </p:nvSpPr>
        <p:spPr>
          <a:xfrm>
            <a:off x="914400" y="3483864"/>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38728"/>
            <a:ext cx="411480" cy="438912"/>
          </a:xfrm>
          <a:prstGeom prst="rect">
            <a:avLst/>
          </a:prstGeom>
          <a:noFill/>
        </p:spPr>
        <p:txBody>
          <a:bodyPr wrap="square">
            <a:spAutoFit/>
          </a:bodyPr>
          <a:lstStyle/>
          <a:p>
            <a:pPr algn="ctr"/>
            <a:r>
              <a:rPr sz="1700" b="1" i="0">
                <a:solidFill>
                  <a:srgbClr val="FFFFFF"/>
                </a:solidFill>
                <a:latin typeface="Calibri"/>
              </a:rPr>
              <a:t>4</a:t>
            </a:r>
          </a:p>
        </p:txBody>
      </p:sp>
      <p:sp>
        <p:nvSpPr>
          <p:cNvPr id="20" name="Rectangle 19"/>
          <p:cNvSpPr/>
          <p:nvPr/>
        </p:nvSpPr>
        <p:spPr>
          <a:xfrm>
            <a:off x="1335024" y="3483864"/>
            <a:ext cx="9180576"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8760" y="3557016"/>
            <a:ext cx="8961120" cy="420624"/>
          </a:xfrm>
          <a:prstGeom prst="rect">
            <a:avLst/>
          </a:prstGeom>
          <a:noFill/>
        </p:spPr>
        <p:txBody>
          <a:bodyPr wrap="square">
            <a:spAutoFit/>
          </a:bodyPr>
          <a:lstStyle/>
          <a:p>
            <a:pPr algn="l"/>
            <a:r>
              <a:rPr sz="1500" b="0" i="0">
                <a:solidFill>
                  <a:srgbClr val="D2E6FF"/>
                </a:solidFill>
                <a:latin typeface="Calibri"/>
              </a:rPr>
              <a:t>Het icoon wordt een ruitvorm: dit is je component (de master)</a:t>
            </a:r>
          </a:p>
        </p:txBody>
      </p:sp>
      <p:sp>
        <p:nvSpPr>
          <p:cNvPr id="22" name="Rectangle 21"/>
          <p:cNvSpPr/>
          <p:nvPr/>
        </p:nvSpPr>
        <p:spPr>
          <a:xfrm>
            <a:off x="914400" y="4050792"/>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105656"/>
            <a:ext cx="411480" cy="438912"/>
          </a:xfrm>
          <a:prstGeom prst="rect">
            <a:avLst/>
          </a:prstGeom>
          <a:noFill/>
        </p:spPr>
        <p:txBody>
          <a:bodyPr wrap="square">
            <a:spAutoFit/>
          </a:bodyPr>
          <a:lstStyle/>
          <a:p>
            <a:pPr algn="ctr"/>
            <a:r>
              <a:rPr sz="1700" b="1" i="0">
                <a:solidFill>
                  <a:srgbClr val="FFFFFF"/>
                </a:solidFill>
                <a:latin typeface="Calibri"/>
              </a:rPr>
              <a:t>5</a:t>
            </a:r>
          </a:p>
        </p:txBody>
      </p:sp>
      <p:sp>
        <p:nvSpPr>
          <p:cNvPr id="24" name="Rectangle 23"/>
          <p:cNvSpPr/>
          <p:nvPr/>
        </p:nvSpPr>
        <p:spPr>
          <a:xfrm>
            <a:off x="1335024" y="4050792"/>
            <a:ext cx="9180576"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4123944"/>
            <a:ext cx="8961120" cy="420624"/>
          </a:xfrm>
          <a:prstGeom prst="rect">
            <a:avLst/>
          </a:prstGeom>
          <a:noFill/>
        </p:spPr>
        <p:txBody>
          <a:bodyPr wrap="square">
            <a:spAutoFit/>
          </a:bodyPr>
          <a:lstStyle/>
          <a:p>
            <a:pPr algn="l"/>
            <a:r>
              <a:rPr sz="1500" b="0" i="0">
                <a:solidFill>
                  <a:srgbClr val="D2E6FF"/>
                </a:solidFill>
                <a:latin typeface="Calibri"/>
              </a:rPr>
              <a:t>Sleep het component vanuit het Assets panel om instances te maken</a:t>
            </a:r>
          </a:p>
        </p:txBody>
      </p:sp>
      <p:sp>
        <p:nvSpPr>
          <p:cNvPr id="26" name="Rectangle 25"/>
          <p:cNvSpPr/>
          <p:nvPr/>
        </p:nvSpPr>
        <p:spPr>
          <a:xfrm>
            <a:off x="914400" y="4617720"/>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672584"/>
            <a:ext cx="411480" cy="438912"/>
          </a:xfrm>
          <a:prstGeom prst="rect">
            <a:avLst/>
          </a:prstGeom>
          <a:noFill/>
        </p:spPr>
        <p:txBody>
          <a:bodyPr wrap="square">
            <a:spAutoFit/>
          </a:bodyPr>
          <a:lstStyle/>
          <a:p>
            <a:pPr algn="ctr"/>
            <a:r>
              <a:rPr sz="1700" b="1" i="0">
                <a:solidFill>
                  <a:srgbClr val="FFFFFF"/>
                </a:solidFill>
                <a:latin typeface="Calibri"/>
              </a:rPr>
              <a:t>6</a:t>
            </a:r>
          </a:p>
        </p:txBody>
      </p:sp>
      <p:sp>
        <p:nvSpPr>
          <p:cNvPr id="28" name="Rectangle 27"/>
          <p:cNvSpPr/>
          <p:nvPr/>
        </p:nvSpPr>
        <p:spPr>
          <a:xfrm>
            <a:off x="1335024" y="4617720"/>
            <a:ext cx="9180576"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08760" y="4690872"/>
            <a:ext cx="8961120" cy="420624"/>
          </a:xfrm>
          <a:prstGeom prst="rect">
            <a:avLst/>
          </a:prstGeom>
          <a:noFill/>
        </p:spPr>
        <p:txBody>
          <a:bodyPr wrap="square">
            <a:spAutoFit/>
          </a:bodyPr>
          <a:lstStyle/>
          <a:p>
            <a:pPr algn="l"/>
            <a:r>
              <a:rPr sz="1500" b="0" i="0">
                <a:solidFill>
                  <a:srgbClr val="D2E6FF"/>
                </a:solidFill>
                <a:latin typeface="Calibri"/>
              </a:rPr>
              <a:t>Wijzig de master: alle instances worden automatisch bijgewerkt</a:t>
            </a:r>
          </a:p>
        </p:txBody>
      </p:sp>
      <p:sp>
        <p:nvSpPr>
          <p:cNvPr id="30" name="Rectangle 29"/>
          <p:cNvSpPr/>
          <p:nvPr/>
        </p:nvSpPr>
        <p:spPr>
          <a:xfrm>
            <a:off x="914400" y="5669280"/>
            <a:ext cx="10058400" cy="804672"/>
          </a:xfrm>
          <a:prstGeom prst="rect">
            <a:avLst/>
          </a:prstGeom>
          <a:solidFill>
            <a:srgbClr val="141E37"/>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 y="5669280"/>
            <a:ext cx="64008" cy="804672"/>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797296"/>
            <a:ext cx="411480" cy="457200"/>
          </a:xfrm>
          <a:prstGeom prst="rect">
            <a:avLst/>
          </a:prstGeom>
          <a:noFill/>
        </p:spPr>
        <p:txBody>
          <a:bodyPr wrap="square">
            <a:spAutoFit/>
          </a:bodyPr>
          <a:lstStyle/>
          <a:p>
            <a:pPr algn="l"/>
            <a:r>
              <a:rPr sz="1400" b="1" i="0">
                <a:solidFill>
                  <a:srgbClr val="4ADE80"/>
                </a:solidFill>
                <a:latin typeface="Calibri"/>
              </a:rPr>
              <a:t>Tip:</a:t>
            </a:r>
          </a:p>
        </p:txBody>
      </p:sp>
      <p:sp>
        <p:nvSpPr>
          <p:cNvPr id="33" name="TextBox 32"/>
          <p:cNvSpPr txBox="1"/>
          <p:nvPr/>
        </p:nvSpPr>
        <p:spPr>
          <a:xfrm>
            <a:off x="1618488" y="5797296"/>
            <a:ext cx="9198864" cy="457200"/>
          </a:xfrm>
          <a:prstGeom prst="rect">
            <a:avLst/>
          </a:prstGeom>
          <a:noFill/>
        </p:spPr>
        <p:txBody>
          <a:bodyPr wrap="square">
            <a:spAutoFit/>
          </a:bodyPr>
          <a:lstStyle/>
          <a:p>
            <a:pPr algn="l"/>
            <a:r>
              <a:rPr sz="1400" b="0" i="1">
                <a:solidFill>
                  <a:srgbClr val="C8E6FF"/>
                </a:solidFill>
                <a:latin typeface="Calibri"/>
              </a:rPr>
              <a:t>Geef componenten een beschrijvende naam: 'button/primary/large' is beter dan 'rectangle 1'</a:t>
            </a:r>
          </a:p>
        </p:txBody>
      </p:sp>
      <p:sp>
        <p:nvSpPr>
          <p:cNvPr id="34" name="TextBox 33"/>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Varianten en Properties</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Meerdere versies van hetzelfde component beheren</a:t>
            </a:r>
          </a:p>
        </p:txBody>
      </p:sp>
      <p:sp>
        <p:nvSpPr>
          <p:cNvPr id="6" name="TextBox 5"/>
          <p:cNvSpPr txBox="1"/>
          <p:nvPr/>
        </p:nvSpPr>
        <p:spPr>
          <a:xfrm>
            <a:off x="914400" y="1572768"/>
            <a:ext cx="5029200" cy="411480"/>
          </a:xfrm>
          <a:prstGeom prst="rect">
            <a:avLst/>
          </a:prstGeom>
          <a:noFill/>
        </p:spPr>
        <p:txBody>
          <a:bodyPr wrap="square">
            <a:spAutoFit/>
          </a:bodyPr>
          <a:lstStyle/>
          <a:p>
            <a:pPr algn="l"/>
            <a:r>
              <a:rPr sz="1800" b="1" i="0">
                <a:solidFill>
                  <a:srgbClr val="0F172A"/>
                </a:solidFill>
                <a:latin typeface="Calibri"/>
              </a:rPr>
              <a:t>Wat zijn varianten?</a:t>
            </a:r>
          </a:p>
        </p:txBody>
      </p:sp>
      <p:sp>
        <p:nvSpPr>
          <p:cNvPr id="7" name="TextBox 6"/>
          <p:cNvSpPr txBox="1"/>
          <p:nvPr/>
        </p:nvSpPr>
        <p:spPr>
          <a:xfrm>
            <a:off x="914400" y="1993392"/>
            <a:ext cx="5029200" cy="2011680"/>
          </a:xfrm>
          <a:prstGeom prst="rect">
            <a:avLst/>
          </a:prstGeom>
          <a:noFill/>
        </p:spPr>
        <p:txBody>
          <a:bodyPr wrap="square">
            <a:spAutoFit/>
          </a:bodyPr>
          <a:lstStyle/>
          <a:p>
            <a:pPr>
              <a:spcBef>
                <a:spcPts val="700"/>
              </a:spcBef>
            </a:pPr>
            <a:r>
              <a:rPr sz="1600">
                <a:solidFill>
                  <a:srgbClr val="334155"/>
                </a:solidFill>
                <a:latin typeface="Calibri"/>
              </a:rPr>
              <a:t>  •  Varianten zijn meerdere versies van hetzelfde component</a:t>
            </a:r>
          </a:p>
          <a:p>
            <a:pPr>
              <a:spcBef>
                <a:spcPts val="700"/>
              </a:spcBef>
            </a:pPr>
            <a:r>
              <a:rPr sz="1600">
                <a:solidFill>
                  <a:srgbClr val="334155"/>
                </a:solidFill>
                <a:latin typeface="Calibri"/>
              </a:rPr>
              <a:t>  •  Gebruik ze voor states: default, hover, active, disabled</a:t>
            </a:r>
          </a:p>
          <a:p>
            <a:pPr>
              <a:spcBef>
                <a:spcPts val="700"/>
              </a:spcBef>
            </a:pPr>
            <a:r>
              <a:rPr sz="1600">
                <a:solidFill>
                  <a:srgbClr val="334155"/>
                </a:solidFill>
                <a:latin typeface="Calibri"/>
              </a:rPr>
              <a:t>  •  Gebruik ze voor sizes: small, medium, large</a:t>
            </a:r>
          </a:p>
          <a:p>
            <a:pPr>
              <a:spcBef>
                <a:spcPts val="700"/>
              </a:spcBef>
            </a:pPr>
            <a:r>
              <a:rPr sz="1600">
                <a:solidFill>
                  <a:srgbClr val="334155"/>
                </a:solidFill>
                <a:latin typeface="Calibri"/>
              </a:rPr>
              <a:t>  •  Gebruik ze voor types: primary, secondary, ghost</a:t>
            </a:r>
          </a:p>
        </p:txBody>
      </p:sp>
      <p:sp>
        <p:nvSpPr>
          <p:cNvPr id="8" name="TextBox 7"/>
          <p:cNvSpPr txBox="1"/>
          <p:nvPr/>
        </p:nvSpPr>
        <p:spPr>
          <a:xfrm>
            <a:off x="914400" y="4069080"/>
            <a:ext cx="5029200" cy="365760"/>
          </a:xfrm>
          <a:prstGeom prst="rect">
            <a:avLst/>
          </a:prstGeom>
          <a:noFill/>
        </p:spPr>
        <p:txBody>
          <a:bodyPr wrap="square">
            <a:spAutoFit/>
          </a:bodyPr>
          <a:lstStyle/>
          <a:p>
            <a:pPr algn="l"/>
            <a:r>
              <a:rPr sz="1600" b="1" i="0">
                <a:solidFill>
                  <a:srgbClr val="0F172A"/>
                </a:solidFill>
                <a:latin typeface="Calibri"/>
              </a:rPr>
              <a:t>Varianten toevoegen in Figma:</a:t>
            </a:r>
          </a:p>
        </p:txBody>
      </p:sp>
      <p:sp>
        <p:nvSpPr>
          <p:cNvPr id="9" name="TextBox 8"/>
          <p:cNvSpPr txBox="1"/>
          <p:nvPr/>
        </p:nvSpPr>
        <p:spPr>
          <a:xfrm>
            <a:off x="914400" y="4434840"/>
            <a:ext cx="5029200" cy="1463040"/>
          </a:xfrm>
          <a:prstGeom prst="rect">
            <a:avLst/>
          </a:prstGeom>
          <a:noFill/>
        </p:spPr>
        <p:txBody>
          <a:bodyPr wrap="square">
            <a:spAutoFit/>
          </a:bodyPr>
          <a:lstStyle/>
          <a:p>
            <a:pPr>
              <a:spcBef>
                <a:spcPts val="700"/>
              </a:spcBef>
            </a:pPr>
            <a:r>
              <a:rPr sz="1500">
                <a:solidFill>
                  <a:srgbClr val="334155"/>
                </a:solidFill>
                <a:latin typeface="Calibri"/>
              </a:rPr>
              <a:t>  •  Selecteer het component in Figma</a:t>
            </a:r>
          </a:p>
          <a:p>
            <a:pPr>
              <a:spcBef>
                <a:spcPts val="700"/>
              </a:spcBef>
            </a:pPr>
            <a:r>
              <a:rPr sz="1500">
                <a:solidFill>
                  <a:srgbClr val="334155"/>
                </a:solidFill>
                <a:latin typeface="Calibri"/>
              </a:rPr>
              <a:t>  •  Klik op '+ Add variant' in het rechter paneel</a:t>
            </a:r>
          </a:p>
          <a:p>
            <a:pPr>
              <a:spcBef>
                <a:spcPts val="700"/>
              </a:spcBef>
            </a:pPr>
            <a:r>
              <a:rPr sz="1500">
                <a:solidFill>
                  <a:srgbClr val="334155"/>
                </a:solidFill>
                <a:latin typeface="Calibri"/>
              </a:rPr>
              <a:t>  •  Geef elke variant een Property en Value naam</a:t>
            </a:r>
          </a:p>
        </p:txBody>
      </p:sp>
      <p:sp>
        <p:nvSpPr>
          <p:cNvPr id="10" name="TextBox 9"/>
          <p:cNvSpPr txBox="1"/>
          <p:nvPr/>
        </p:nvSpPr>
        <p:spPr>
          <a:xfrm>
            <a:off x="6400800" y="1572768"/>
            <a:ext cx="5303520" cy="411480"/>
          </a:xfrm>
          <a:prstGeom prst="rect">
            <a:avLst/>
          </a:prstGeom>
          <a:noFill/>
        </p:spPr>
        <p:txBody>
          <a:bodyPr wrap="square">
            <a:spAutoFit/>
          </a:bodyPr>
          <a:lstStyle/>
          <a:p>
            <a:pPr algn="l"/>
            <a:r>
              <a:rPr sz="1800" b="1" i="0">
                <a:solidFill>
                  <a:srgbClr val="0F172A"/>
                </a:solidFill>
                <a:latin typeface="Calibri"/>
              </a:rPr>
              <a:t>Voorbeeld: knop varianten</a:t>
            </a:r>
          </a:p>
        </p:txBody>
      </p:sp>
      <p:sp>
        <p:nvSpPr>
          <p:cNvPr id="11" name="Rectangle 10"/>
          <p:cNvSpPr/>
          <p:nvPr/>
        </p:nvSpPr>
        <p:spPr>
          <a:xfrm>
            <a:off x="6400800" y="2029968"/>
            <a:ext cx="1463040" cy="4114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1463040" cy="356616"/>
          </a:xfrm>
          <a:prstGeom prst="rect">
            <a:avLst/>
          </a:prstGeom>
          <a:noFill/>
        </p:spPr>
        <p:txBody>
          <a:bodyPr wrap="square">
            <a:spAutoFit/>
          </a:bodyPr>
          <a:lstStyle/>
          <a:p>
            <a:pPr algn="ctr"/>
            <a:r>
              <a:rPr sz="1300" b="1" i="0">
                <a:solidFill>
                  <a:srgbClr val="FFFFFF"/>
                </a:solidFill>
                <a:latin typeface="Calibri"/>
              </a:rPr>
              <a:t>primary</a:t>
            </a:r>
          </a:p>
        </p:txBody>
      </p:sp>
      <p:sp>
        <p:nvSpPr>
          <p:cNvPr id="13" name="Rectangle 12"/>
          <p:cNvSpPr/>
          <p:nvPr/>
        </p:nvSpPr>
        <p:spPr>
          <a:xfrm>
            <a:off x="7936992" y="2029968"/>
            <a:ext cx="146304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2084832"/>
            <a:ext cx="1463040" cy="356616"/>
          </a:xfrm>
          <a:prstGeom prst="rect">
            <a:avLst/>
          </a:prstGeom>
          <a:noFill/>
        </p:spPr>
        <p:txBody>
          <a:bodyPr wrap="square">
            <a:spAutoFit/>
          </a:bodyPr>
          <a:lstStyle/>
          <a:p>
            <a:pPr algn="ctr"/>
            <a:r>
              <a:rPr sz="1300" b="1" i="0">
                <a:solidFill>
                  <a:srgbClr val="FFFFFF"/>
                </a:solidFill>
                <a:latin typeface="Calibri"/>
              </a:rPr>
              <a:t>secondary</a:t>
            </a:r>
          </a:p>
        </p:txBody>
      </p:sp>
      <p:sp>
        <p:nvSpPr>
          <p:cNvPr id="15" name="Rectangle 14"/>
          <p:cNvSpPr/>
          <p:nvPr/>
        </p:nvSpPr>
        <p:spPr>
          <a:xfrm>
            <a:off x="9473184" y="2029968"/>
            <a:ext cx="146304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73184" y="2084832"/>
            <a:ext cx="1463040" cy="356616"/>
          </a:xfrm>
          <a:prstGeom prst="rect">
            <a:avLst/>
          </a:prstGeom>
          <a:noFill/>
        </p:spPr>
        <p:txBody>
          <a:bodyPr wrap="square">
            <a:spAutoFit/>
          </a:bodyPr>
          <a:lstStyle/>
          <a:p>
            <a:pPr algn="ctr"/>
            <a:r>
              <a:rPr sz="1300" b="1" i="0">
                <a:solidFill>
                  <a:srgbClr val="FFFFFF"/>
                </a:solidFill>
                <a:latin typeface="Calibri"/>
              </a:rPr>
              <a:t>ghost</a:t>
            </a:r>
          </a:p>
        </p:txBody>
      </p:sp>
      <p:sp>
        <p:nvSpPr>
          <p:cNvPr id="17" name="TextBox 16"/>
          <p:cNvSpPr txBox="1"/>
          <p:nvPr/>
        </p:nvSpPr>
        <p:spPr>
          <a:xfrm>
            <a:off x="5650992" y="2606040"/>
            <a:ext cx="731520" cy="457200"/>
          </a:xfrm>
          <a:prstGeom prst="rect">
            <a:avLst/>
          </a:prstGeom>
          <a:noFill/>
        </p:spPr>
        <p:txBody>
          <a:bodyPr wrap="square">
            <a:spAutoFit/>
          </a:bodyPr>
          <a:lstStyle/>
          <a:p>
            <a:pPr algn="l"/>
            <a:r>
              <a:rPr sz="1300" b="0" i="1">
                <a:solidFill>
                  <a:srgbClr val="647487"/>
                </a:solidFill>
                <a:latin typeface="Calibri"/>
              </a:rPr>
              <a:t>large</a:t>
            </a:r>
          </a:p>
        </p:txBody>
      </p:sp>
      <p:sp>
        <p:nvSpPr>
          <p:cNvPr id="18" name="Rectangle 17"/>
          <p:cNvSpPr/>
          <p:nvPr/>
        </p:nvSpPr>
        <p:spPr>
          <a:xfrm>
            <a:off x="6400800" y="2514600"/>
            <a:ext cx="1463040" cy="47548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606040"/>
            <a:ext cx="1463040" cy="347472"/>
          </a:xfrm>
          <a:prstGeom prst="rect">
            <a:avLst/>
          </a:prstGeom>
          <a:noFill/>
        </p:spPr>
        <p:txBody>
          <a:bodyPr wrap="square">
            <a:spAutoFit/>
          </a:bodyPr>
          <a:lstStyle/>
          <a:p>
            <a:pPr algn="ctr"/>
            <a:r>
              <a:rPr sz="1400" b="1" i="0">
                <a:solidFill>
                  <a:srgbClr val="FFFFFF"/>
                </a:solidFill>
                <a:latin typeface="Calibri"/>
              </a:rPr>
              <a:t>Doneer</a:t>
            </a:r>
          </a:p>
        </p:txBody>
      </p:sp>
      <p:sp>
        <p:nvSpPr>
          <p:cNvPr id="20" name="Rectangle 19"/>
          <p:cNvSpPr/>
          <p:nvPr/>
        </p:nvSpPr>
        <p:spPr>
          <a:xfrm>
            <a:off x="7936992" y="2514600"/>
            <a:ext cx="1463040" cy="475488"/>
          </a:xfrm>
          <a:prstGeom prst="rect">
            <a:avLst/>
          </a:prstGeom>
          <a:solidFill>
            <a:srgbClr val="F8FAFC"/>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36992" y="2606040"/>
            <a:ext cx="1463040" cy="347472"/>
          </a:xfrm>
          <a:prstGeom prst="rect">
            <a:avLst/>
          </a:prstGeom>
          <a:noFill/>
        </p:spPr>
        <p:txBody>
          <a:bodyPr wrap="square">
            <a:spAutoFit/>
          </a:bodyPr>
          <a:lstStyle/>
          <a:p>
            <a:pPr algn="ctr"/>
            <a:r>
              <a:rPr sz="1400" b="1" i="0">
                <a:solidFill>
                  <a:srgbClr val="2563EB"/>
                </a:solidFill>
                <a:latin typeface="Calibri"/>
              </a:rPr>
              <a:t>Doneer</a:t>
            </a:r>
          </a:p>
        </p:txBody>
      </p:sp>
      <p:sp>
        <p:nvSpPr>
          <p:cNvPr id="22" name="Rectangle 21"/>
          <p:cNvSpPr/>
          <p:nvPr/>
        </p:nvSpPr>
        <p:spPr>
          <a:xfrm>
            <a:off x="9473184" y="2514600"/>
            <a:ext cx="1463040" cy="475488"/>
          </a:xfrm>
          <a:prstGeom prst="rect">
            <a:avLst/>
          </a:prstGeom>
          <a:solidFill>
            <a:srgbClr val="FFFFFF"/>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2606040"/>
            <a:ext cx="1463040" cy="347472"/>
          </a:xfrm>
          <a:prstGeom prst="rect">
            <a:avLst/>
          </a:prstGeom>
          <a:noFill/>
        </p:spPr>
        <p:txBody>
          <a:bodyPr wrap="square">
            <a:spAutoFit/>
          </a:bodyPr>
          <a:lstStyle/>
          <a:p>
            <a:pPr algn="ctr"/>
            <a:r>
              <a:rPr sz="1400" b="1" i="0">
                <a:solidFill>
                  <a:srgbClr val="2563EB"/>
                </a:solidFill>
                <a:latin typeface="Calibri"/>
              </a:rPr>
              <a:t>Doneer</a:t>
            </a:r>
          </a:p>
        </p:txBody>
      </p:sp>
      <p:sp>
        <p:nvSpPr>
          <p:cNvPr id="24" name="TextBox 23"/>
          <p:cNvSpPr txBox="1"/>
          <p:nvPr/>
        </p:nvSpPr>
        <p:spPr>
          <a:xfrm>
            <a:off x="5650992" y="3657600"/>
            <a:ext cx="731520" cy="320040"/>
          </a:xfrm>
          <a:prstGeom prst="rect">
            <a:avLst/>
          </a:prstGeom>
          <a:noFill/>
        </p:spPr>
        <p:txBody>
          <a:bodyPr wrap="square">
            <a:spAutoFit/>
          </a:bodyPr>
          <a:lstStyle/>
          <a:p>
            <a:pPr algn="l"/>
            <a:r>
              <a:rPr sz="1300" b="0" i="1">
                <a:solidFill>
                  <a:srgbClr val="647487"/>
                </a:solidFill>
                <a:latin typeface="Calibri"/>
              </a:rPr>
              <a:t>small</a:t>
            </a:r>
          </a:p>
        </p:txBody>
      </p:sp>
      <p:sp>
        <p:nvSpPr>
          <p:cNvPr id="25" name="Rectangle 24"/>
          <p:cNvSpPr/>
          <p:nvPr/>
        </p:nvSpPr>
        <p:spPr>
          <a:xfrm>
            <a:off x="6400800" y="3474720"/>
            <a:ext cx="1463040"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511296"/>
            <a:ext cx="1463040" cy="292608"/>
          </a:xfrm>
          <a:prstGeom prst="rect">
            <a:avLst/>
          </a:prstGeom>
          <a:noFill/>
        </p:spPr>
        <p:txBody>
          <a:bodyPr wrap="square">
            <a:spAutoFit/>
          </a:bodyPr>
          <a:lstStyle/>
          <a:p>
            <a:pPr algn="ctr"/>
            <a:r>
              <a:rPr sz="1200" b="1" i="0">
                <a:solidFill>
                  <a:srgbClr val="FFFFFF"/>
                </a:solidFill>
                <a:latin typeface="Calibri"/>
              </a:rPr>
              <a:t>Doneer</a:t>
            </a:r>
          </a:p>
        </p:txBody>
      </p:sp>
      <p:sp>
        <p:nvSpPr>
          <p:cNvPr id="27" name="Rectangle 26"/>
          <p:cNvSpPr/>
          <p:nvPr/>
        </p:nvSpPr>
        <p:spPr>
          <a:xfrm>
            <a:off x="7936992" y="3474720"/>
            <a:ext cx="1463040" cy="347472"/>
          </a:xfrm>
          <a:prstGeom prst="rect">
            <a:avLst/>
          </a:prstGeom>
          <a:solidFill>
            <a:srgbClr val="F8FAFC"/>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6992" y="3511296"/>
            <a:ext cx="1463040" cy="292608"/>
          </a:xfrm>
          <a:prstGeom prst="rect">
            <a:avLst/>
          </a:prstGeom>
          <a:noFill/>
        </p:spPr>
        <p:txBody>
          <a:bodyPr wrap="square">
            <a:spAutoFit/>
          </a:bodyPr>
          <a:lstStyle/>
          <a:p>
            <a:pPr algn="ctr"/>
            <a:r>
              <a:rPr sz="1200" b="1" i="0">
                <a:solidFill>
                  <a:srgbClr val="2563EB"/>
                </a:solidFill>
                <a:latin typeface="Calibri"/>
              </a:rPr>
              <a:t>Doneer</a:t>
            </a:r>
          </a:p>
        </p:txBody>
      </p:sp>
      <p:sp>
        <p:nvSpPr>
          <p:cNvPr id="29" name="Rectangle 28"/>
          <p:cNvSpPr/>
          <p:nvPr/>
        </p:nvSpPr>
        <p:spPr>
          <a:xfrm>
            <a:off x="9473184" y="3474720"/>
            <a:ext cx="1463040" cy="347472"/>
          </a:xfrm>
          <a:prstGeom prst="rect">
            <a:avLst/>
          </a:prstGeom>
          <a:solidFill>
            <a:srgbClr val="FFFFFF"/>
          </a:solidFill>
          <a:ln w="9525">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73184" y="3511296"/>
            <a:ext cx="1463040" cy="292608"/>
          </a:xfrm>
          <a:prstGeom prst="rect">
            <a:avLst/>
          </a:prstGeom>
          <a:noFill/>
        </p:spPr>
        <p:txBody>
          <a:bodyPr wrap="square">
            <a:spAutoFit/>
          </a:bodyPr>
          <a:lstStyle/>
          <a:p>
            <a:pPr algn="ctr"/>
            <a:r>
              <a:rPr sz="1200" b="1" i="0">
                <a:solidFill>
                  <a:srgbClr val="2563EB"/>
                </a:solidFill>
                <a:latin typeface="Calibri"/>
              </a:rPr>
              <a:t>Doneer</a:t>
            </a:r>
          </a:p>
        </p:txBody>
      </p:sp>
      <p:sp>
        <p:nvSpPr>
          <p:cNvPr id="31" name="TextBox 30"/>
          <p:cNvSpPr txBox="1"/>
          <p:nvPr/>
        </p:nvSpPr>
        <p:spPr>
          <a:xfrm>
            <a:off x="5650992" y="4489704"/>
            <a:ext cx="749808" cy="320040"/>
          </a:xfrm>
          <a:prstGeom prst="rect">
            <a:avLst/>
          </a:prstGeom>
          <a:noFill/>
        </p:spPr>
        <p:txBody>
          <a:bodyPr wrap="square">
            <a:spAutoFit/>
          </a:bodyPr>
          <a:lstStyle/>
          <a:p>
            <a:pPr algn="l"/>
            <a:r>
              <a:rPr sz="1300" b="0" i="1">
                <a:solidFill>
                  <a:srgbClr val="647487"/>
                </a:solidFill>
                <a:latin typeface="Calibri"/>
              </a:rPr>
              <a:t>disabled</a:t>
            </a:r>
          </a:p>
        </p:txBody>
      </p:sp>
      <p:sp>
        <p:nvSpPr>
          <p:cNvPr id="32" name="Rectangle 31"/>
          <p:cNvSpPr/>
          <p:nvPr/>
        </p:nvSpPr>
        <p:spPr>
          <a:xfrm>
            <a:off x="6400800" y="4306824"/>
            <a:ext cx="1463040" cy="347472"/>
          </a:xfrm>
          <a:prstGeom prst="rect">
            <a:avLst/>
          </a:prstGeom>
          <a:solidFill>
            <a:srgbClr val="C8D2DC"/>
          </a:solidFill>
          <a:ln w="9525">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4343400"/>
            <a:ext cx="1463040" cy="292608"/>
          </a:xfrm>
          <a:prstGeom prst="rect">
            <a:avLst/>
          </a:prstGeom>
          <a:noFill/>
        </p:spPr>
        <p:txBody>
          <a:bodyPr wrap="square">
            <a:spAutoFit/>
          </a:bodyPr>
          <a:lstStyle/>
          <a:p>
            <a:pPr algn="ctr"/>
            <a:r>
              <a:rPr sz="1200" b="1" i="0">
                <a:solidFill>
                  <a:srgbClr val="A0AAB4"/>
                </a:solidFill>
                <a:latin typeface="Calibri"/>
              </a:rPr>
              <a:t>Doneer</a:t>
            </a:r>
          </a:p>
        </p:txBody>
      </p:sp>
      <p:sp>
        <p:nvSpPr>
          <p:cNvPr id="34" name="Rectangle 33"/>
          <p:cNvSpPr/>
          <p:nvPr/>
        </p:nvSpPr>
        <p:spPr>
          <a:xfrm>
            <a:off x="7936992" y="4306824"/>
            <a:ext cx="1463040" cy="347472"/>
          </a:xfrm>
          <a:prstGeom prst="rect">
            <a:avLst/>
          </a:prstGeom>
          <a:solidFill>
            <a:srgbClr val="C8D2DC"/>
          </a:solidFill>
          <a:ln w="9525">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36992" y="4343400"/>
            <a:ext cx="1463040" cy="292608"/>
          </a:xfrm>
          <a:prstGeom prst="rect">
            <a:avLst/>
          </a:prstGeom>
          <a:noFill/>
        </p:spPr>
        <p:txBody>
          <a:bodyPr wrap="square">
            <a:spAutoFit/>
          </a:bodyPr>
          <a:lstStyle/>
          <a:p>
            <a:pPr algn="ctr"/>
            <a:r>
              <a:rPr sz="1200" b="1" i="0">
                <a:solidFill>
                  <a:srgbClr val="A0AAB4"/>
                </a:solidFill>
                <a:latin typeface="Calibri"/>
              </a:rPr>
              <a:t>Doneer</a:t>
            </a:r>
          </a:p>
        </p:txBody>
      </p:sp>
      <p:sp>
        <p:nvSpPr>
          <p:cNvPr id="36" name="Rectangle 35"/>
          <p:cNvSpPr/>
          <p:nvPr/>
        </p:nvSpPr>
        <p:spPr>
          <a:xfrm>
            <a:off x="9473184" y="4306824"/>
            <a:ext cx="1463040" cy="347472"/>
          </a:xfrm>
          <a:prstGeom prst="rect">
            <a:avLst/>
          </a:prstGeom>
          <a:solidFill>
            <a:srgbClr val="C8D2DC"/>
          </a:solidFill>
          <a:ln w="9525">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73184" y="4343400"/>
            <a:ext cx="1463040" cy="292608"/>
          </a:xfrm>
          <a:prstGeom prst="rect">
            <a:avLst/>
          </a:prstGeom>
          <a:noFill/>
        </p:spPr>
        <p:txBody>
          <a:bodyPr wrap="square">
            <a:spAutoFit/>
          </a:bodyPr>
          <a:lstStyle/>
          <a:p>
            <a:pPr algn="ctr"/>
            <a:r>
              <a:rPr sz="1200" b="1" i="0">
                <a:solidFill>
                  <a:srgbClr val="A0AAB4"/>
                </a:solidFill>
                <a:latin typeface="Calibri"/>
              </a:rPr>
              <a:t>Doneer</a:t>
            </a:r>
          </a:p>
        </p:txBody>
      </p:sp>
      <p:sp>
        <p:nvSpPr>
          <p:cNvPr id="38" name="TextBox 37"/>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Auto Layout: flexibele componenten</a:t>
            </a:r>
          </a:p>
        </p:txBody>
      </p:sp>
      <p:sp>
        <p:nvSpPr>
          <p:cNvPr id="4" name="Rectangle 3"/>
          <p:cNvSpPr/>
          <p:nvPr/>
        </p:nvSpPr>
        <p:spPr>
          <a:xfrm>
            <a:off x="914400" y="1298448"/>
            <a:ext cx="182880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B4F0C8"/>
                </a:solidFill>
                <a:latin typeface="Calibri"/>
              </a:rPr>
              <a:t>Shift+A in Figma - zoals flexbox in CSS</a:t>
            </a:r>
          </a:p>
        </p:txBody>
      </p:sp>
      <p:sp>
        <p:nvSpPr>
          <p:cNvPr id="6" name="TextBox 5"/>
          <p:cNvSpPr txBox="1"/>
          <p:nvPr/>
        </p:nvSpPr>
        <p:spPr>
          <a:xfrm>
            <a:off x="914400" y="1874519"/>
            <a:ext cx="6583680" cy="2286000"/>
          </a:xfrm>
          <a:prstGeom prst="rect">
            <a:avLst/>
          </a:prstGeom>
          <a:noFill/>
        </p:spPr>
        <p:txBody>
          <a:bodyPr wrap="square">
            <a:spAutoFit/>
          </a:bodyPr>
          <a:lstStyle/>
          <a:p>
            <a:pPr>
              <a:spcBef>
                <a:spcPts val="700"/>
              </a:spcBef>
            </a:pPr>
            <a:r>
              <a:rPr sz="1600">
                <a:solidFill>
                  <a:srgbClr val="D2E6FF"/>
                </a:solidFill>
                <a:latin typeface="Calibri"/>
              </a:rPr>
              <a:t>  •  Auto Layout laat elementen automatisch omgaan met veranderende inhoud</a:t>
            </a:r>
          </a:p>
          <a:p>
            <a:pPr>
              <a:spcBef>
                <a:spcPts val="700"/>
              </a:spcBef>
            </a:pPr>
            <a:r>
              <a:rPr sz="1600">
                <a:solidFill>
                  <a:srgbClr val="D2E6FF"/>
                </a:solidFill>
                <a:latin typeface="Calibri"/>
              </a:rPr>
              <a:t>  •  Zoals flexbox in CSS: richting, gap, padding en uitlijning instellen</a:t>
            </a:r>
          </a:p>
          <a:p>
            <a:pPr>
              <a:spcBef>
                <a:spcPts val="700"/>
              </a:spcBef>
            </a:pPr>
            <a:r>
              <a:rPr sz="1600">
                <a:solidFill>
                  <a:srgbClr val="D2E6FF"/>
                </a:solidFill>
                <a:latin typeface="Calibri"/>
              </a:rPr>
              <a:t>  •  Knoppen groeien mee met de tekst erin</a:t>
            </a:r>
          </a:p>
          <a:p>
            <a:pPr>
              <a:spcBef>
                <a:spcPts val="700"/>
              </a:spcBef>
            </a:pPr>
            <a:r>
              <a:rPr sz="1600">
                <a:solidFill>
                  <a:srgbClr val="D2E6FF"/>
                </a:solidFill>
                <a:latin typeface="Calibri"/>
              </a:rPr>
              <a:t>  •  Lijsten herschikken zich als items worden toegevoegd</a:t>
            </a:r>
          </a:p>
          <a:p>
            <a:pPr>
              <a:spcBef>
                <a:spcPts val="700"/>
              </a:spcBef>
            </a:pPr>
            <a:r>
              <a:rPr sz="1600">
                <a:solidFill>
                  <a:srgbClr val="D2E6FF"/>
                </a:solidFill>
                <a:latin typeface="Calibri"/>
              </a:rPr>
              <a:t>  •  Essentieel voor responsief ontwerpen in Figma</a:t>
            </a:r>
          </a:p>
        </p:txBody>
      </p:sp>
      <p:sp>
        <p:nvSpPr>
          <p:cNvPr id="7" name="TextBox 6"/>
          <p:cNvSpPr txBox="1"/>
          <p:nvPr/>
        </p:nvSpPr>
        <p:spPr>
          <a:xfrm>
            <a:off x="914400" y="4251960"/>
            <a:ext cx="6583680" cy="384048"/>
          </a:xfrm>
          <a:prstGeom prst="rect">
            <a:avLst/>
          </a:prstGeom>
          <a:noFill/>
        </p:spPr>
        <p:txBody>
          <a:bodyPr wrap="square">
            <a:spAutoFit/>
          </a:bodyPr>
          <a:lstStyle/>
          <a:p>
            <a:pPr algn="l"/>
            <a:r>
              <a:rPr sz="1600" b="1" i="0">
                <a:solidFill>
                  <a:srgbClr val="4ADE80"/>
                </a:solidFill>
                <a:latin typeface="Calibri"/>
              </a:rPr>
              <a:t>Auto Layout inschakelen:</a:t>
            </a:r>
          </a:p>
        </p:txBody>
      </p:sp>
      <p:sp>
        <p:nvSpPr>
          <p:cNvPr id="8" name="TextBox 7"/>
          <p:cNvSpPr txBox="1"/>
          <p:nvPr/>
        </p:nvSpPr>
        <p:spPr>
          <a:xfrm>
            <a:off x="914400" y="4663440"/>
            <a:ext cx="6583680" cy="1371600"/>
          </a:xfrm>
          <a:prstGeom prst="rect">
            <a:avLst/>
          </a:prstGeom>
          <a:noFill/>
        </p:spPr>
        <p:txBody>
          <a:bodyPr wrap="square">
            <a:spAutoFit/>
          </a:bodyPr>
          <a:lstStyle/>
          <a:p>
            <a:pPr>
              <a:spcBef>
                <a:spcPts val="700"/>
              </a:spcBef>
            </a:pPr>
            <a:r>
              <a:rPr sz="1500">
                <a:solidFill>
                  <a:srgbClr val="C8DCFF"/>
                </a:solidFill>
                <a:latin typeface="Calibri"/>
              </a:rPr>
              <a:t>  •  Selecteer een frame of component in Figma</a:t>
            </a:r>
          </a:p>
          <a:p>
            <a:pPr>
              <a:spcBef>
                <a:spcPts val="700"/>
              </a:spcBef>
            </a:pPr>
            <a:r>
              <a:rPr sz="1500">
                <a:solidFill>
                  <a:srgbClr val="C8DCFF"/>
                </a:solidFill>
                <a:latin typeface="Calibri"/>
              </a:rPr>
              <a:t>  •  Druk op Shift+A om Auto Layout in te schakelen</a:t>
            </a:r>
          </a:p>
          <a:p>
            <a:pPr>
              <a:spcBef>
                <a:spcPts val="700"/>
              </a:spcBef>
            </a:pPr>
            <a:r>
              <a:rPr sz="1500">
                <a:solidFill>
                  <a:srgbClr val="C8DCFF"/>
                </a:solidFill>
                <a:latin typeface="Calibri"/>
              </a:rPr>
              <a:t>  •  Stel in: richting (H/V), gap en padding (gebruik 8pt waarden: 8, 16, 24, 32)</a:t>
            </a:r>
          </a:p>
        </p:txBody>
      </p:sp>
      <p:sp>
        <p:nvSpPr>
          <p:cNvPr id="9" name="Rectangle 8"/>
          <p:cNvSpPr/>
          <p:nvPr/>
        </p:nvSpPr>
        <p:spPr>
          <a:xfrm>
            <a:off x="7772400" y="2011680"/>
            <a:ext cx="2011680" cy="2377440"/>
          </a:xfrm>
          <a:prstGeom prst="rect">
            <a:avLst/>
          </a:prstGeom>
          <a:solidFill>
            <a:srgbClr val="141E3C"/>
          </a:solidFill>
          <a:ln w="9525">
            <a:solidFill>
              <a:srgbClr val="3246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103120"/>
            <a:ext cx="2011680" cy="347472"/>
          </a:xfrm>
          <a:prstGeom prst="rect">
            <a:avLst/>
          </a:prstGeom>
          <a:noFill/>
        </p:spPr>
        <p:txBody>
          <a:bodyPr wrap="square">
            <a:spAutoFit/>
          </a:bodyPr>
          <a:lstStyle/>
          <a:p>
            <a:pPr algn="ctr"/>
            <a:r>
              <a:rPr sz="1200" b="1" i="0">
                <a:solidFill>
                  <a:srgbClr val="A0B4DC"/>
                </a:solidFill>
                <a:latin typeface="Calibri"/>
              </a:rPr>
              <a:t>Zonder Auto Layout</a:t>
            </a:r>
          </a:p>
        </p:txBody>
      </p:sp>
      <p:sp>
        <p:nvSpPr>
          <p:cNvPr id="11" name="Rectangle 10"/>
          <p:cNvSpPr/>
          <p:nvPr/>
        </p:nvSpPr>
        <p:spPr>
          <a:xfrm>
            <a:off x="7955280" y="2560320"/>
            <a:ext cx="1645920" cy="3840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0" y="2615184"/>
            <a:ext cx="1645920" cy="292608"/>
          </a:xfrm>
          <a:prstGeom prst="rect">
            <a:avLst/>
          </a:prstGeom>
          <a:noFill/>
        </p:spPr>
        <p:txBody>
          <a:bodyPr wrap="square">
            <a:spAutoFit/>
          </a:bodyPr>
          <a:lstStyle/>
          <a:p>
            <a:pPr algn="ctr"/>
            <a:r>
              <a:rPr sz="1100" b="0" i="0">
                <a:solidFill>
                  <a:srgbClr val="FFFFFF"/>
                </a:solidFill>
                <a:latin typeface="Calibri"/>
              </a:rPr>
              <a:t>Knop met lange tekst...</a:t>
            </a:r>
          </a:p>
        </p:txBody>
      </p:sp>
      <p:sp>
        <p:nvSpPr>
          <p:cNvPr id="13" name="Rectangle 12"/>
          <p:cNvSpPr/>
          <p:nvPr/>
        </p:nvSpPr>
        <p:spPr>
          <a:xfrm>
            <a:off x="9509760" y="2560320"/>
            <a:ext cx="274320" cy="38404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2615184"/>
            <a:ext cx="292608" cy="274320"/>
          </a:xfrm>
          <a:prstGeom prst="rect">
            <a:avLst/>
          </a:prstGeom>
          <a:noFill/>
        </p:spPr>
        <p:txBody>
          <a:bodyPr wrap="square">
            <a:spAutoFit/>
          </a:bodyPr>
          <a:lstStyle/>
          <a:p>
            <a:pPr algn="ctr"/>
            <a:r>
              <a:rPr sz="900" b="1" i="0">
                <a:solidFill>
                  <a:srgbClr val="FFFFFF"/>
                </a:solidFill>
                <a:latin typeface="Calibri"/>
              </a:rPr>
              <a:t>Clip</a:t>
            </a:r>
          </a:p>
        </p:txBody>
      </p:sp>
      <p:sp>
        <p:nvSpPr>
          <p:cNvPr id="15" name="TextBox 14"/>
          <p:cNvSpPr txBox="1"/>
          <p:nvPr/>
        </p:nvSpPr>
        <p:spPr>
          <a:xfrm>
            <a:off x="7772400" y="3090672"/>
            <a:ext cx="2011680" cy="347472"/>
          </a:xfrm>
          <a:prstGeom prst="rect">
            <a:avLst/>
          </a:prstGeom>
          <a:noFill/>
        </p:spPr>
        <p:txBody>
          <a:bodyPr wrap="square">
            <a:spAutoFit/>
          </a:bodyPr>
          <a:lstStyle/>
          <a:p>
            <a:pPr algn="ctr"/>
            <a:r>
              <a:rPr sz="1100" b="0" i="0">
                <a:solidFill>
                  <a:srgbClr val="B46464"/>
                </a:solidFill>
                <a:latin typeface="Calibri"/>
              </a:rPr>
              <a:t>Tekst wordt afgeknipt</a:t>
            </a:r>
          </a:p>
        </p:txBody>
      </p:sp>
      <p:sp>
        <p:nvSpPr>
          <p:cNvPr id="16" name="Rectangle 15"/>
          <p:cNvSpPr/>
          <p:nvPr/>
        </p:nvSpPr>
        <p:spPr>
          <a:xfrm>
            <a:off x="10058400" y="2011680"/>
            <a:ext cx="2011680" cy="2377440"/>
          </a:xfrm>
          <a:prstGeom prst="rect">
            <a:avLst/>
          </a:prstGeom>
          <a:solidFill>
            <a:srgbClr val="141E3C"/>
          </a:solidFill>
          <a:ln w="9525">
            <a:solidFill>
              <a:srgbClr val="3246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0" y="2103120"/>
            <a:ext cx="2011680" cy="347472"/>
          </a:xfrm>
          <a:prstGeom prst="rect">
            <a:avLst/>
          </a:prstGeom>
          <a:noFill/>
        </p:spPr>
        <p:txBody>
          <a:bodyPr wrap="square">
            <a:spAutoFit/>
          </a:bodyPr>
          <a:lstStyle/>
          <a:p>
            <a:pPr algn="ctr"/>
            <a:r>
              <a:rPr sz="1200" b="1" i="0">
                <a:solidFill>
                  <a:srgbClr val="4ADE80"/>
                </a:solidFill>
                <a:latin typeface="Calibri"/>
              </a:rPr>
              <a:t>Met Auto Layout</a:t>
            </a:r>
          </a:p>
        </p:txBody>
      </p:sp>
      <p:sp>
        <p:nvSpPr>
          <p:cNvPr id="18" name="Rectangle 17"/>
          <p:cNvSpPr/>
          <p:nvPr/>
        </p:nvSpPr>
        <p:spPr>
          <a:xfrm>
            <a:off x="10195560" y="2560320"/>
            <a:ext cx="1737360" cy="3840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95560" y="2615184"/>
            <a:ext cx="1737360" cy="292608"/>
          </a:xfrm>
          <a:prstGeom prst="rect">
            <a:avLst/>
          </a:prstGeom>
          <a:noFill/>
        </p:spPr>
        <p:txBody>
          <a:bodyPr wrap="square">
            <a:spAutoFit/>
          </a:bodyPr>
          <a:lstStyle/>
          <a:p>
            <a:pPr algn="ctr"/>
            <a:r>
              <a:rPr sz="1100" b="0" i="0">
                <a:solidFill>
                  <a:srgbClr val="FFFFFF"/>
                </a:solidFill>
                <a:latin typeface="Calibri"/>
              </a:rPr>
              <a:t>Knop past zich aan</a:t>
            </a:r>
          </a:p>
        </p:txBody>
      </p:sp>
      <p:sp>
        <p:nvSpPr>
          <p:cNvPr id="20" name="TextBox 19"/>
          <p:cNvSpPr txBox="1"/>
          <p:nvPr/>
        </p:nvSpPr>
        <p:spPr>
          <a:xfrm>
            <a:off x="10058400" y="3090672"/>
            <a:ext cx="2011680" cy="347472"/>
          </a:xfrm>
          <a:prstGeom prst="rect">
            <a:avLst/>
          </a:prstGeom>
          <a:noFill/>
        </p:spPr>
        <p:txBody>
          <a:bodyPr wrap="square">
            <a:spAutoFit/>
          </a:bodyPr>
          <a:lstStyle/>
          <a:p>
            <a:pPr algn="ctr"/>
            <a:r>
              <a:rPr sz="1100" b="0" i="0">
                <a:solidFill>
                  <a:srgbClr val="4ADE80"/>
                </a:solidFill>
                <a:latin typeface="Calibri"/>
              </a:rPr>
              <a:t>Inhoud past altijd</a:t>
            </a:r>
          </a:p>
        </p:txBody>
      </p:sp>
      <p:sp>
        <p:nvSpPr>
          <p:cNvPr id="21" name="TextBox 20"/>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Component states: interactie vastleggen</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Hoe een component er uitziet in verschillende situaties</a:t>
            </a:r>
          </a:p>
        </p:txBody>
      </p:sp>
      <p:sp>
        <p:nvSpPr>
          <p:cNvPr id="6" name="Rectangle 5"/>
          <p:cNvSpPr/>
          <p:nvPr/>
        </p:nvSpPr>
        <p:spPr>
          <a:xfrm>
            <a:off x="914400" y="1627632"/>
            <a:ext cx="2697480" cy="457200"/>
          </a:xfrm>
          <a:prstGeom prst="rect">
            <a:avLst/>
          </a:prstGeom>
          <a:solidFill>
            <a:srgbClr val="64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697480" cy="393192"/>
          </a:xfrm>
          <a:prstGeom prst="rect">
            <a:avLst/>
          </a:prstGeom>
          <a:noFill/>
        </p:spPr>
        <p:txBody>
          <a:bodyPr wrap="square">
            <a:spAutoFit/>
          </a:bodyPr>
          <a:lstStyle/>
          <a:p>
            <a:pPr algn="ctr"/>
            <a:r>
              <a:rPr sz="2000" b="1" i="0">
                <a:solidFill>
                  <a:srgbClr val="FFFFFF"/>
                </a:solidFill>
                <a:latin typeface="Calibri"/>
              </a:rPr>
              <a:t>Default</a:t>
            </a:r>
          </a:p>
        </p:txBody>
      </p:sp>
      <p:sp>
        <p:nvSpPr>
          <p:cNvPr id="8" name="Rectangle 7"/>
          <p:cNvSpPr/>
          <p:nvPr/>
        </p:nvSpPr>
        <p:spPr>
          <a:xfrm>
            <a:off x="914400" y="2084832"/>
            <a:ext cx="2697480" cy="28346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2423160" cy="347472"/>
          </a:xfrm>
          <a:prstGeom prst="rect">
            <a:avLst/>
          </a:prstGeom>
          <a:noFill/>
        </p:spPr>
        <p:txBody>
          <a:bodyPr wrap="square">
            <a:spAutoFit/>
          </a:bodyPr>
          <a:lstStyle/>
          <a:p>
            <a:pPr algn="l"/>
            <a:r>
              <a:rPr sz="1400" b="1" i="0">
                <a:solidFill>
                  <a:srgbClr val="647487"/>
                </a:solidFill>
                <a:latin typeface="Calibri"/>
              </a:rPr>
              <a:t>De basisstaat</a:t>
            </a:r>
          </a:p>
        </p:txBody>
      </p:sp>
      <p:sp>
        <p:nvSpPr>
          <p:cNvPr id="10" name="TextBox 9"/>
          <p:cNvSpPr txBox="1"/>
          <p:nvPr/>
        </p:nvSpPr>
        <p:spPr>
          <a:xfrm>
            <a:off x="1051560" y="2587752"/>
            <a:ext cx="2423160" cy="822960"/>
          </a:xfrm>
          <a:prstGeom prst="rect">
            <a:avLst/>
          </a:prstGeom>
          <a:noFill/>
        </p:spPr>
        <p:txBody>
          <a:bodyPr wrap="square">
            <a:spAutoFit/>
          </a:bodyPr>
          <a:lstStyle/>
          <a:p>
            <a:pPr algn="l"/>
            <a:r>
              <a:rPr sz="1300" b="0" i="0">
                <a:solidFill>
                  <a:srgbClr val="334155"/>
                </a:solidFill>
                <a:latin typeface="Calibri"/>
              </a:rPr>
              <a:t>Hoe het component er altijd uitziet als er niets mee gebeurt</a:t>
            </a:r>
          </a:p>
        </p:txBody>
      </p:sp>
      <p:sp>
        <p:nvSpPr>
          <p:cNvPr id="11" name="Rectangle 10"/>
          <p:cNvSpPr/>
          <p:nvPr/>
        </p:nvSpPr>
        <p:spPr>
          <a:xfrm>
            <a:off x="1188720" y="3547872"/>
            <a:ext cx="2148840" cy="457200"/>
          </a:xfrm>
          <a:prstGeom prst="rect">
            <a:avLst/>
          </a:prstGeom>
          <a:solidFill>
            <a:srgbClr val="64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621024"/>
            <a:ext cx="2148840" cy="347472"/>
          </a:xfrm>
          <a:prstGeom prst="rect">
            <a:avLst/>
          </a:prstGeom>
          <a:noFill/>
        </p:spPr>
        <p:txBody>
          <a:bodyPr wrap="square">
            <a:spAutoFit/>
          </a:bodyPr>
          <a:lstStyle/>
          <a:p>
            <a:pPr algn="ctr"/>
            <a:r>
              <a:rPr sz="1400" b="1" i="0">
                <a:solidFill>
                  <a:srgbClr val="FFFFFF"/>
                </a:solidFill>
                <a:latin typeface="Calibri"/>
              </a:rPr>
              <a:t>Doneer</a:t>
            </a:r>
          </a:p>
        </p:txBody>
      </p:sp>
      <p:sp>
        <p:nvSpPr>
          <p:cNvPr id="13" name="TextBox 12"/>
          <p:cNvSpPr txBox="1"/>
          <p:nvPr/>
        </p:nvSpPr>
        <p:spPr>
          <a:xfrm>
            <a:off x="1051560" y="4233672"/>
            <a:ext cx="2423160" cy="320040"/>
          </a:xfrm>
          <a:prstGeom prst="rect">
            <a:avLst/>
          </a:prstGeom>
          <a:noFill/>
        </p:spPr>
        <p:txBody>
          <a:bodyPr wrap="square">
            <a:spAutoFit/>
          </a:bodyPr>
          <a:lstStyle/>
          <a:p>
            <a:pPr algn="l"/>
            <a:r>
              <a:rPr sz="1200" b="0" i="1">
                <a:solidFill>
                  <a:srgbClr val="647487"/>
                </a:solidFill>
                <a:latin typeface="Calibri"/>
              </a:rPr>
              <a:t>Variant: default</a:t>
            </a:r>
          </a:p>
        </p:txBody>
      </p:sp>
      <p:sp>
        <p:nvSpPr>
          <p:cNvPr id="14" name="Rectangle 13"/>
          <p:cNvSpPr/>
          <p:nvPr/>
        </p:nvSpPr>
        <p:spPr>
          <a:xfrm>
            <a:off x="3813048" y="1627632"/>
            <a:ext cx="2697480"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13048" y="1691640"/>
            <a:ext cx="2697480" cy="393192"/>
          </a:xfrm>
          <a:prstGeom prst="rect">
            <a:avLst/>
          </a:prstGeom>
          <a:noFill/>
        </p:spPr>
        <p:txBody>
          <a:bodyPr wrap="square">
            <a:spAutoFit/>
          </a:bodyPr>
          <a:lstStyle/>
          <a:p>
            <a:pPr algn="ctr"/>
            <a:r>
              <a:rPr sz="2000" b="1" i="0">
                <a:solidFill>
                  <a:srgbClr val="FFFFFF"/>
                </a:solidFill>
                <a:latin typeface="Calibri"/>
              </a:rPr>
              <a:t>Hover</a:t>
            </a:r>
          </a:p>
        </p:txBody>
      </p:sp>
      <p:sp>
        <p:nvSpPr>
          <p:cNvPr id="16" name="Rectangle 15"/>
          <p:cNvSpPr/>
          <p:nvPr/>
        </p:nvSpPr>
        <p:spPr>
          <a:xfrm>
            <a:off x="3813048" y="2084832"/>
            <a:ext cx="2697480" cy="28346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50208" y="2221992"/>
            <a:ext cx="2423160" cy="347472"/>
          </a:xfrm>
          <a:prstGeom prst="rect">
            <a:avLst/>
          </a:prstGeom>
          <a:noFill/>
        </p:spPr>
        <p:txBody>
          <a:bodyPr wrap="square">
            <a:spAutoFit/>
          </a:bodyPr>
          <a:lstStyle/>
          <a:p>
            <a:pPr algn="l"/>
            <a:r>
              <a:rPr sz="1400" b="1" i="0">
                <a:solidFill>
                  <a:srgbClr val="16A34A"/>
                </a:solidFill>
                <a:latin typeface="Calibri"/>
              </a:rPr>
              <a:t>Muiscursor eroverheen</a:t>
            </a:r>
          </a:p>
        </p:txBody>
      </p:sp>
      <p:sp>
        <p:nvSpPr>
          <p:cNvPr id="18" name="TextBox 17"/>
          <p:cNvSpPr txBox="1"/>
          <p:nvPr/>
        </p:nvSpPr>
        <p:spPr>
          <a:xfrm>
            <a:off x="3950208" y="2587752"/>
            <a:ext cx="2423160" cy="822960"/>
          </a:xfrm>
          <a:prstGeom prst="rect">
            <a:avLst/>
          </a:prstGeom>
          <a:noFill/>
        </p:spPr>
        <p:txBody>
          <a:bodyPr wrap="square">
            <a:spAutoFit/>
          </a:bodyPr>
          <a:lstStyle/>
          <a:p>
            <a:pPr algn="l"/>
            <a:r>
              <a:rPr sz="1300" b="0" i="0">
                <a:solidFill>
                  <a:srgbClr val="334155"/>
                </a:solidFill>
                <a:latin typeface="Calibri"/>
              </a:rPr>
              <a:t>Visuele feedback als de gebruiker naar het element wijst</a:t>
            </a:r>
          </a:p>
        </p:txBody>
      </p:sp>
      <p:sp>
        <p:nvSpPr>
          <p:cNvPr id="19" name="Rectangle 18"/>
          <p:cNvSpPr/>
          <p:nvPr/>
        </p:nvSpPr>
        <p:spPr>
          <a:xfrm>
            <a:off x="4087368" y="3547872"/>
            <a:ext cx="2148840" cy="457200"/>
          </a:xfrm>
          <a:prstGeom prst="rect">
            <a:avLst/>
          </a:prstGeom>
          <a:solidFill>
            <a:srgbClr val="0A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87368" y="3621024"/>
            <a:ext cx="2148840" cy="347472"/>
          </a:xfrm>
          <a:prstGeom prst="rect">
            <a:avLst/>
          </a:prstGeom>
          <a:noFill/>
        </p:spPr>
        <p:txBody>
          <a:bodyPr wrap="square">
            <a:spAutoFit/>
          </a:bodyPr>
          <a:lstStyle/>
          <a:p>
            <a:pPr algn="ctr"/>
            <a:r>
              <a:rPr sz="1400" b="1" i="0">
                <a:solidFill>
                  <a:srgbClr val="FFFFFF"/>
                </a:solidFill>
                <a:latin typeface="Calibri"/>
              </a:rPr>
              <a:t>Doneer</a:t>
            </a:r>
          </a:p>
        </p:txBody>
      </p:sp>
      <p:sp>
        <p:nvSpPr>
          <p:cNvPr id="21" name="Rectangle 20"/>
          <p:cNvSpPr/>
          <p:nvPr/>
        </p:nvSpPr>
        <p:spPr>
          <a:xfrm>
            <a:off x="4087368" y="3547872"/>
            <a:ext cx="2148840" cy="73152"/>
          </a:xfrm>
          <a:prstGeom prst="rect">
            <a:avLst/>
          </a:prstGeom>
          <a:gradFill rotWithShape="1">
            <a:gsLst>
              <a:gs pos="0">
                <a:srgbClr val="FFFFFF"/>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50208" y="4233672"/>
            <a:ext cx="2423160" cy="320040"/>
          </a:xfrm>
          <a:prstGeom prst="rect">
            <a:avLst/>
          </a:prstGeom>
          <a:noFill/>
        </p:spPr>
        <p:txBody>
          <a:bodyPr wrap="square">
            <a:spAutoFit/>
          </a:bodyPr>
          <a:lstStyle/>
          <a:p>
            <a:pPr algn="l"/>
            <a:r>
              <a:rPr sz="1200" b="0" i="1">
                <a:solidFill>
                  <a:srgbClr val="647487"/>
                </a:solidFill>
                <a:latin typeface="Calibri"/>
              </a:rPr>
              <a:t>Variant: hover</a:t>
            </a:r>
          </a:p>
        </p:txBody>
      </p:sp>
      <p:sp>
        <p:nvSpPr>
          <p:cNvPr id="23" name="Rectangle 22"/>
          <p:cNvSpPr/>
          <p:nvPr/>
        </p:nvSpPr>
        <p:spPr>
          <a:xfrm>
            <a:off x="6711696" y="1627632"/>
            <a:ext cx="2697480"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11696" y="1691640"/>
            <a:ext cx="2697480" cy="393192"/>
          </a:xfrm>
          <a:prstGeom prst="rect">
            <a:avLst/>
          </a:prstGeom>
          <a:noFill/>
        </p:spPr>
        <p:txBody>
          <a:bodyPr wrap="square">
            <a:spAutoFit/>
          </a:bodyPr>
          <a:lstStyle/>
          <a:p>
            <a:pPr algn="ctr"/>
            <a:r>
              <a:rPr sz="2000" b="1" i="0">
                <a:solidFill>
                  <a:srgbClr val="FFFFFF"/>
                </a:solidFill>
                <a:latin typeface="Calibri"/>
              </a:rPr>
              <a:t>Active</a:t>
            </a:r>
          </a:p>
        </p:txBody>
      </p:sp>
      <p:sp>
        <p:nvSpPr>
          <p:cNvPr id="25" name="Rectangle 24"/>
          <p:cNvSpPr/>
          <p:nvPr/>
        </p:nvSpPr>
        <p:spPr>
          <a:xfrm>
            <a:off x="6711696" y="2084832"/>
            <a:ext cx="2697480" cy="28346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48856" y="2221992"/>
            <a:ext cx="2423160" cy="347472"/>
          </a:xfrm>
          <a:prstGeom prst="rect">
            <a:avLst/>
          </a:prstGeom>
          <a:noFill/>
        </p:spPr>
        <p:txBody>
          <a:bodyPr wrap="square">
            <a:spAutoFit/>
          </a:bodyPr>
          <a:lstStyle/>
          <a:p>
            <a:pPr algn="l"/>
            <a:r>
              <a:rPr sz="1400" b="1" i="0">
                <a:solidFill>
                  <a:srgbClr val="2563EB"/>
                </a:solidFill>
                <a:latin typeface="Calibri"/>
              </a:rPr>
              <a:t>Klikken of drukken</a:t>
            </a:r>
          </a:p>
        </p:txBody>
      </p:sp>
      <p:sp>
        <p:nvSpPr>
          <p:cNvPr id="27" name="TextBox 26"/>
          <p:cNvSpPr txBox="1"/>
          <p:nvPr/>
        </p:nvSpPr>
        <p:spPr>
          <a:xfrm>
            <a:off x="6848856" y="2587752"/>
            <a:ext cx="2423160" cy="822960"/>
          </a:xfrm>
          <a:prstGeom prst="rect">
            <a:avLst/>
          </a:prstGeom>
          <a:noFill/>
        </p:spPr>
        <p:txBody>
          <a:bodyPr wrap="square">
            <a:spAutoFit/>
          </a:bodyPr>
          <a:lstStyle/>
          <a:p>
            <a:pPr algn="l"/>
            <a:r>
              <a:rPr sz="1300" b="0" i="0">
                <a:solidFill>
                  <a:srgbClr val="334155"/>
                </a:solidFill>
                <a:latin typeface="Calibri"/>
              </a:rPr>
              <a:t>Het moment van interactie, korte visuele bevestiging</a:t>
            </a:r>
          </a:p>
        </p:txBody>
      </p:sp>
      <p:sp>
        <p:nvSpPr>
          <p:cNvPr id="28" name="Rectangle 27"/>
          <p:cNvSpPr/>
          <p:nvPr/>
        </p:nvSpPr>
        <p:spPr>
          <a:xfrm>
            <a:off x="6986016" y="3593592"/>
            <a:ext cx="214884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6016" y="3657600"/>
            <a:ext cx="2148840" cy="347472"/>
          </a:xfrm>
          <a:prstGeom prst="rect">
            <a:avLst/>
          </a:prstGeom>
          <a:noFill/>
        </p:spPr>
        <p:txBody>
          <a:bodyPr wrap="square">
            <a:spAutoFit/>
          </a:bodyPr>
          <a:lstStyle/>
          <a:p>
            <a:pPr algn="ctr"/>
            <a:r>
              <a:rPr sz="1400" b="1" i="0">
                <a:solidFill>
                  <a:srgbClr val="FFFFFF"/>
                </a:solidFill>
                <a:latin typeface="Calibri"/>
              </a:rPr>
              <a:t>Doneer</a:t>
            </a:r>
          </a:p>
        </p:txBody>
      </p:sp>
      <p:sp>
        <p:nvSpPr>
          <p:cNvPr id="30" name="TextBox 29"/>
          <p:cNvSpPr txBox="1"/>
          <p:nvPr/>
        </p:nvSpPr>
        <p:spPr>
          <a:xfrm>
            <a:off x="6848856" y="4233672"/>
            <a:ext cx="2423160" cy="320040"/>
          </a:xfrm>
          <a:prstGeom prst="rect">
            <a:avLst/>
          </a:prstGeom>
          <a:noFill/>
        </p:spPr>
        <p:txBody>
          <a:bodyPr wrap="square">
            <a:spAutoFit/>
          </a:bodyPr>
          <a:lstStyle/>
          <a:p>
            <a:pPr algn="l"/>
            <a:r>
              <a:rPr sz="1200" b="0" i="1">
                <a:solidFill>
                  <a:srgbClr val="647487"/>
                </a:solidFill>
                <a:latin typeface="Calibri"/>
              </a:rPr>
              <a:t>Variant: active</a:t>
            </a:r>
          </a:p>
        </p:txBody>
      </p:sp>
      <p:sp>
        <p:nvSpPr>
          <p:cNvPr id="31" name="Rectangle 30"/>
          <p:cNvSpPr/>
          <p:nvPr/>
        </p:nvSpPr>
        <p:spPr>
          <a:xfrm>
            <a:off x="9610344" y="1627632"/>
            <a:ext cx="2697480" cy="457200"/>
          </a:xfrm>
          <a:prstGeom prst="rect">
            <a:avLst/>
          </a:prstGeom>
          <a:solidFill>
            <a:srgbClr val="96A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10344" y="1691640"/>
            <a:ext cx="2697480" cy="393192"/>
          </a:xfrm>
          <a:prstGeom prst="rect">
            <a:avLst/>
          </a:prstGeom>
          <a:noFill/>
        </p:spPr>
        <p:txBody>
          <a:bodyPr wrap="square">
            <a:spAutoFit/>
          </a:bodyPr>
          <a:lstStyle/>
          <a:p>
            <a:pPr algn="ctr"/>
            <a:r>
              <a:rPr sz="2000" b="1" i="0">
                <a:solidFill>
                  <a:srgbClr val="FFFFFF"/>
                </a:solidFill>
                <a:latin typeface="Calibri"/>
              </a:rPr>
              <a:t>Disabled</a:t>
            </a:r>
          </a:p>
        </p:txBody>
      </p:sp>
      <p:sp>
        <p:nvSpPr>
          <p:cNvPr id="33" name="Rectangle 32"/>
          <p:cNvSpPr/>
          <p:nvPr/>
        </p:nvSpPr>
        <p:spPr>
          <a:xfrm>
            <a:off x="9610344" y="2084832"/>
            <a:ext cx="2697480" cy="28346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7504" y="2221992"/>
            <a:ext cx="2423160" cy="347472"/>
          </a:xfrm>
          <a:prstGeom prst="rect">
            <a:avLst/>
          </a:prstGeom>
          <a:noFill/>
        </p:spPr>
        <p:txBody>
          <a:bodyPr wrap="square">
            <a:spAutoFit/>
          </a:bodyPr>
          <a:lstStyle/>
          <a:p>
            <a:pPr algn="l"/>
            <a:r>
              <a:rPr sz="1400" b="1" i="0">
                <a:solidFill>
                  <a:srgbClr val="96A0AA"/>
                </a:solidFill>
                <a:latin typeface="Calibri"/>
              </a:rPr>
              <a:t>Niet beschikbaar</a:t>
            </a:r>
          </a:p>
        </p:txBody>
      </p:sp>
      <p:sp>
        <p:nvSpPr>
          <p:cNvPr id="35" name="TextBox 34"/>
          <p:cNvSpPr txBox="1"/>
          <p:nvPr/>
        </p:nvSpPr>
        <p:spPr>
          <a:xfrm>
            <a:off x="9747504" y="2587752"/>
            <a:ext cx="2423160" cy="822960"/>
          </a:xfrm>
          <a:prstGeom prst="rect">
            <a:avLst/>
          </a:prstGeom>
          <a:noFill/>
        </p:spPr>
        <p:txBody>
          <a:bodyPr wrap="square">
            <a:spAutoFit/>
          </a:bodyPr>
          <a:lstStyle/>
          <a:p>
            <a:pPr algn="l"/>
            <a:r>
              <a:rPr sz="1300" b="0" i="0">
                <a:solidFill>
                  <a:srgbClr val="334155"/>
                </a:solidFill>
                <a:latin typeface="Calibri"/>
              </a:rPr>
              <a:t>Verlaagd contrast, laat zien dat het element inactief is</a:t>
            </a:r>
          </a:p>
        </p:txBody>
      </p:sp>
      <p:sp>
        <p:nvSpPr>
          <p:cNvPr id="36" name="Rectangle 35"/>
          <p:cNvSpPr/>
          <p:nvPr/>
        </p:nvSpPr>
        <p:spPr>
          <a:xfrm>
            <a:off x="9884664" y="3547872"/>
            <a:ext cx="2148840" cy="457200"/>
          </a:xfrm>
          <a:prstGeom prst="rect">
            <a:avLst/>
          </a:prstGeom>
          <a:solidFill>
            <a:srgbClr val="D2D7DC"/>
          </a:solidFill>
          <a:ln w="9525">
            <a:solidFill>
              <a:srgbClr val="C8C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84664" y="3621024"/>
            <a:ext cx="2148840" cy="347472"/>
          </a:xfrm>
          <a:prstGeom prst="rect">
            <a:avLst/>
          </a:prstGeom>
          <a:noFill/>
        </p:spPr>
        <p:txBody>
          <a:bodyPr wrap="square">
            <a:spAutoFit/>
          </a:bodyPr>
          <a:lstStyle/>
          <a:p>
            <a:pPr algn="ctr"/>
            <a:r>
              <a:rPr sz="1400" b="1" i="0">
                <a:solidFill>
                  <a:srgbClr val="96A0AA"/>
                </a:solidFill>
                <a:latin typeface="Calibri"/>
              </a:rPr>
              <a:t>Doneer</a:t>
            </a:r>
          </a:p>
        </p:txBody>
      </p:sp>
      <p:sp>
        <p:nvSpPr>
          <p:cNvPr id="38" name="TextBox 37"/>
          <p:cNvSpPr txBox="1"/>
          <p:nvPr/>
        </p:nvSpPr>
        <p:spPr>
          <a:xfrm>
            <a:off x="9747504" y="4233672"/>
            <a:ext cx="2423160" cy="320040"/>
          </a:xfrm>
          <a:prstGeom prst="rect">
            <a:avLst/>
          </a:prstGeom>
          <a:noFill/>
        </p:spPr>
        <p:txBody>
          <a:bodyPr wrap="square">
            <a:spAutoFit/>
          </a:bodyPr>
          <a:lstStyle/>
          <a:p>
            <a:pPr algn="l"/>
            <a:r>
              <a:rPr sz="1200" b="0" i="1">
                <a:solidFill>
                  <a:srgbClr val="647487"/>
                </a:solidFill>
                <a:latin typeface="Calibri"/>
              </a:rPr>
              <a:t>Variant: disabled</a:t>
            </a:r>
          </a:p>
        </p:txBody>
      </p:sp>
      <p:sp>
        <p:nvSpPr>
          <p:cNvPr id="39" name="TextBox 38"/>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Goed doel: navigatie als component</a:t>
            </a:r>
          </a:p>
        </p:txBody>
      </p:sp>
      <p:sp>
        <p:nvSpPr>
          <p:cNvPr id="4" name="Rectangle 3"/>
          <p:cNvSpPr/>
          <p:nvPr/>
        </p:nvSpPr>
        <p:spPr>
          <a:xfrm>
            <a:off x="914400" y="1298448"/>
            <a:ext cx="182880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B4F0C8"/>
                </a:solidFill>
                <a:latin typeface="Calibri"/>
              </a:rPr>
              <a:t>Stap voor stap je nav bouwen in Figma</a:t>
            </a:r>
          </a:p>
        </p:txBody>
      </p:sp>
      <p:sp>
        <p:nvSpPr>
          <p:cNvPr id="6" name="Rectangle 5"/>
          <p:cNvSpPr/>
          <p:nvPr/>
        </p:nvSpPr>
        <p:spPr>
          <a:xfrm>
            <a:off x="914400" y="1783080"/>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37944"/>
            <a:ext cx="411480" cy="438912"/>
          </a:xfrm>
          <a:prstGeom prst="rect">
            <a:avLst/>
          </a:prstGeom>
          <a:noFill/>
        </p:spPr>
        <p:txBody>
          <a:bodyPr wrap="square">
            <a:spAutoFit/>
          </a:bodyPr>
          <a:lstStyle/>
          <a:p>
            <a:pPr algn="ctr"/>
            <a:r>
              <a:rPr sz="1700" b="1" i="0">
                <a:solidFill>
                  <a:srgbClr val="FFFFFF"/>
                </a:solidFill>
                <a:latin typeface="Calibri"/>
              </a:rPr>
              <a:t>1</a:t>
            </a:r>
          </a:p>
        </p:txBody>
      </p:sp>
      <p:sp>
        <p:nvSpPr>
          <p:cNvPr id="8" name="Rectangle 7"/>
          <p:cNvSpPr/>
          <p:nvPr/>
        </p:nvSpPr>
        <p:spPr>
          <a:xfrm>
            <a:off x="1335024" y="1783080"/>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856232"/>
            <a:ext cx="8961120" cy="420624"/>
          </a:xfrm>
          <a:prstGeom prst="rect">
            <a:avLst/>
          </a:prstGeom>
          <a:noFill/>
        </p:spPr>
        <p:txBody>
          <a:bodyPr wrap="square">
            <a:spAutoFit/>
          </a:bodyPr>
          <a:lstStyle/>
          <a:p>
            <a:pPr algn="l"/>
            <a:r>
              <a:rPr sz="1500" b="0" i="0">
                <a:solidFill>
                  <a:srgbClr val="D2E6FF"/>
                </a:solidFill>
                <a:latin typeface="Calibri"/>
              </a:rPr>
              <a:t>Maak een frame aan van 1440x80px, geef het de naam 'nav'</a:t>
            </a:r>
          </a:p>
        </p:txBody>
      </p:sp>
      <p:sp>
        <p:nvSpPr>
          <p:cNvPr id="10" name="Rectangle 9"/>
          <p:cNvSpPr/>
          <p:nvPr/>
        </p:nvSpPr>
        <p:spPr>
          <a:xfrm>
            <a:off x="914400" y="2350008"/>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04872"/>
            <a:ext cx="411480" cy="438912"/>
          </a:xfrm>
          <a:prstGeom prst="rect">
            <a:avLst/>
          </a:prstGeom>
          <a:noFill/>
        </p:spPr>
        <p:txBody>
          <a:bodyPr wrap="square">
            <a:spAutoFit/>
          </a:bodyPr>
          <a:lstStyle/>
          <a:p>
            <a:pPr algn="ctr"/>
            <a:r>
              <a:rPr sz="1700" b="1" i="0">
                <a:solidFill>
                  <a:srgbClr val="FFFFFF"/>
                </a:solidFill>
                <a:latin typeface="Calibri"/>
              </a:rPr>
              <a:t>2</a:t>
            </a:r>
          </a:p>
        </p:txBody>
      </p:sp>
      <p:sp>
        <p:nvSpPr>
          <p:cNvPr id="12" name="Rectangle 11"/>
          <p:cNvSpPr/>
          <p:nvPr/>
        </p:nvSpPr>
        <p:spPr>
          <a:xfrm>
            <a:off x="1335024" y="2350008"/>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423160"/>
            <a:ext cx="8961120" cy="420624"/>
          </a:xfrm>
          <a:prstGeom prst="rect">
            <a:avLst/>
          </a:prstGeom>
          <a:noFill/>
        </p:spPr>
        <p:txBody>
          <a:bodyPr wrap="square">
            <a:spAutoFit/>
          </a:bodyPr>
          <a:lstStyle/>
          <a:p>
            <a:pPr algn="l"/>
            <a:r>
              <a:rPr sz="1500" b="0" i="0">
                <a:solidFill>
                  <a:srgbClr val="D2E6FF"/>
                </a:solidFill>
                <a:latin typeface="Calibri"/>
              </a:rPr>
              <a:t>Voeg toe: logo-placeholder (rechthoek), 3 menu-links (tekst), CTA knop</a:t>
            </a:r>
          </a:p>
        </p:txBody>
      </p:sp>
      <p:sp>
        <p:nvSpPr>
          <p:cNvPr id="14" name="Rectangle 13"/>
          <p:cNvSpPr/>
          <p:nvPr/>
        </p:nvSpPr>
        <p:spPr>
          <a:xfrm>
            <a:off x="914400" y="2916936"/>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71800"/>
            <a:ext cx="411480" cy="438912"/>
          </a:xfrm>
          <a:prstGeom prst="rect">
            <a:avLst/>
          </a:prstGeom>
          <a:noFill/>
        </p:spPr>
        <p:txBody>
          <a:bodyPr wrap="square">
            <a:spAutoFit/>
          </a:bodyPr>
          <a:lstStyle/>
          <a:p>
            <a:pPr algn="ctr"/>
            <a:r>
              <a:rPr sz="1700" b="1" i="0">
                <a:solidFill>
                  <a:srgbClr val="FFFFFF"/>
                </a:solidFill>
                <a:latin typeface="Calibri"/>
              </a:rPr>
              <a:t>3</a:t>
            </a:r>
          </a:p>
        </p:txBody>
      </p:sp>
      <p:sp>
        <p:nvSpPr>
          <p:cNvPr id="16" name="Rectangle 15"/>
          <p:cNvSpPr/>
          <p:nvPr/>
        </p:nvSpPr>
        <p:spPr>
          <a:xfrm>
            <a:off x="1335024" y="2916936"/>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8760" y="2990088"/>
            <a:ext cx="8961120" cy="420624"/>
          </a:xfrm>
          <a:prstGeom prst="rect">
            <a:avLst/>
          </a:prstGeom>
          <a:noFill/>
        </p:spPr>
        <p:txBody>
          <a:bodyPr wrap="square">
            <a:spAutoFit/>
          </a:bodyPr>
          <a:lstStyle/>
          <a:p>
            <a:pPr algn="l"/>
            <a:r>
              <a:rPr sz="1500" b="0" i="0">
                <a:solidFill>
                  <a:srgbClr val="D2E6FF"/>
                </a:solidFill>
                <a:latin typeface="Calibri"/>
              </a:rPr>
              <a:t>Selecteer alles en maak Auto Layout aan: horizontaal, space between</a:t>
            </a:r>
          </a:p>
        </p:txBody>
      </p:sp>
      <p:sp>
        <p:nvSpPr>
          <p:cNvPr id="18" name="Rectangle 17"/>
          <p:cNvSpPr/>
          <p:nvPr/>
        </p:nvSpPr>
        <p:spPr>
          <a:xfrm>
            <a:off x="914400" y="3483864"/>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38728"/>
            <a:ext cx="411480" cy="438912"/>
          </a:xfrm>
          <a:prstGeom prst="rect">
            <a:avLst/>
          </a:prstGeom>
          <a:noFill/>
        </p:spPr>
        <p:txBody>
          <a:bodyPr wrap="square">
            <a:spAutoFit/>
          </a:bodyPr>
          <a:lstStyle/>
          <a:p>
            <a:pPr algn="ctr"/>
            <a:r>
              <a:rPr sz="1700" b="1" i="0">
                <a:solidFill>
                  <a:srgbClr val="FFFFFF"/>
                </a:solidFill>
                <a:latin typeface="Calibri"/>
              </a:rPr>
              <a:t>4</a:t>
            </a:r>
          </a:p>
        </p:txBody>
      </p:sp>
      <p:sp>
        <p:nvSpPr>
          <p:cNvPr id="20" name="Rectangle 19"/>
          <p:cNvSpPr/>
          <p:nvPr/>
        </p:nvSpPr>
        <p:spPr>
          <a:xfrm>
            <a:off x="1335024" y="3483864"/>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8760" y="3557016"/>
            <a:ext cx="8961120" cy="420624"/>
          </a:xfrm>
          <a:prstGeom prst="rect">
            <a:avLst/>
          </a:prstGeom>
          <a:noFill/>
        </p:spPr>
        <p:txBody>
          <a:bodyPr wrap="square">
            <a:spAutoFit/>
          </a:bodyPr>
          <a:lstStyle/>
          <a:p>
            <a:pPr algn="l"/>
            <a:r>
              <a:rPr sz="1500" b="0" i="0">
                <a:solidFill>
                  <a:srgbClr val="D2E6FF"/>
                </a:solidFill>
                <a:latin typeface="Calibri"/>
              </a:rPr>
              <a:t>Maak het frame een component (Ctrl+Alt+K)</a:t>
            </a:r>
          </a:p>
        </p:txBody>
      </p:sp>
      <p:sp>
        <p:nvSpPr>
          <p:cNvPr id="22" name="Rectangle 21"/>
          <p:cNvSpPr/>
          <p:nvPr/>
        </p:nvSpPr>
        <p:spPr>
          <a:xfrm>
            <a:off x="914400" y="4050792"/>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105656"/>
            <a:ext cx="411480" cy="438912"/>
          </a:xfrm>
          <a:prstGeom prst="rect">
            <a:avLst/>
          </a:prstGeom>
          <a:noFill/>
        </p:spPr>
        <p:txBody>
          <a:bodyPr wrap="square">
            <a:spAutoFit/>
          </a:bodyPr>
          <a:lstStyle/>
          <a:p>
            <a:pPr algn="ctr"/>
            <a:r>
              <a:rPr sz="1700" b="1" i="0">
                <a:solidFill>
                  <a:srgbClr val="FFFFFF"/>
                </a:solidFill>
                <a:latin typeface="Calibri"/>
              </a:rPr>
              <a:t>5</a:t>
            </a:r>
          </a:p>
        </p:txBody>
      </p:sp>
      <p:sp>
        <p:nvSpPr>
          <p:cNvPr id="24" name="Rectangle 23"/>
          <p:cNvSpPr/>
          <p:nvPr/>
        </p:nvSpPr>
        <p:spPr>
          <a:xfrm>
            <a:off x="1335024" y="4050792"/>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4123944"/>
            <a:ext cx="8961120" cy="420624"/>
          </a:xfrm>
          <a:prstGeom prst="rect">
            <a:avLst/>
          </a:prstGeom>
          <a:noFill/>
        </p:spPr>
        <p:txBody>
          <a:bodyPr wrap="square">
            <a:spAutoFit/>
          </a:bodyPr>
          <a:lstStyle/>
          <a:p>
            <a:pPr algn="l"/>
            <a:r>
              <a:rPr sz="1500" b="0" i="0">
                <a:solidFill>
                  <a:srgbClr val="D2E6FF"/>
                </a:solidFill>
                <a:latin typeface="Calibri"/>
              </a:rPr>
              <a:t>Maak een variant 'scrolled' met een lichtere achtergrondkleur</a:t>
            </a:r>
          </a:p>
        </p:txBody>
      </p:sp>
      <p:sp>
        <p:nvSpPr>
          <p:cNvPr id="26" name="Rectangle 25"/>
          <p:cNvSpPr/>
          <p:nvPr/>
        </p:nvSpPr>
        <p:spPr>
          <a:xfrm>
            <a:off x="914400" y="4663440"/>
            <a:ext cx="10515600" cy="640080"/>
          </a:xfrm>
          <a:prstGeom prst="rect">
            <a:avLst/>
          </a:prstGeom>
          <a:solidFill>
            <a:srgbClr val="1E3A8A"/>
          </a:solidFill>
          <a:ln w="9525">
            <a:solidFill>
              <a:srgbClr val="32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7280" y="4800600"/>
            <a:ext cx="91440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828032"/>
            <a:ext cx="914400" cy="329184"/>
          </a:xfrm>
          <a:prstGeom prst="rect">
            <a:avLst/>
          </a:prstGeom>
          <a:noFill/>
        </p:spPr>
        <p:txBody>
          <a:bodyPr wrap="square">
            <a:spAutoFit/>
          </a:bodyPr>
          <a:lstStyle/>
          <a:p>
            <a:pPr algn="ctr"/>
            <a:r>
              <a:rPr sz="1300" b="1" i="0">
                <a:solidFill>
                  <a:srgbClr val="FFFFFF"/>
                </a:solidFill>
                <a:latin typeface="Calibri"/>
              </a:rPr>
              <a:t>LOGO</a:t>
            </a:r>
          </a:p>
        </p:txBody>
      </p:sp>
      <p:sp>
        <p:nvSpPr>
          <p:cNvPr id="29" name="TextBox 28"/>
          <p:cNvSpPr txBox="1"/>
          <p:nvPr/>
        </p:nvSpPr>
        <p:spPr>
          <a:xfrm>
            <a:off x="2743200" y="4828032"/>
            <a:ext cx="1463040" cy="329184"/>
          </a:xfrm>
          <a:prstGeom prst="rect">
            <a:avLst/>
          </a:prstGeom>
          <a:noFill/>
        </p:spPr>
        <p:txBody>
          <a:bodyPr wrap="square">
            <a:spAutoFit/>
          </a:bodyPr>
          <a:lstStyle/>
          <a:p>
            <a:pPr algn="ctr"/>
            <a:r>
              <a:rPr sz="1300" b="0" i="0">
                <a:solidFill>
                  <a:srgbClr val="C8DCFF"/>
                </a:solidFill>
                <a:latin typeface="Calibri"/>
              </a:rPr>
              <a:t>Over ons</a:t>
            </a:r>
          </a:p>
        </p:txBody>
      </p:sp>
      <p:sp>
        <p:nvSpPr>
          <p:cNvPr id="30" name="TextBox 29"/>
          <p:cNvSpPr txBox="1"/>
          <p:nvPr/>
        </p:nvSpPr>
        <p:spPr>
          <a:xfrm>
            <a:off x="4389120" y="4828032"/>
            <a:ext cx="1463040" cy="329184"/>
          </a:xfrm>
          <a:prstGeom prst="rect">
            <a:avLst/>
          </a:prstGeom>
          <a:noFill/>
        </p:spPr>
        <p:txBody>
          <a:bodyPr wrap="square">
            <a:spAutoFit/>
          </a:bodyPr>
          <a:lstStyle/>
          <a:p>
            <a:pPr algn="ctr"/>
            <a:r>
              <a:rPr sz="1300" b="0" i="0">
                <a:solidFill>
                  <a:srgbClr val="C8DCFF"/>
                </a:solidFill>
                <a:latin typeface="Calibri"/>
              </a:rPr>
              <a:t>Projecten</a:t>
            </a:r>
          </a:p>
        </p:txBody>
      </p:sp>
      <p:sp>
        <p:nvSpPr>
          <p:cNvPr id="31" name="TextBox 30"/>
          <p:cNvSpPr txBox="1"/>
          <p:nvPr/>
        </p:nvSpPr>
        <p:spPr>
          <a:xfrm>
            <a:off x="6035040" y="4828032"/>
            <a:ext cx="1463040" cy="329184"/>
          </a:xfrm>
          <a:prstGeom prst="rect">
            <a:avLst/>
          </a:prstGeom>
          <a:noFill/>
        </p:spPr>
        <p:txBody>
          <a:bodyPr wrap="square">
            <a:spAutoFit/>
          </a:bodyPr>
          <a:lstStyle/>
          <a:p>
            <a:pPr algn="ctr"/>
            <a:r>
              <a:rPr sz="1300" b="0" i="0">
                <a:solidFill>
                  <a:srgbClr val="C8DCFF"/>
                </a:solidFill>
                <a:latin typeface="Calibri"/>
              </a:rPr>
              <a:t>Contact</a:t>
            </a:r>
          </a:p>
        </p:txBody>
      </p:sp>
      <p:sp>
        <p:nvSpPr>
          <p:cNvPr id="32" name="Rectangle 31"/>
          <p:cNvSpPr/>
          <p:nvPr/>
        </p:nvSpPr>
        <p:spPr>
          <a:xfrm>
            <a:off x="9784080" y="4773168"/>
            <a:ext cx="1371600" cy="42062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4809744"/>
            <a:ext cx="1371600" cy="347472"/>
          </a:xfrm>
          <a:prstGeom prst="rect">
            <a:avLst/>
          </a:prstGeom>
          <a:noFill/>
        </p:spPr>
        <p:txBody>
          <a:bodyPr wrap="square">
            <a:spAutoFit/>
          </a:bodyPr>
          <a:lstStyle/>
          <a:p>
            <a:pPr algn="ctr"/>
            <a:r>
              <a:rPr sz="1300" b="1" i="0">
                <a:solidFill>
                  <a:srgbClr val="FFFFFF"/>
                </a:solidFill>
                <a:latin typeface="Calibri"/>
              </a:rPr>
              <a:t>Doneer nu</a:t>
            </a:r>
          </a:p>
        </p:txBody>
      </p:sp>
      <p:sp>
        <p:nvSpPr>
          <p:cNvPr id="34" name="TextBox 33"/>
          <p:cNvSpPr txBox="1"/>
          <p:nvPr/>
        </p:nvSpPr>
        <p:spPr>
          <a:xfrm>
            <a:off x="914400" y="5376672"/>
            <a:ext cx="10515600" cy="365760"/>
          </a:xfrm>
          <a:prstGeom prst="rect">
            <a:avLst/>
          </a:prstGeom>
          <a:noFill/>
        </p:spPr>
        <p:txBody>
          <a:bodyPr wrap="square">
            <a:spAutoFit/>
          </a:bodyPr>
          <a:lstStyle/>
          <a:p>
            <a:pPr algn="l"/>
            <a:r>
              <a:rPr sz="1400" b="0" i="1">
                <a:solidFill>
                  <a:srgbClr val="B4C8F0"/>
                </a:solidFill>
                <a:latin typeface="Calibri"/>
              </a:rPr>
              <a:t>Hergebruik de nav op alle paginas door instances te plaatsen</a:t>
            </a:r>
          </a:p>
        </p:txBody>
      </p:sp>
      <p:sp>
        <p:nvSpPr>
          <p:cNvPr id="35" name="TextBox 34"/>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Goed doel: hero als component</a:t>
            </a:r>
          </a:p>
        </p:txBody>
      </p:sp>
      <p:sp>
        <p:nvSpPr>
          <p:cNvPr id="4" name="Rectangle 3"/>
          <p:cNvSpPr/>
          <p:nvPr/>
        </p:nvSpPr>
        <p:spPr>
          <a:xfrm>
            <a:off x="914400" y="1298448"/>
            <a:ext cx="182880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B4F0C8"/>
                </a:solidFill>
                <a:latin typeface="Calibri"/>
              </a:rPr>
              <a:t>De bovenkant van je pagina als herbruikbaar onderdeel</a:t>
            </a:r>
          </a:p>
        </p:txBody>
      </p:sp>
      <p:sp>
        <p:nvSpPr>
          <p:cNvPr id="6" name="Rectangle 5"/>
          <p:cNvSpPr/>
          <p:nvPr/>
        </p:nvSpPr>
        <p:spPr>
          <a:xfrm>
            <a:off x="914400" y="1783080"/>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37944"/>
            <a:ext cx="411480" cy="438912"/>
          </a:xfrm>
          <a:prstGeom prst="rect">
            <a:avLst/>
          </a:prstGeom>
          <a:noFill/>
        </p:spPr>
        <p:txBody>
          <a:bodyPr wrap="square">
            <a:spAutoFit/>
          </a:bodyPr>
          <a:lstStyle/>
          <a:p>
            <a:pPr algn="ctr"/>
            <a:r>
              <a:rPr sz="1700" b="1" i="0">
                <a:solidFill>
                  <a:srgbClr val="FFFFFF"/>
                </a:solidFill>
                <a:latin typeface="Calibri"/>
              </a:rPr>
              <a:t>1</a:t>
            </a:r>
          </a:p>
        </p:txBody>
      </p:sp>
      <p:sp>
        <p:nvSpPr>
          <p:cNvPr id="8" name="Rectangle 7"/>
          <p:cNvSpPr/>
          <p:nvPr/>
        </p:nvSpPr>
        <p:spPr>
          <a:xfrm>
            <a:off x="1335024" y="1783080"/>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856232"/>
            <a:ext cx="8961120" cy="420624"/>
          </a:xfrm>
          <a:prstGeom prst="rect">
            <a:avLst/>
          </a:prstGeom>
          <a:noFill/>
        </p:spPr>
        <p:txBody>
          <a:bodyPr wrap="square">
            <a:spAutoFit/>
          </a:bodyPr>
          <a:lstStyle/>
          <a:p>
            <a:pPr algn="l"/>
            <a:r>
              <a:rPr sz="1500" b="0" i="0">
                <a:solidFill>
                  <a:srgbClr val="D2E6FF"/>
                </a:solidFill>
                <a:latin typeface="Calibri"/>
              </a:rPr>
              <a:t>Maak een frame aan van 1440x600px (of full viewport), naam 'hero'</a:t>
            </a:r>
          </a:p>
        </p:txBody>
      </p:sp>
      <p:sp>
        <p:nvSpPr>
          <p:cNvPr id="10" name="Rectangle 9"/>
          <p:cNvSpPr/>
          <p:nvPr/>
        </p:nvSpPr>
        <p:spPr>
          <a:xfrm>
            <a:off x="914400" y="2350008"/>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04872"/>
            <a:ext cx="411480" cy="438912"/>
          </a:xfrm>
          <a:prstGeom prst="rect">
            <a:avLst/>
          </a:prstGeom>
          <a:noFill/>
        </p:spPr>
        <p:txBody>
          <a:bodyPr wrap="square">
            <a:spAutoFit/>
          </a:bodyPr>
          <a:lstStyle/>
          <a:p>
            <a:pPr algn="ctr"/>
            <a:r>
              <a:rPr sz="1700" b="1" i="0">
                <a:solidFill>
                  <a:srgbClr val="FFFFFF"/>
                </a:solidFill>
                <a:latin typeface="Calibri"/>
              </a:rPr>
              <a:t>2</a:t>
            </a:r>
          </a:p>
        </p:txBody>
      </p:sp>
      <p:sp>
        <p:nvSpPr>
          <p:cNvPr id="12" name="Rectangle 11"/>
          <p:cNvSpPr/>
          <p:nvPr/>
        </p:nvSpPr>
        <p:spPr>
          <a:xfrm>
            <a:off x="1335024" y="2350008"/>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423160"/>
            <a:ext cx="8961120" cy="420624"/>
          </a:xfrm>
          <a:prstGeom prst="rect">
            <a:avLst/>
          </a:prstGeom>
          <a:noFill/>
        </p:spPr>
        <p:txBody>
          <a:bodyPr wrap="square">
            <a:spAutoFit/>
          </a:bodyPr>
          <a:lstStyle/>
          <a:p>
            <a:pPr algn="l"/>
            <a:r>
              <a:rPr sz="1500" b="0" i="0">
                <a:solidFill>
                  <a:srgbClr val="D2E6FF"/>
                </a:solidFill>
                <a:latin typeface="Calibri"/>
              </a:rPr>
              <a:t>Voeg toe: hero-afbeelding placeholder, H1 titel, subtitel, CTA knop</a:t>
            </a:r>
          </a:p>
        </p:txBody>
      </p:sp>
      <p:sp>
        <p:nvSpPr>
          <p:cNvPr id="14" name="Rectangle 13"/>
          <p:cNvSpPr/>
          <p:nvPr/>
        </p:nvSpPr>
        <p:spPr>
          <a:xfrm>
            <a:off x="914400" y="2916936"/>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71800"/>
            <a:ext cx="411480" cy="438912"/>
          </a:xfrm>
          <a:prstGeom prst="rect">
            <a:avLst/>
          </a:prstGeom>
          <a:noFill/>
        </p:spPr>
        <p:txBody>
          <a:bodyPr wrap="square">
            <a:spAutoFit/>
          </a:bodyPr>
          <a:lstStyle/>
          <a:p>
            <a:pPr algn="ctr"/>
            <a:r>
              <a:rPr sz="1700" b="1" i="0">
                <a:solidFill>
                  <a:srgbClr val="FFFFFF"/>
                </a:solidFill>
                <a:latin typeface="Calibri"/>
              </a:rPr>
              <a:t>3</a:t>
            </a:r>
          </a:p>
        </p:txBody>
      </p:sp>
      <p:sp>
        <p:nvSpPr>
          <p:cNvPr id="16" name="Rectangle 15"/>
          <p:cNvSpPr/>
          <p:nvPr/>
        </p:nvSpPr>
        <p:spPr>
          <a:xfrm>
            <a:off x="1335024" y="2916936"/>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8760" y="2990088"/>
            <a:ext cx="8961120" cy="420624"/>
          </a:xfrm>
          <a:prstGeom prst="rect">
            <a:avLst/>
          </a:prstGeom>
          <a:noFill/>
        </p:spPr>
        <p:txBody>
          <a:bodyPr wrap="square">
            <a:spAutoFit/>
          </a:bodyPr>
          <a:lstStyle/>
          <a:p>
            <a:pPr algn="l"/>
            <a:r>
              <a:rPr sz="1500" b="0" i="0">
                <a:solidFill>
                  <a:srgbClr val="D2E6FF"/>
                </a:solidFill>
                <a:latin typeface="Calibri"/>
              </a:rPr>
              <a:t>Maak de CTA knop een instance van je knop-component</a:t>
            </a:r>
          </a:p>
        </p:txBody>
      </p:sp>
      <p:sp>
        <p:nvSpPr>
          <p:cNvPr id="18" name="Rectangle 17"/>
          <p:cNvSpPr/>
          <p:nvPr/>
        </p:nvSpPr>
        <p:spPr>
          <a:xfrm>
            <a:off x="914400" y="3483864"/>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38728"/>
            <a:ext cx="411480" cy="438912"/>
          </a:xfrm>
          <a:prstGeom prst="rect">
            <a:avLst/>
          </a:prstGeom>
          <a:noFill/>
        </p:spPr>
        <p:txBody>
          <a:bodyPr wrap="square">
            <a:spAutoFit/>
          </a:bodyPr>
          <a:lstStyle/>
          <a:p>
            <a:pPr algn="ctr"/>
            <a:r>
              <a:rPr sz="1700" b="1" i="0">
                <a:solidFill>
                  <a:srgbClr val="FFFFFF"/>
                </a:solidFill>
                <a:latin typeface="Calibri"/>
              </a:rPr>
              <a:t>4</a:t>
            </a:r>
          </a:p>
        </p:txBody>
      </p:sp>
      <p:sp>
        <p:nvSpPr>
          <p:cNvPr id="20" name="Rectangle 19"/>
          <p:cNvSpPr/>
          <p:nvPr/>
        </p:nvSpPr>
        <p:spPr>
          <a:xfrm>
            <a:off x="1335024" y="3483864"/>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8760" y="3557016"/>
            <a:ext cx="8961120" cy="420624"/>
          </a:xfrm>
          <a:prstGeom prst="rect">
            <a:avLst/>
          </a:prstGeom>
          <a:noFill/>
        </p:spPr>
        <p:txBody>
          <a:bodyPr wrap="square">
            <a:spAutoFit/>
          </a:bodyPr>
          <a:lstStyle/>
          <a:p>
            <a:pPr algn="l"/>
            <a:r>
              <a:rPr sz="1500" b="0" i="0">
                <a:solidFill>
                  <a:srgbClr val="D2E6FF"/>
                </a:solidFill>
                <a:latin typeface="Calibri"/>
              </a:rPr>
              <a:t>Gebruik je typografie- en kleurstijlen uit les 3 en 4</a:t>
            </a:r>
          </a:p>
        </p:txBody>
      </p:sp>
      <p:sp>
        <p:nvSpPr>
          <p:cNvPr id="22" name="Rectangle 21"/>
          <p:cNvSpPr/>
          <p:nvPr/>
        </p:nvSpPr>
        <p:spPr>
          <a:xfrm>
            <a:off x="914400" y="4050792"/>
            <a:ext cx="411480" cy="4937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105656"/>
            <a:ext cx="411480" cy="438912"/>
          </a:xfrm>
          <a:prstGeom prst="rect">
            <a:avLst/>
          </a:prstGeom>
          <a:noFill/>
        </p:spPr>
        <p:txBody>
          <a:bodyPr wrap="square">
            <a:spAutoFit/>
          </a:bodyPr>
          <a:lstStyle/>
          <a:p>
            <a:pPr algn="ctr"/>
            <a:r>
              <a:rPr sz="1700" b="1" i="0">
                <a:solidFill>
                  <a:srgbClr val="FFFFFF"/>
                </a:solidFill>
                <a:latin typeface="Calibri"/>
              </a:rPr>
              <a:t>5</a:t>
            </a:r>
          </a:p>
        </p:txBody>
      </p:sp>
      <p:sp>
        <p:nvSpPr>
          <p:cNvPr id="24" name="Rectangle 23"/>
          <p:cNvSpPr/>
          <p:nvPr/>
        </p:nvSpPr>
        <p:spPr>
          <a:xfrm>
            <a:off x="1335024" y="4050792"/>
            <a:ext cx="9144000" cy="493776"/>
          </a:xfrm>
          <a:prstGeom prst="rect">
            <a:avLst/>
          </a:prstGeom>
          <a:solidFill>
            <a:srgbClr val="19233C"/>
          </a:solidFill>
          <a:ln w="9525">
            <a:solidFill>
              <a:srgbClr val="2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4123944"/>
            <a:ext cx="8961120" cy="420624"/>
          </a:xfrm>
          <a:prstGeom prst="rect">
            <a:avLst/>
          </a:prstGeom>
          <a:noFill/>
        </p:spPr>
        <p:txBody>
          <a:bodyPr wrap="square">
            <a:spAutoFit/>
          </a:bodyPr>
          <a:lstStyle/>
          <a:p>
            <a:pPr algn="l"/>
            <a:r>
              <a:rPr sz="1500" b="0" i="0">
                <a:solidFill>
                  <a:srgbClr val="D2E6FF"/>
                </a:solidFill>
                <a:latin typeface="Calibri"/>
              </a:rPr>
              <a:t>Maak het hele frame een component voor hergebruik over paginas</a:t>
            </a:r>
          </a:p>
        </p:txBody>
      </p:sp>
      <p:sp>
        <p:nvSpPr>
          <p:cNvPr id="26" name="Rectangle 25"/>
          <p:cNvSpPr/>
          <p:nvPr/>
        </p:nvSpPr>
        <p:spPr>
          <a:xfrm>
            <a:off x="914400" y="4681728"/>
            <a:ext cx="10515600" cy="1554480"/>
          </a:xfrm>
          <a:prstGeom prst="rect">
            <a:avLst/>
          </a:prstGeom>
          <a:solidFill>
            <a:srgbClr val="1E3A8A"/>
          </a:solidFill>
          <a:ln w="9525">
            <a:solidFill>
              <a:srgbClr val="32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4681728"/>
            <a:ext cx="105156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4681728"/>
            <a:ext cx="3200400" cy="1554480"/>
          </a:xfrm>
          <a:prstGeom prst="rect">
            <a:avLst/>
          </a:prstGeom>
          <a:solidFill>
            <a:srgbClr val="1E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5248656"/>
            <a:ext cx="1828800" cy="411480"/>
          </a:xfrm>
          <a:prstGeom prst="rect">
            <a:avLst/>
          </a:prstGeom>
          <a:noFill/>
        </p:spPr>
        <p:txBody>
          <a:bodyPr wrap="square">
            <a:spAutoFit/>
          </a:bodyPr>
          <a:lstStyle/>
          <a:p>
            <a:pPr algn="ctr"/>
            <a:r>
              <a:rPr sz="1300" b="0" i="0">
                <a:solidFill>
                  <a:srgbClr val="8CA0C8"/>
                </a:solidFill>
                <a:latin typeface="Calibri"/>
              </a:rPr>
              <a:t>[ Afbeelding ]</a:t>
            </a:r>
          </a:p>
        </p:txBody>
      </p:sp>
      <p:sp>
        <p:nvSpPr>
          <p:cNvPr id="30" name="TextBox 29"/>
          <p:cNvSpPr txBox="1"/>
          <p:nvPr/>
        </p:nvSpPr>
        <p:spPr>
          <a:xfrm>
            <a:off x="4297680" y="4818888"/>
            <a:ext cx="5029200" cy="502920"/>
          </a:xfrm>
          <a:prstGeom prst="rect">
            <a:avLst/>
          </a:prstGeom>
          <a:noFill/>
        </p:spPr>
        <p:txBody>
          <a:bodyPr wrap="square">
            <a:spAutoFit/>
          </a:bodyPr>
          <a:lstStyle/>
          <a:p>
            <a:pPr algn="l"/>
            <a:r>
              <a:rPr sz="2000" b="1" i="0">
                <a:solidFill>
                  <a:srgbClr val="FFFFFF"/>
                </a:solidFill>
                <a:latin typeface="Calibri"/>
              </a:rPr>
              <a:t>Help ons het verschil maken</a:t>
            </a:r>
          </a:p>
        </p:txBody>
      </p:sp>
      <p:sp>
        <p:nvSpPr>
          <p:cNvPr id="31" name="TextBox 30"/>
          <p:cNvSpPr txBox="1"/>
          <p:nvPr/>
        </p:nvSpPr>
        <p:spPr>
          <a:xfrm>
            <a:off x="4297680" y="5340096"/>
            <a:ext cx="5029200" cy="411480"/>
          </a:xfrm>
          <a:prstGeom prst="rect">
            <a:avLst/>
          </a:prstGeom>
          <a:noFill/>
        </p:spPr>
        <p:txBody>
          <a:bodyPr wrap="square">
            <a:spAutoFit/>
          </a:bodyPr>
          <a:lstStyle/>
          <a:p>
            <a:pPr algn="l"/>
            <a:r>
              <a:rPr sz="1300" b="0" i="0">
                <a:solidFill>
                  <a:srgbClr val="B4D2FF"/>
                </a:solidFill>
                <a:latin typeface="Calibri"/>
              </a:rPr>
              <a:t>Samen bouwen we aan een betere toekomst voor iedereen</a:t>
            </a:r>
          </a:p>
        </p:txBody>
      </p:sp>
      <p:sp>
        <p:nvSpPr>
          <p:cNvPr id="32" name="Rectangle 31"/>
          <p:cNvSpPr/>
          <p:nvPr/>
        </p:nvSpPr>
        <p:spPr>
          <a:xfrm>
            <a:off x="4297680" y="5797296"/>
            <a:ext cx="1463040"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5815584"/>
            <a:ext cx="1463040" cy="310896"/>
          </a:xfrm>
          <a:prstGeom prst="rect">
            <a:avLst/>
          </a:prstGeom>
          <a:noFill/>
        </p:spPr>
        <p:txBody>
          <a:bodyPr wrap="square">
            <a:spAutoFit/>
          </a:bodyPr>
          <a:lstStyle/>
          <a:p>
            <a:pPr algn="ctr"/>
            <a:r>
              <a:rPr sz="1300" b="1" i="0">
                <a:solidFill>
                  <a:srgbClr val="FFFFFF"/>
                </a:solidFill>
                <a:latin typeface="Calibri"/>
              </a:rPr>
              <a:t>Doneer nu</a:t>
            </a:r>
          </a:p>
        </p:txBody>
      </p:sp>
      <p:sp>
        <p:nvSpPr>
          <p:cNvPr id="34" name="TextBox 33"/>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Design system: wat heb je nu</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Een overzicht van je mini design system na 5 lessen</a:t>
            </a:r>
          </a:p>
        </p:txBody>
      </p:sp>
      <p:sp>
        <p:nvSpPr>
          <p:cNvPr id="6" name="Rectangle 5"/>
          <p:cNvSpPr/>
          <p:nvPr/>
        </p:nvSpPr>
        <p:spPr>
          <a:xfrm>
            <a:off x="914400" y="1783080"/>
            <a:ext cx="1005840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783080"/>
            <a:ext cx="64008" cy="804672"/>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2144" y="2039112"/>
            <a:ext cx="292608" cy="29260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1911096"/>
            <a:ext cx="3676253" cy="676656"/>
          </a:xfrm>
          <a:prstGeom prst="rect">
            <a:avLst/>
          </a:prstGeom>
          <a:noFill/>
        </p:spPr>
        <p:txBody>
          <a:bodyPr wrap="square">
            <a:spAutoFit/>
          </a:bodyPr>
          <a:lstStyle/>
          <a:p>
            <a:pPr algn="l"/>
            <a:r>
              <a:rPr sz="1700" b="1" i="0">
                <a:solidFill>
                  <a:srgbClr val="0F172A"/>
                </a:solidFill>
                <a:latin typeface="Calibri"/>
              </a:rPr>
              <a:t>Kleurstijlen (les 4)</a:t>
            </a:r>
          </a:p>
        </p:txBody>
      </p:sp>
      <p:sp>
        <p:nvSpPr>
          <p:cNvPr id="10" name="TextBox 9"/>
          <p:cNvSpPr txBox="1"/>
          <p:nvPr/>
        </p:nvSpPr>
        <p:spPr>
          <a:xfrm>
            <a:off x="4956413" y="1911096"/>
            <a:ext cx="5611124" cy="676656"/>
          </a:xfrm>
          <a:prstGeom prst="rect">
            <a:avLst/>
          </a:prstGeom>
          <a:noFill/>
        </p:spPr>
        <p:txBody>
          <a:bodyPr wrap="square">
            <a:spAutoFit/>
          </a:bodyPr>
          <a:lstStyle/>
          <a:p>
            <a:pPr algn="l"/>
            <a:r>
              <a:rPr sz="1500" b="0" i="0">
                <a:solidFill>
                  <a:srgbClr val="334155"/>
                </a:solidFill>
                <a:latin typeface="Calibri"/>
              </a:rPr>
              <a:t>Primair, neutrals, semantisch (succes, fout, waarschuwing)</a:t>
            </a:r>
          </a:p>
        </p:txBody>
      </p:sp>
      <p:sp>
        <p:nvSpPr>
          <p:cNvPr id="11" name="Rectangle 10"/>
          <p:cNvSpPr/>
          <p:nvPr/>
        </p:nvSpPr>
        <p:spPr>
          <a:xfrm>
            <a:off x="914400" y="2715768"/>
            <a:ext cx="1005840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2715768"/>
            <a:ext cx="64008" cy="804672"/>
          </a:xfrm>
          <a:prstGeom prst="rect">
            <a:avLst/>
          </a:prstGeom>
          <a:gradFill rotWithShape="1">
            <a:gsLst>
              <a:gs pos="0">
                <a:srgbClr val="2563EB"/>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52144" y="2971800"/>
            <a:ext cx="292608" cy="2926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843784"/>
            <a:ext cx="3676253" cy="676656"/>
          </a:xfrm>
          <a:prstGeom prst="rect">
            <a:avLst/>
          </a:prstGeom>
          <a:noFill/>
        </p:spPr>
        <p:txBody>
          <a:bodyPr wrap="square">
            <a:spAutoFit/>
          </a:bodyPr>
          <a:lstStyle/>
          <a:p>
            <a:pPr algn="l"/>
            <a:r>
              <a:rPr sz="1700" b="1" i="0">
                <a:solidFill>
                  <a:srgbClr val="0F172A"/>
                </a:solidFill>
                <a:latin typeface="Calibri"/>
              </a:rPr>
              <a:t>Tekststijlen (les 3)</a:t>
            </a:r>
          </a:p>
        </p:txBody>
      </p:sp>
      <p:sp>
        <p:nvSpPr>
          <p:cNvPr id="15" name="TextBox 14"/>
          <p:cNvSpPr txBox="1"/>
          <p:nvPr/>
        </p:nvSpPr>
        <p:spPr>
          <a:xfrm>
            <a:off x="4956413" y="2843784"/>
            <a:ext cx="5611124" cy="676656"/>
          </a:xfrm>
          <a:prstGeom prst="rect">
            <a:avLst/>
          </a:prstGeom>
          <a:noFill/>
        </p:spPr>
        <p:txBody>
          <a:bodyPr wrap="square">
            <a:spAutoFit/>
          </a:bodyPr>
          <a:lstStyle/>
          <a:p>
            <a:pPr algn="l"/>
            <a:r>
              <a:rPr sz="1500" b="0" i="0">
                <a:solidFill>
                  <a:srgbClr val="334155"/>
                </a:solidFill>
                <a:latin typeface="Calibri"/>
              </a:rPr>
              <a:t>H1 t/m caption, met juiste font, grootte en regelafstand</a:t>
            </a:r>
          </a:p>
        </p:txBody>
      </p:sp>
      <p:sp>
        <p:nvSpPr>
          <p:cNvPr id="16" name="Rectangle 15"/>
          <p:cNvSpPr/>
          <p:nvPr/>
        </p:nvSpPr>
        <p:spPr>
          <a:xfrm>
            <a:off x="914400" y="3648456"/>
            <a:ext cx="1005840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648456"/>
            <a:ext cx="64008" cy="804672"/>
          </a:xfrm>
          <a:prstGeom prst="rect">
            <a:avLst/>
          </a:prstGeom>
          <a:gradFill rotWithShape="1">
            <a:gsLst>
              <a:gs pos="0">
                <a:srgbClr val="0D9488"/>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144" y="3904488"/>
            <a:ext cx="292608" cy="29260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776472"/>
            <a:ext cx="3676253" cy="676656"/>
          </a:xfrm>
          <a:prstGeom prst="rect">
            <a:avLst/>
          </a:prstGeom>
          <a:noFill/>
        </p:spPr>
        <p:txBody>
          <a:bodyPr wrap="square">
            <a:spAutoFit/>
          </a:bodyPr>
          <a:lstStyle/>
          <a:p>
            <a:pPr algn="l"/>
            <a:r>
              <a:rPr sz="1700" b="1" i="0">
                <a:solidFill>
                  <a:srgbClr val="0F172A"/>
                </a:solidFill>
                <a:latin typeface="Calibri"/>
              </a:rPr>
              <a:t>Spacing systeem (les 2)</a:t>
            </a:r>
          </a:p>
        </p:txBody>
      </p:sp>
      <p:sp>
        <p:nvSpPr>
          <p:cNvPr id="20" name="TextBox 19"/>
          <p:cNvSpPr txBox="1"/>
          <p:nvPr/>
        </p:nvSpPr>
        <p:spPr>
          <a:xfrm>
            <a:off x="4956413" y="3776472"/>
            <a:ext cx="5611124" cy="676656"/>
          </a:xfrm>
          <a:prstGeom prst="rect">
            <a:avLst/>
          </a:prstGeom>
          <a:noFill/>
        </p:spPr>
        <p:txBody>
          <a:bodyPr wrap="square">
            <a:spAutoFit/>
          </a:bodyPr>
          <a:lstStyle/>
          <a:p>
            <a:pPr algn="l"/>
            <a:r>
              <a:rPr sz="1500" b="0" i="0">
                <a:solidFill>
                  <a:srgbClr val="334155"/>
                </a:solidFill>
                <a:latin typeface="Calibri"/>
              </a:rPr>
              <a:t>8pt grid consequent toegepast op alle componenten</a:t>
            </a:r>
          </a:p>
        </p:txBody>
      </p:sp>
      <p:sp>
        <p:nvSpPr>
          <p:cNvPr id="21" name="Rectangle 20"/>
          <p:cNvSpPr/>
          <p:nvPr/>
        </p:nvSpPr>
        <p:spPr>
          <a:xfrm>
            <a:off x="914400" y="4581144"/>
            <a:ext cx="1005840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581144"/>
            <a:ext cx="64008" cy="804672"/>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52144" y="4837176"/>
            <a:ext cx="292608" cy="29260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4709160"/>
            <a:ext cx="3676253" cy="676656"/>
          </a:xfrm>
          <a:prstGeom prst="rect">
            <a:avLst/>
          </a:prstGeom>
          <a:noFill/>
        </p:spPr>
        <p:txBody>
          <a:bodyPr wrap="square">
            <a:spAutoFit/>
          </a:bodyPr>
          <a:lstStyle/>
          <a:p>
            <a:pPr algn="l"/>
            <a:r>
              <a:rPr sz="1700" b="1" i="0">
                <a:solidFill>
                  <a:srgbClr val="0F172A"/>
                </a:solidFill>
                <a:latin typeface="Calibri"/>
              </a:rPr>
              <a:t>Basiscomponenten (les 5)</a:t>
            </a:r>
          </a:p>
        </p:txBody>
      </p:sp>
      <p:sp>
        <p:nvSpPr>
          <p:cNvPr id="25" name="TextBox 24"/>
          <p:cNvSpPr txBox="1"/>
          <p:nvPr/>
        </p:nvSpPr>
        <p:spPr>
          <a:xfrm>
            <a:off x="4956413" y="4709160"/>
            <a:ext cx="5611124" cy="676656"/>
          </a:xfrm>
          <a:prstGeom prst="rect">
            <a:avLst/>
          </a:prstGeom>
          <a:noFill/>
        </p:spPr>
        <p:txBody>
          <a:bodyPr wrap="square">
            <a:spAutoFit/>
          </a:bodyPr>
          <a:lstStyle/>
          <a:p>
            <a:pPr algn="l"/>
            <a:r>
              <a:rPr sz="1500" b="0" i="0">
                <a:solidFill>
                  <a:srgbClr val="334155"/>
                </a:solidFill>
                <a:latin typeface="Calibri"/>
              </a:rPr>
              <a:t>Knop, invoerveld, navigatiebalk, hero sectie</a:t>
            </a:r>
          </a:p>
        </p:txBody>
      </p:sp>
      <p:sp>
        <p:nvSpPr>
          <p:cNvPr id="26" name="Rectangle 25"/>
          <p:cNvSpPr/>
          <p:nvPr/>
        </p:nvSpPr>
        <p:spPr>
          <a:xfrm>
            <a:off x="914400" y="5074920"/>
            <a:ext cx="10058400" cy="11704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5074920"/>
            <a:ext cx="64008" cy="1170432"/>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5202936"/>
            <a:ext cx="9674352" cy="411480"/>
          </a:xfrm>
          <a:prstGeom prst="rect">
            <a:avLst/>
          </a:prstGeom>
          <a:noFill/>
        </p:spPr>
        <p:txBody>
          <a:bodyPr wrap="square">
            <a:spAutoFit/>
          </a:bodyPr>
          <a:lstStyle/>
          <a:p>
            <a:pPr algn="l"/>
            <a:r>
              <a:rPr sz="1800" b="1" i="0">
                <a:solidFill>
                  <a:srgbClr val="0F172A"/>
                </a:solidFill>
                <a:latin typeface="Calibri"/>
              </a:rPr>
              <a:t>Dit is je mini design system.</a:t>
            </a:r>
          </a:p>
        </p:txBody>
      </p:sp>
      <p:sp>
        <p:nvSpPr>
          <p:cNvPr id="29" name="TextBox 28"/>
          <p:cNvSpPr txBox="1"/>
          <p:nvPr/>
        </p:nvSpPr>
        <p:spPr>
          <a:xfrm>
            <a:off x="1143000" y="5632704"/>
            <a:ext cx="9674352" cy="594360"/>
          </a:xfrm>
          <a:prstGeom prst="rect">
            <a:avLst/>
          </a:prstGeom>
          <a:noFill/>
        </p:spPr>
        <p:txBody>
          <a:bodyPr wrap="square">
            <a:spAutoFit/>
          </a:bodyPr>
          <a:lstStyle/>
          <a:p>
            <a:pPr algn="l"/>
            <a:r>
              <a:rPr sz="1500" b="0" i="0">
                <a:solidFill>
                  <a:srgbClr val="334155"/>
                </a:solidFill>
                <a:latin typeface="Calibri"/>
              </a:rPr>
              <a:t>Professionele teams bouwen hierop door: ze voegen documentatie, do's and don'ts, en developer handoffs toe. Jouw systeem is de basis.</a:t>
            </a:r>
          </a:p>
        </p:txBody>
      </p:sp>
      <p:sp>
        <p:nvSpPr>
          <p:cNvPr id="30" name="TextBox 29"/>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Bronnen</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Verder lezen en ontdekken over design systems en componenten</a:t>
            </a:r>
          </a:p>
        </p:txBody>
      </p:sp>
      <p:sp>
        <p:nvSpPr>
          <p:cNvPr id="6" name="Rectangle 5"/>
          <p:cNvSpPr/>
          <p:nvPr/>
        </p:nvSpPr>
        <p:spPr>
          <a:xfrm>
            <a:off x="914400" y="1572768"/>
            <a:ext cx="10058400" cy="65836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572768"/>
            <a:ext cx="64008" cy="658368"/>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700784"/>
            <a:ext cx="4063227" cy="530352"/>
          </a:xfrm>
          <a:prstGeom prst="rect">
            <a:avLst/>
          </a:prstGeom>
          <a:noFill/>
        </p:spPr>
        <p:txBody>
          <a:bodyPr wrap="square">
            <a:spAutoFit/>
          </a:bodyPr>
          <a:lstStyle/>
          <a:p>
            <a:pPr algn="l"/>
            <a:r>
              <a:rPr sz="1700" b="1" i="0">
                <a:solidFill>
                  <a:srgbClr val="0F172A"/>
                </a:solidFill>
                <a:latin typeface="Calibri"/>
              </a:rPr>
              <a:t>Atomic Design boek</a:t>
            </a:r>
          </a:p>
        </p:txBody>
      </p:sp>
      <p:sp>
        <p:nvSpPr>
          <p:cNvPr id="9" name="TextBox 8"/>
          <p:cNvSpPr txBox="1"/>
          <p:nvPr/>
        </p:nvSpPr>
        <p:spPr>
          <a:xfrm>
            <a:off x="5206227" y="1737360"/>
            <a:ext cx="5417637" cy="493776"/>
          </a:xfrm>
          <a:prstGeom prst="rect">
            <a:avLst/>
          </a:prstGeom>
          <a:noFill/>
        </p:spPr>
        <p:txBody>
          <a:bodyPr wrap="square">
            <a:spAutoFit/>
          </a:bodyPr>
          <a:lstStyle/>
          <a:p>
            <a:pPr algn="l"/>
            <a:r>
              <a:rPr sz="1400" b="0" i="1">
                <a:solidFill>
                  <a:srgbClr val="16A34A"/>
                </a:solidFill>
                <a:latin typeface="Calibri"/>
              </a:rPr>
              <a:t>atomicdesign.bradfrost.com</a:t>
            </a:r>
          </a:p>
        </p:txBody>
      </p:sp>
      <p:sp>
        <p:nvSpPr>
          <p:cNvPr id="10" name="Rectangle 9"/>
          <p:cNvSpPr/>
          <p:nvPr/>
        </p:nvSpPr>
        <p:spPr>
          <a:xfrm>
            <a:off x="914400" y="2340864"/>
            <a:ext cx="10058400" cy="65836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340864"/>
            <a:ext cx="64008" cy="658368"/>
          </a:xfrm>
          <a:prstGeom prst="rect">
            <a:avLst/>
          </a:prstGeom>
          <a:gradFill rotWithShape="1">
            <a:gsLst>
              <a:gs pos="0">
                <a:srgbClr val="2563EB"/>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2468880"/>
            <a:ext cx="4063227" cy="530352"/>
          </a:xfrm>
          <a:prstGeom prst="rect">
            <a:avLst/>
          </a:prstGeom>
          <a:noFill/>
        </p:spPr>
        <p:txBody>
          <a:bodyPr wrap="square">
            <a:spAutoFit/>
          </a:bodyPr>
          <a:lstStyle/>
          <a:p>
            <a:pPr algn="l"/>
            <a:r>
              <a:rPr sz="1700" b="1" i="0">
                <a:solidFill>
                  <a:srgbClr val="0F172A"/>
                </a:solidFill>
                <a:latin typeface="Calibri"/>
              </a:rPr>
              <a:t>Figma componenten docs</a:t>
            </a:r>
          </a:p>
        </p:txBody>
      </p:sp>
      <p:sp>
        <p:nvSpPr>
          <p:cNvPr id="13" name="TextBox 12"/>
          <p:cNvSpPr txBox="1"/>
          <p:nvPr/>
        </p:nvSpPr>
        <p:spPr>
          <a:xfrm>
            <a:off x="5206227" y="2505456"/>
            <a:ext cx="5417637" cy="493776"/>
          </a:xfrm>
          <a:prstGeom prst="rect">
            <a:avLst/>
          </a:prstGeom>
          <a:noFill/>
        </p:spPr>
        <p:txBody>
          <a:bodyPr wrap="square">
            <a:spAutoFit/>
          </a:bodyPr>
          <a:lstStyle/>
          <a:p>
            <a:pPr algn="l"/>
            <a:r>
              <a:rPr sz="1400" b="0" i="1">
                <a:solidFill>
                  <a:srgbClr val="2563EB"/>
                </a:solidFill>
                <a:latin typeface="Calibri"/>
              </a:rPr>
              <a:t>figma.com/best-practices/components-styles-and-shared-libraries</a:t>
            </a:r>
          </a:p>
        </p:txBody>
      </p:sp>
      <p:sp>
        <p:nvSpPr>
          <p:cNvPr id="14" name="Rectangle 13"/>
          <p:cNvSpPr/>
          <p:nvPr/>
        </p:nvSpPr>
        <p:spPr>
          <a:xfrm>
            <a:off x="914400" y="3108960"/>
            <a:ext cx="10058400" cy="65836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3108960"/>
            <a:ext cx="64008" cy="658368"/>
          </a:xfrm>
          <a:prstGeom prst="rect">
            <a:avLst/>
          </a:prstGeom>
          <a:gradFill rotWithShape="1">
            <a:gsLst>
              <a:gs pos="0">
                <a:srgbClr val="7C3AED"/>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3236976"/>
            <a:ext cx="4063227" cy="530352"/>
          </a:xfrm>
          <a:prstGeom prst="rect">
            <a:avLst/>
          </a:prstGeom>
          <a:noFill/>
        </p:spPr>
        <p:txBody>
          <a:bodyPr wrap="square">
            <a:spAutoFit/>
          </a:bodyPr>
          <a:lstStyle/>
          <a:p>
            <a:pPr algn="l"/>
            <a:r>
              <a:rPr sz="1700" b="1" i="0">
                <a:solidFill>
                  <a:srgbClr val="0F172A"/>
                </a:solidFill>
                <a:latin typeface="Calibri"/>
              </a:rPr>
              <a:t>Storybook component library</a:t>
            </a:r>
          </a:p>
        </p:txBody>
      </p:sp>
      <p:sp>
        <p:nvSpPr>
          <p:cNvPr id="17" name="TextBox 16"/>
          <p:cNvSpPr txBox="1"/>
          <p:nvPr/>
        </p:nvSpPr>
        <p:spPr>
          <a:xfrm>
            <a:off x="5206227" y="3273552"/>
            <a:ext cx="5417637" cy="493776"/>
          </a:xfrm>
          <a:prstGeom prst="rect">
            <a:avLst/>
          </a:prstGeom>
          <a:noFill/>
        </p:spPr>
        <p:txBody>
          <a:bodyPr wrap="square">
            <a:spAutoFit/>
          </a:bodyPr>
          <a:lstStyle/>
          <a:p>
            <a:pPr algn="l"/>
            <a:r>
              <a:rPr sz="1400" b="0" i="1">
                <a:solidFill>
                  <a:srgbClr val="7C3AED"/>
                </a:solidFill>
                <a:latin typeface="Calibri"/>
              </a:rPr>
              <a:t>storybook.js.org</a:t>
            </a:r>
          </a:p>
        </p:txBody>
      </p:sp>
      <p:sp>
        <p:nvSpPr>
          <p:cNvPr id="18" name="Rectangle 17"/>
          <p:cNvSpPr/>
          <p:nvPr/>
        </p:nvSpPr>
        <p:spPr>
          <a:xfrm>
            <a:off x="914400" y="3877056"/>
            <a:ext cx="10058400" cy="65836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3877056"/>
            <a:ext cx="64008" cy="658368"/>
          </a:xfrm>
          <a:prstGeom prst="rect">
            <a:avLst/>
          </a:prstGeom>
          <a:gradFill rotWithShape="1">
            <a:gsLst>
              <a:gs pos="0">
                <a:srgbClr val="DC2626"/>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4005072"/>
            <a:ext cx="4063227" cy="530352"/>
          </a:xfrm>
          <a:prstGeom prst="rect">
            <a:avLst/>
          </a:prstGeom>
          <a:noFill/>
        </p:spPr>
        <p:txBody>
          <a:bodyPr wrap="square">
            <a:spAutoFit/>
          </a:bodyPr>
          <a:lstStyle/>
          <a:p>
            <a:pPr algn="l"/>
            <a:r>
              <a:rPr sz="1700" b="1" i="0">
                <a:solidFill>
                  <a:srgbClr val="0F172A"/>
                </a:solidFill>
                <a:latin typeface="Calibri"/>
              </a:rPr>
              <a:t>Material Design 3</a:t>
            </a:r>
          </a:p>
        </p:txBody>
      </p:sp>
      <p:sp>
        <p:nvSpPr>
          <p:cNvPr id="21" name="TextBox 20"/>
          <p:cNvSpPr txBox="1"/>
          <p:nvPr/>
        </p:nvSpPr>
        <p:spPr>
          <a:xfrm>
            <a:off x="5206227" y="4041648"/>
            <a:ext cx="5417637" cy="493776"/>
          </a:xfrm>
          <a:prstGeom prst="rect">
            <a:avLst/>
          </a:prstGeom>
          <a:noFill/>
        </p:spPr>
        <p:txBody>
          <a:bodyPr wrap="square">
            <a:spAutoFit/>
          </a:bodyPr>
          <a:lstStyle/>
          <a:p>
            <a:pPr algn="l"/>
            <a:r>
              <a:rPr sz="1400" b="0" i="1">
                <a:solidFill>
                  <a:srgbClr val="DC2626"/>
                </a:solidFill>
                <a:latin typeface="Calibri"/>
              </a:rPr>
              <a:t>m3.material.io</a:t>
            </a:r>
          </a:p>
        </p:txBody>
      </p:sp>
      <p:sp>
        <p:nvSpPr>
          <p:cNvPr id="22" name="Rectangle 21"/>
          <p:cNvSpPr/>
          <p:nvPr/>
        </p:nvSpPr>
        <p:spPr>
          <a:xfrm>
            <a:off x="914400" y="4645152"/>
            <a:ext cx="10058400" cy="65836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4645152"/>
            <a:ext cx="64008" cy="658368"/>
          </a:xfrm>
          <a:prstGeom prst="rect">
            <a:avLst/>
          </a:prstGeom>
          <a:gradFill rotWithShape="1">
            <a:gsLst>
              <a:gs pos="0">
                <a:srgbClr val="D97706"/>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773168"/>
            <a:ext cx="4063227" cy="530352"/>
          </a:xfrm>
          <a:prstGeom prst="rect">
            <a:avLst/>
          </a:prstGeom>
          <a:noFill/>
        </p:spPr>
        <p:txBody>
          <a:bodyPr wrap="square">
            <a:spAutoFit/>
          </a:bodyPr>
          <a:lstStyle/>
          <a:p>
            <a:pPr algn="l"/>
            <a:r>
              <a:rPr sz="1700" b="1" i="0">
                <a:solidFill>
                  <a:srgbClr val="0F172A"/>
                </a:solidFill>
                <a:latin typeface="Calibri"/>
              </a:rPr>
              <a:t>Supernova design system tool</a:t>
            </a:r>
          </a:p>
        </p:txBody>
      </p:sp>
      <p:sp>
        <p:nvSpPr>
          <p:cNvPr id="25" name="TextBox 24"/>
          <p:cNvSpPr txBox="1"/>
          <p:nvPr/>
        </p:nvSpPr>
        <p:spPr>
          <a:xfrm>
            <a:off x="5206227" y="4809744"/>
            <a:ext cx="5417637" cy="493776"/>
          </a:xfrm>
          <a:prstGeom prst="rect">
            <a:avLst/>
          </a:prstGeom>
          <a:noFill/>
        </p:spPr>
        <p:txBody>
          <a:bodyPr wrap="square">
            <a:spAutoFit/>
          </a:bodyPr>
          <a:lstStyle/>
          <a:p>
            <a:pPr algn="l"/>
            <a:r>
              <a:rPr sz="1400" b="0" i="1">
                <a:solidFill>
                  <a:srgbClr val="D97706"/>
                </a:solidFill>
                <a:latin typeface="Calibri"/>
              </a:rPr>
              <a:t>supernova.io</a:t>
            </a:r>
          </a:p>
        </p:txBody>
      </p:sp>
      <p:sp>
        <p:nvSpPr>
          <p:cNvPr id="26" name="TextBox 25"/>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Oefening: je eerste component</a:t>
            </a:r>
          </a:p>
        </p:txBody>
      </p:sp>
      <p:sp>
        <p:nvSpPr>
          <p:cNvPr id="4" name="Rectangle 3"/>
          <p:cNvSpPr/>
          <p:nvPr/>
        </p:nvSpPr>
        <p:spPr>
          <a:xfrm>
            <a:off x="914400" y="1261872"/>
            <a:ext cx="164592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Doe het zelf in Figma - 20 minuten</a:t>
            </a:r>
          </a:p>
        </p:txBody>
      </p:sp>
      <p:sp>
        <p:nvSpPr>
          <p:cNvPr id="6" name="Rectangle 5"/>
          <p:cNvSpPr/>
          <p:nvPr/>
        </p:nvSpPr>
        <p:spPr>
          <a:xfrm>
            <a:off x="914400" y="1691640"/>
            <a:ext cx="10058400" cy="91440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691640"/>
            <a:ext cx="64008" cy="91440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819656"/>
            <a:ext cx="1097280" cy="786384"/>
          </a:xfrm>
          <a:prstGeom prst="rect">
            <a:avLst/>
          </a:prstGeom>
          <a:noFill/>
        </p:spPr>
        <p:txBody>
          <a:bodyPr wrap="square">
            <a:spAutoFit/>
          </a:bodyPr>
          <a:lstStyle/>
          <a:p>
            <a:pPr algn="l"/>
            <a:r>
              <a:rPr sz="1600" b="1" i="0">
                <a:solidFill>
                  <a:srgbClr val="16A34A"/>
                </a:solidFill>
                <a:latin typeface="Calibri"/>
              </a:rPr>
              <a:t>Stap 1</a:t>
            </a:r>
          </a:p>
        </p:txBody>
      </p:sp>
      <p:sp>
        <p:nvSpPr>
          <p:cNvPr id="9" name="TextBox 8"/>
          <p:cNvSpPr txBox="1"/>
          <p:nvPr/>
        </p:nvSpPr>
        <p:spPr>
          <a:xfrm>
            <a:off x="2286000" y="1819656"/>
            <a:ext cx="8531352" cy="786384"/>
          </a:xfrm>
          <a:prstGeom prst="rect">
            <a:avLst/>
          </a:prstGeom>
          <a:noFill/>
        </p:spPr>
        <p:txBody>
          <a:bodyPr wrap="square">
            <a:spAutoFit/>
          </a:bodyPr>
          <a:lstStyle/>
          <a:p>
            <a:pPr algn="l"/>
            <a:r>
              <a:rPr sz="1600" b="0" i="0">
                <a:solidFill>
                  <a:srgbClr val="0F172A"/>
                </a:solidFill>
                <a:latin typeface="Calibri"/>
              </a:rPr>
              <a:t>Open je goed doel wireframe in Figma</a:t>
            </a:r>
          </a:p>
        </p:txBody>
      </p:sp>
      <p:sp>
        <p:nvSpPr>
          <p:cNvPr id="10" name="Rectangle 9"/>
          <p:cNvSpPr/>
          <p:nvPr/>
        </p:nvSpPr>
        <p:spPr>
          <a:xfrm>
            <a:off x="914400" y="2770632"/>
            <a:ext cx="10058400" cy="91440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770632"/>
            <a:ext cx="64008" cy="914400"/>
          </a:xfrm>
          <a:prstGeom prst="rect">
            <a:avLst/>
          </a:prstGeom>
          <a:gradFill rotWithShape="1">
            <a:gsLst>
              <a:gs pos="0">
                <a:srgbClr val="2563EB"/>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2898648"/>
            <a:ext cx="1097280" cy="786384"/>
          </a:xfrm>
          <a:prstGeom prst="rect">
            <a:avLst/>
          </a:prstGeom>
          <a:noFill/>
        </p:spPr>
        <p:txBody>
          <a:bodyPr wrap="square">
            <a:spAutoFit/>
          </a:bodyPr>
          <a:lstStyle/>
          <a:p>
            <a:pPr algn="l"/>
            <a:r>
              <a:rPr sz="1600" b="1" i="0">
                <a:solidFill>
                  <a:srgbClr val="2563EB"/>
                </a:solidFill>
                <a:latin typeface="Calibri"/>
              </a:rPr>
              <a:t>Stap 2</a:t>
            </a:r>
          </a:p>
        </p:txBody>
      </p:sp>
      <p:sp>
        <p:nvSpPr>
          <p:cNvPr id="13" name="TextBox 12"/>
          <p:cNvSpPr txBox="1"/>
          <p:nvPr/>
        </p:nvSpPr>
        <p:spPr>
          <a:xfrm>
            <a:off x="2286000" y="2898648"/>
            <a:ext cx="8531352" cy="786384"/>
          </a:xfrm>
          <a:prstGeom prst="rect">
            <a:avLst/>
          </a:prstGeom>
          <a:noFill/>
        </p:spPr>
        <p:txBody>
          <a:bodyPr wrap="square">
            <a:spAutoFit/>
          </a:bodyPr>
          <a:lstStyle/>
          <a:p>
            <a:pPr algn="l"/>
            <a:r>
              <a:rPr sz="1600" b="0" i="0">
                <a:solidFill>
                  <a:srgbClr val="0F172A"/>
                </a:solidFill>
                <a:latin typeface="Calibri"/>
              </a:rPr>
              <a:t>Maak een knopcomponent: 'button/primary/large' met Auto Layout, padding 16x48px</a:t>
            </a:r>
          </a:p>
        </p:txBody>
      </p:sp>
      <p:sp>
        <p:nvSpPr>
          <p:cNvPr id="14" name="Rectangle 13"/>
          <p:cNvSpPr/>
          <p:nvPr/>
        </p:nvSpPr>
        <p:spPr>
          <a:xfrm>
            <a:off x="914400" y="3849624"/>
            <a:ext cx="10058400" cy="91440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3849624"/>
            <a:ext cx="64008" cy="914400"/>
          </a:xfrm>
          <a:prstGeom prst="rect">
            <a:avLst/>
          </a:prstGeom>
          <a:gradFill rotWithShape="1">
            <a:gsLst>
              <a:gs pos="0">
                <a:srgbClr val="7C3AED"/>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3977640"/>
            <a:ext cx="1097280" cy="786384"/>
          </a:xfrm>
          <a:prstGeom prst="rect">
            <a:avLst/>
          </a:prstGeom>
          <a:noFill/>
        </p:spPr>
        <p:txBody>
          <a:bodyPr wrap="square">
            <a:spAutoFit/>
          </a:bodyPr>
          <a:lstStyle/>
          <a:p>
            <a:pPr algn="l"/>
            <a:r>
              <a:rPr sz="1600" b="1" i="0">
                <a:solidFill>
                  <a:srgbClr val="7C3AED"/>
                </a:solidFill>
                <a:latin typeface="Calibri"/>
              </a:rPr>
              <a:t>Stap 3</a:t>
            </a:r>
          </a:p>
        </p:txBody>
      </p:sp>
      <p:sp>
        <p:nvSpPr>
          <p:cNvPr id="17" name="TextBox 16"/>
          <p:cNvSpPr txBox="1"/>
          <p:nvPr/>
        </p:nvSpPr>
        <p:spPr>
          <a:xfrm>
            <a:off x="2286000" y="3977640"/>
            <a:ext cx="8531352" cy="786384"/>
          </a:xfrm>
          <a:prstGeom prst="rect">
            <a:avLst/>
          </a:prstGeom>
          <a:noFill/>
        </p:spPr>
        <p:txBody>
          <a:bodyPr wrap="square">
            <a:spAutoFit/>
          </a:bodyPr>
          <a:lstStyle/>
          <a:p>
            <a:pPr algn="l"/>
            <a:r>
              <a:rPr sz="1600" b="0" i="0">
                <a:solidFill>
                  <a:srgbClr val="0F172A"/>
                </a:solidFill>
                <a:latin typeface="Calibri"/>
              </a:rPr>
              <a:t>Voeg drie varianten toe: primary, secondary, disabled</a:t>
            </a:r>
          </a:p>
        </p:txBody>
      </p:sp>
      <p:sp>
        <p:nvSpPr>
          <p:cNvPr id="18" name="Rectangle 17"/>
          <p:cNvSpPr/>
          <p:nvPr/>
        </p:nvSpPr>
        <p:spPr>
          <a:xfrm>
            <a:off x="914400" y="4928616"/>
            <a:ext cx="10058400" cy="91440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4928616"/>
            <a:ext cx="64008" cy="914400"/>
          </a:xfrm>
          <a:prstGeom prst="rect">
            <a:avLst/>
          </a:prstGeom>
          <a:gradFill rotWithShape="1">
            <a:gsLst>
              <a:gs pos="0">
                <a:srgbClr val="0D9488"/>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5056632"/>
            <a:ext cx="1097280" cy="786384"/>
          </a:xfrm>
          <a:prstGeom prst="rect">
            <a:avLst/>
          </a:prstGeom>
          <a:noFill/>
        </p:spPr>
        <p:txBody>
          <a:bodyPr wrap="square">
            <a:spAutoFit/>
          </a:bodyPr>
          <a:lstStyle/>
          <a:p>
            <a:pPr algn="l"/>
            <a:r>
              <a:rPr sz="1600" b="1" i="0">
                <a:solidFill>
                  <a:srgbClr val="0D9488"/>
                </a:solidFill>
                <a:latin typeface="Calibri"/>
              </a:rPr>
              <a:t>Stap 4</a:t>
            </a:r>
          </a:p>
        </p:txBody>
      </p:sp>
      <p:sp>
        <p:nvSpPr>
          <p:cNvPr id="21" name="TextBox 20"/>
          <p:cNvSpPr txBox="1"/>
          <p:nvPr/>
        </p:nvSpPr>
        <p:spPr>
          <a:xfrm>
            <a:off x="2286000" y="5056632"/>
            <a:ext cx="8531352" cy="786384"/>
          </a:xfrm>
          <a:prstGeom prst="rect">
            <a:avLst/>
          </a:prstGeom>
          <a:noFill/>
        </p:spPr>
        <p:txBody>
          <a:bodyPr wrap="square">
            <a:spAutoFit/>
          </a:bodyPr>
          <a:lstStyle/>
          <a:p>
            <a:pPr algn="l"/>
            <a:r>
              <a:rPr sz="1600" b="0" i="0">
                <a:solidFill>
                  <a:srgbClr val="0F172A"/>
                </a:solidFill>
                <a:latin typeface="Calibri"/>
              </a:rPr>
              <a:t>Gebruik de knop als instance in je hero en navigatie</a:t>
            </a:r>
          </a:p>
        </p:txBody>
      </p:sp>
      <p:sp>
        <p:nvSpPr>
          <p:cNvPr id="22" name="Rectangle 21"/>
          <p:cNvSpPr/>
          <p:nvPr/>
        </p:nvSpPr>
        <p:spPr>
          <a:xfrm>
            <a:off x="914400" y="5559552"/>
            <a:ext cx="10058400" cy="82296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5559552"/>
            <a:ext cx="64008" cy="82296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733288"/>
            <a:ext cx="548640" cy="502920"/>
          </a:xfrm>
          <a:prstGeom prst="rect">
            <a:avLst/>
          </a:prstGeom>
          <a:noFill/>
        </p:spPr>
        <p:txBody>
          <a:bodyPr wrap="square">
            <a:spAutoFit/>
          </a:bodyPr>
          <a:lstStyle/>
          <a:p>
            <a:pPr algn="l"/>
            <a:r>
              <a:rPr sz="1500" b="1" i="0">
                <a:solidFill>
                  <a:srgbClr val="16A34A"/>
                </a:solidFill>
                <a:latin typeface="Calibri"/>
              </a:rPr>
              <a:t>Doel:</a:t>
            </a:r>
          </a:p>
        </p:txBody>
      </p:sp>
      <p:sp>
        <p:nvSpPr>
          <p:cNvPr id="25" name="TextBox 24"/>
          <p:cNvSpPr txBox="1"/>
          <p:nvPr/>
        </p:nvSpPr>
        <p:spPr>
          <a:xfrm>
            <a:off x="1737360" y="5733288"/>
            <a:ext cx="9079992" cy="502920"/>
          </a:xfrm>
          <a:prstGeom prst="rect">
            <a:avLst/>
          </a:prstGeom>
          <a:noFill/>
        </p:spPr>
        <p:txBody>
          <a:bodyPr wrap="square">
            <a:spAutoFit/>
          </a:bodyPr>
          <a:lstStyle/>
          <a:p>
            <a:pPr algn="l"/>
            <a:r>
              <a:rPr sz="1500" b="0" i="0">
                <a:solidFill>
                  <a:srgbClr val="0F172A"/>
                </a:solidFill>
                <a:latin typeface="Calibri"/>
              </a:rPr>
              <a:t>Na deze les heb je een werkende knop-component met varianten in je goed doel project</a:t>
            </a:r>
          </a:p>
        </p:txBody>
      </p:sp>
      <p:sp>
        <p:nvSpPr>
          <p:cNvPr id="26" name="TextBox 25"/>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09728" cy="685800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320040"/>
            <a:ext cx="10058400" cy="502920"/>
          </a:xfrm>
          <a:prstGeom prst="rect">
            <a:avLst/>
          </a:prstGeom>
          <a:noFill/>
        </p:spPr>
        <p:txBody>
          <a:bodyPr wrap="square">
            <a:spAutoFit/>
          </a:bodyPr>
          <a:lstStyle/>
          <a:p>
            <a:pPr algn="l"/>
            <a:r>
              <a:rPr sz="1600" b="0" i="1">
                <a:solidFill>
                  <a:srgbClr val="A0C8B4"/>
                </a:solidFill>
                <a:latin typeface="Calibri"/>
              </a:rPr>
              <a:t>Opdracht  |  Les 5</a:t>
            </a:r>
          </a:p>
        </p:txBody>
      </p:sp>
      <p:sp>
        <p:nvSpPr>
          <p:cNvPr id="5" name="TextBox 4"/>
          <p:cNvSpPr txBox="1"/>
          <p:nvPr/>
        </p:nvSpPr>
        <p:spPr>
          <a:xfrm>
            <a:off x="228600" y="822960"/>
            <a:ext cx="11430000" cy="685800"/>
          </a:xfrm>
          <a:prstGeom prst="rect">
            <a:avLst/>
          </a:prstGeom>
          <a:noFill/>
        </p:spPr>
        <p:txBody>
          <a:bodyPr wrap="square">
            <a:spAutoFit/>
          </a:bodyPr>
          <a:lstStyle/>
          <a:p>
            <a:pPr algn="l"/>
            <a:r>
              <a:rPr sz="2800" b="1" i="0">
                <a:solidFill>
                  <a:srgbClr val="FFFFFF"/>
                </a:solidFill>
                <a:latin typeface="Calibri"/>
              </a:rPr>
              <a:t>Goed Doel Website  |  Componenten</a:t>
            </a:r>
          </a:p>
        </p:txBody>
      </p:sp>
      <p:sp>
        <p:nvSpPr>
          <p:cNvPr id="6" name="Rectangle 5"/>
          <p:cNvSpPr/>
          <p:nvPr/>
        </p:nvSpPr>
        <p:spPr>
          <a:xfrm>
            <a:off x="228600" y="1508760"/>
            <a:ext cx="182880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691640"/>
            <a:ext cx="411480" cy="5669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764792"/>
            <a:ext cx="411480" cy="493776"/>
          </a:xfrm>
          <a:prstGeom prst="rect">
            <a:avLst/>
          </a:prstGeom>
          <a:noFill/>
        </p:spPr>
        <p:txBody>
          <a:bodyPr wrap="square">
            <a:spAutoFit/>
          </a:bodyPr>
          <a:lstStyle/>
          <a:p>
            <a:pPr algn="ctr"/>
            <a:r>
              <a:rPr sz="1700" b="1" i="0">
                <a:solidFill>
                  <a:srgbClr val="FFFFFF"/>
                </a:solidFill>
                <a:latin typeface="Calibri"/>
              </a:rPr>
              <a:t>1</a:t>
            </a:r>
          </a:p>
        </p:txBody>
      </p:sp>
      <p:sp>
        <p:nvSpPr>
          <p:cNvPr id="9" name="Rectangle 8"/>
          <p:cNvSpPr/>
          <p:nvPr/>
        </p:nvSpPr>
        <p:spPr>
          <a:xfrm>
            <a:off x="649224" y="1691640"/>
            <a:ext cx="10789920" cy="566928"/>
          </a:xfrm>
          <a:prstGeom prst="rect">
            <a:avLst/>
          </a:prstGeom>
          <a:solidFill>
            <a:srgbClr val="162341"/>
          </a:solidFill>
          <a:ln w="9525">
            <a:solidFill>
              <a:srgbClr val="283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83080"/>
            <a:ext cx="10607040" cy="475488"/>
          </a:xfrm>
          <a:prstGeom prst="rect">
            <a:avLst/>
          </a:prstGeom>
          <a:noFill/>
        </p:spPr>
        <p:txBody>
          <a:bodyPr wrap="square">
            <a:spAutoFit/>
          </a:bodyPr>
          <a:lstStyle/>
          <a:p>
            <a:pPr algn="l"/>
            <a:r>
              <a:rPr sz="1500" b="0" i="0">
                <a:solidFill>
                  <a:srgbClr val="D2E6FF"/>
                </a:solidFill>
                <a:latin typeface="Calibri"/>
              </a:rPr>
              <a:t>Maak een knopcomponent aan met minimaal 3 varianten (primary, secondary, disabled)</a:t>
            </a:r>
          </a:p>
        </p:txBody>
      </p:sp>
      <p:sp>
        <p:nvSpPr>
          <p:cNvPr id="11" name="Rectangle 10"/>
          <p:cNvSpPr/>
          <p:nvPr/>
        </p:nvSpPr>
        <p:spPr>
          <a:xfrm>
            <a:off x="228600" y="2350008"/>
            <a:ext cx="411480" cy="5669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2423160"/>
            <a:ext cx="411480" cy="493776"/>
          </a:xfrm>
          <a:prstGeom prst="rect">
            <a:avLst/>
          </a:prstGeom>
          <a:noFill/>
        </p:spPr>
        <p:txBody>
          <a:bodyPr wrap="square">
            <a:spAutoFit/>
          </a:bodyPr>
          <a:lstStyle/>
          <a:p>
            <a:pPr algn="ctr"/>
            <a:r>
              <a:rPr sz="1700" b="1" i="0">
                <a:solidFill>
                  <a:srgbClr val="FFFFFF"/>
                </a:solidFill>
                <a:latin typeface="Calibri"/>
              </a:rPr>
              <a:t>2</a:t>
            </a:r>
          </a:p>
        </p:txBody>
      </p:sp>
      <p:sp>
        <p:nvSpPr>
          <p:cNvPr id="13" name="Rectangle 12"/>
          <p:cNvSpPr/>
          <p:nvPr/>
        </p:nvSpPr>
        <p:spPr>
          <a:xfrm>
            <a:off x="649224" y="2350008"/>
            <a:ext cx="10789920" cy="566928"/>
          </a:xfrm>
          <a:prstGeom prst="rect">
            <a:avLst/>
          </a:prstGeom>
          <a:solidFill>
            <a:srgbClr val="162341"/>
          </a:solidFill>
          <a:ln w="9525">
            <a:solidFill>
              <a:srgbClr val="283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41448"/>
            <a:ext cx="10607040" cy="475488"/>
          </a:xfrm>
          <a:prstGeom prst="rect">
            <a:avLst/>
          </a:prstGeom>
          <a:noFill/>
        </p:spPr>
        <p:txBody>
          <a:bodyPr wrap="square">
            <a:spAutoFit/>
          </a:bodyPr>
          <a:lstStyle/>
          <a:p>
            <a:pPr algn="l"/>
            <a:r>
              <a:rPr sz="1500" b="0" i="0">
                <a:solidFill>
                  <a:srgbClr val="D2E6FF"/>
                </a:solidFill>
                <a:latin typeface="Calibri"/>
              </a:rPr>
              <a:t>Maak een navigatiecomponent aan met Auto Layout (horizontaal, space between)</a:t>
            </a:r>
          </a:p>
        </p:txBody>
      </p:sp>
      <p:sp>
        <p:nvSpPr>
          <p:cNvPr id="15" name="Rectangle 14"/>
          <p:cNvSpPr/>
          <p:nvPr/>
        </p:nvSpPr>
        <p:spPr>
          <a:xfrm>
            <a:off x="228600" y="3008376"/>
            <a:ext cx="411480" cy="5669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081528"/>
            <a:ext cx="411480" cy="493776"/>
          </a:xfrm>
          <a:prstGeom prst="rect">
            <a:avLst/>
          </a:prstGeom>
          <a:noFill/>
        </p:spPr>
        <p:txBody>
          <a:bodyPr wrap="square">
            <a:spAutoFit/>
          </a:bodyPr>
          <a:lstStyle/>
          <a:p>
            <a:pPr algn="ctr"/>
            <a:r>
              <a:rPr sz="1700" b="1" i="0">
                <a:solidFill>
                  <a:srgbClr val="FFFFFF"/>
                </a:solidFill>
                <a:latin typeface="Calibri"/>
              </a:rPr>
              <a:t>3</a:t>
            </a:r>
          </a:p>
        </p:txBody>
      </p:sp>
      <p:sp>
        <p:nvSpPr>
          <p:cNvPr id="17" name="Rectangle 16"/>
          <p:cNvSpPr/>
          <p:nvPr/>
        </p:nvSpPr>
        <p:spPr>
          <a:xfrm>
            <a:off x="649224" y="3008376"/>
            <a:ext cx="10789920" cy="566928"/>
          </a:xfrm>
          <a:prstGeom prst="rect">
            <a:avLst/>
          </a:prstGeom>
          <a:solidFill>
            <a:srgbClr val="162341"/>
          </a:solidFill>
          <a:ln w="9525">
            <a:solidFill>
              <a:srgbClr val="283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10607040" cy="475488"/>
          </a:xfrm>
          <a:prstGeom prst="rect">
            <a:avLst/>
          </a:prstGeom>
          <a:noFill/>
        </p:spPr>
        <p:txBody>
          <a:bodyPr wrap="square">
            <a:spAutoFit/>
          </a:bodyPr>
          <a:lstStyle/>
          <a:p>
            <a:pPr algn="l"/>
            <a:r>
              <a:rPr sz="1500" b="0" i="0">
                <a:solidFill>
                  <a:srgbClr val="D2E6FF"/>
                </a:solidFill>
                <a:latin typeface="Calibri"/>
              </a:rPr>
              <a:t>Maak een testimonialkaart als component en plaats 3 instances naast elkaar</a:t>
            </a:r>
          </a:p>
        </p:txBody>
      </p:sp>
      <p:sp>
        <p:nvSpPr>
          <p:cNvPr id="19" name="Rectangle 18"/>
          <p:cNvSpPr/>
          <p:nvPr/>
        </p:nvSpPr>
        <p:spPr>
          <a:xfrm>
            <a:off x="228600" y="3666744"/>
            <a:ext cx="411480" cy="5669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3739896"/>
            <a:ext cx="411480" cy="493776"/>
          </a:xfrm>
          <a:prstGeom prst="rect">
            <a:avLst/>
          </a:prstGeom>
          <a:noFill/>
        </p:spPr>
        <p:txBody>
          <a:bodyPr wrap="square">
            <a:spAutoFit/>
          </a:bodyPr>
          <a:lstStyle/>
          <a:p>
            <a:pPr algn="ctr"/>
            <a:r>
              <a:rPr sz="1700" b="1" i="0">
                <a:solidFill>
                  <a:srgbClr val="FFFFFF"/>
                </a:solidFill>
                <a:latin typeface="Calibri"/>
              </a:rPr>
              <a:t>4</a:t>
            </a:r>
          </a:p>
        </p:txBody>
      </p:sp>
      <p:sp>
        <p:nvSpPr>
          <p:cNvPr id="21" name="Rectangle 20"/>
          <p:cNvSpPr/>
          <p:nvPr/>
        </p:nvSpPr>
        <p:spPr>
          <a:xfrm>
            <a:off x="649224" y="3666744"/>
            <a:ext cx="10789920" cy="566928"/>
          </a:xfrm>
          <a:prstGeom prst="rect">
            <a:avLst/>
          </a:prstGeom>
          <a:solidFill>
            <a:srgbClr val="162341"/>
          </a:solidFill>
          <a:ln w="9525">
            <a:solidFill>
              <a:srgbClr val="283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58184"/>
            <a:ext cx="10607040" cy="475488"/>
          </a:xfrm>
          <a:prstGeom prst="rect">
            <a:avLst/>
          </a:prstGeom>
          <a:noFill/>
        </p:spPr>
        <p:txBody>
          <a:bodyPr wrap="square">
            <a:spAutoFit/>
          </a:bodyPr>
          <a:lstStyle/>
          <a:p>
            <a:pPr algn="l"/>
            <a:r>
              <a:rPr sz="1500" b="0" i="0">
                <a:solidFill>
                  <a:srgbClr val="D2E6FF"/>
                </a:solidFill>
                <a:latin typeface="Calibri"/>
              </a:rPr>
              <a:t>Zorg dat alle componenten je kleur- en typografiestijlen gebruiken uit les 3 en 4</a:t>
            </a:r>
          </a:p>
        </p:txBody>
      </p:sp>
      <p:sp>
        <p:nvSpPr>
          <p:cNvPr id="23" name="Rectangle 22"/>
          <p:cNvSpPr/>
          <p:nvPr/>
        </p:nvSpPr>
        <p:spPr>
          <a:xfrm>
            <a:off x="228600" y="4325112"/>
            <a:ext cx="411480" cy="5669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8600" y="4398264"/>
            <a:ext cx="411480" cy="493776"/>
          </a:xfrm>
          <a:prstGeom prst="rect">
            <a:avLst/>
          </a:prstGeom>
          <a:noFill/>
        </p:spPr>
        <p:txBody>
          <a:bodyPr wrap="square">
            <a:spAutoFit/>
          </a:bodyPr>
          <a:lstStyle/>
          <a:p>
            <a:pPr algn="ctr"/>
            <a:r>
              <a:rPr sz="1700" b="1" i="0">
                <a:solidFill>
                  <a:srgbClr val="FFFFFF"/>
                </a:solidFill>
                <a:latin typeface="Calibri"/>
              </a:rPr>
              <a:t>5</a:t>
            </a:r>
          </a:p>
        </p:txBody>
      </p:sp>
      <p:sp>
        <p:nvSpPr>
          <p:cNvPr id="25" name="Rectangle 24"/>
          <p:cNvSpPr/>
          <p:nvPr/>
        </p:nvSpPr>
        <p:spPr>
          <a:xfrm>
            <a:off x="649224" y="4325112"/>
            <a:ext cx="10789920" cy="566928"/>
          </a:xfrm>
          <a:prstGeom prst="rect">
            <a:avLst/>
          </a:prstGeom>
          <a:solidFill>
            <a:srgbClr val="162341"/>
          </a:solidFill>
          <a:ln w="9525">
            <a:solidFill>
              <a:srgbClr val="283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16552"/>
            <a:ext cx="10607040" cy="475488"/>
          </a:xfrm>
          <a:prstGeom prst="rect">
            <a:avLst/>
          </a:prstGeom>
          <a:noFill/>
        </p:spPr>
        <p:txBody>
          <a:bodyPr wrap="square">
            <a:spAutoFit/>
          </a:bodyPr>
          <a:lstStyle/>
          <a:p>
            <a:pPr algn="l"/>
            <a:r>
              <a:rPr sz="1500" b="0" i="0">
                <a:solidFill>
                  <a:srgbClr val="D2E6FF"/>
                </a:solidFill>
                <a:latin typeface="Calibri"/>
              </a:rPr>
              <a:t>Documenteer je componenten met een beschrijving in het Figma component panel</a:t>
            </a:r>
          </a:p>
        </p:txBody>
      </p:sp>
      <p:sp>
        <p:nvSpPr>
          <p:cNvPr id="27" name="TextBox 26"/>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09728" cy="685800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0"/>
            <a:ext cx="10972800" cy="731520"/>
          </a:xfrm>
          <a:prstGeom prst="rect">
            <a:avLst/>
          </a:prstGeom>
          <a:noFill/>
        </p:spPr>
        <p:txBody>
          <a:bodyPr wrap="square">
            <a:spAutoFit/>
          </a:bodyPr>
          <a:lstStyle/>
          <a:p>
            <a:pPr algn="l"/>
            <a:r>
              <a:rPr sz="4400" b="1" i="0">
                <a:solidFill>
                  <a:srgbClr val="FFFFFF"/>
                </a:solidFill>
                <a:latin typeface="Calibri"/>
              </a:rPr>
              <a:t>Volgende les</a:t>
            </a:r>
          </a:p>
        </p:txBody>
      </p:sp>
      <p:sp>
        <p:nvSpPr>
          <p:cNvPr id="5" name="Rectangle 4"/>
          <p:cNvSpPr/>
          <p:nvPr/>
        </p:nvSpPr>
        <p:spPr>
          <a:xfrm>
            <a:off x="228600" y="1828800"/>
            <a:ext cx="2286000" cy="73152"/>
          </a:xfrm>
          <a:prstGeom prst="rect">
            <a:avLst/>
          </a:prstGeom>
          <a:gradFill rotWithShape="1">
            <a:gsLst>
              <a:gs pos="0">
                <a:srgbClr val="16A34A"/>
              </a:gs>
              <a:gs pos="100000">
                <a:srgbClr val="4ADE80"/>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965960"/>
            <a:ext cx="10972800" cy="502920"/>
          </a:xfrm>
          <a:prstGeom prst="rect">
            <a:avLst/>
          </a:prstGeom>
          <a:noFill/>
        </p:spPr>
        <p:txBody>
          <a:bodyPr wrap="square">
            <a:spAutoFit/>
          </a:bodyPr>
          <a:lstStyle/>
          <a:p>
            <a:pPr algn="l"/>
            <a:r>
              <a:rPr sz="2200" b="0" i="0">
                <a:solidFill>
                  <a:srgbClr val="B4F0C8"/>
                </a:solidFill>
                <a:latin typeface="Calibri"/>
              </a:rPr>
              <a:t>Project Afronding Periode 1</a:t>
            </a:r>
          </a:p>
        </p:txBody>
      </p:sp>
      <p:sp>
        <p:nvSpPr>
          <p:cNvPr id="7" name="TextBox 6"/>
          <p:cNvSpPr txBox="1"/>
          <p:nvPr/>
        </p:nvSpPr>
        <p:spPr>
          <a:xfrm>
            <a:off x="457200" y="2633472"/>
            <a:ext cx="10515600" cy="2011680"/>
          </a:xfrm>
          <a:prstGeom prst="rect">
            <a:avLst/>
          </a:prstGeom>
          <a:noFill/>
        </p:spPr>
        <p:txBody>
          <a:bodyPr wrap="square">
            <a:spAutoFit/>
          </a:bodyPr>
          <a:lstStyle/>
          <a:p>
            <a:pPr>
              <a:spcBef>
                <a:spcPts val="700"/>
              </a:spcBef>
            </a:pPr>
            <a:r>
              <a:rPr sz="1800">
                <a:solidFill>
                  <a:srgbClr val="C8E6FF"/>
                </a:solidFill>
                <a:latin typeface="Calibri"/>
              </a:rPr>
              <a:t>  •  Terugblik: wat hebben we geleerd in periode 1</a:t>
            </a:r>
          </a:p>
          <a:p>
            <a:pPr>
              <a:spcBef>
                <a:spcPts val="700"/>
              </a:spcBef>
            </a:pPr>
            <a:r>
              <a:rPr sz="1800">
                <a:solidFill>
                  <a:srgbClr val="C8E6FF"/>
                </a:solidFill>
                <a:latin typeface="Calibri"/>
              </a:rPr>
              <a:t>  •  Goed doel website: volledige review checklist</a:t>
            </a:r>
          </a:p>
          <a:p>
            <a:pPr>
              <a:spcBef>
                <a:spcPts val="700"/>
              </a:spcBef>
            </a:pPr>
            <a:r>
              <a:rPr sz="1800">
                <a:solidFill>
                  <a:srgbClr val="C8E6FF"/>
                </a:solidFill>
                <a:latin typeface="Calibri"/>
              </a:rPr>
              <a:t>  •  Peer review: feedback geven en ontvangen</a:t>
            </a:r>
          </a:p>
          <a:p>
            <a:pPr>
              <a:spcBef>
                <a:spcPts val="700"/>
              </a:spcBef>
            </a:pPr>
            <a:r>
              <a:rPr sz="1800">
                <a:solidFill>
                  <a:srgbClr val="C8E6FF"/>
                </a:solidFill>
                <a:latin typeface="Calibri"/>
              </a:rPr>
              <a:t>  •  Presentatie en oplevering van het project</a:t>
            </a:r>
          </a:p>
        </p:txBody>
      </p:sp>
      <p:sp>
        <p:nvSpPr>
          <p:cNvPr id="8" name="Oval 7"/>
          <p:cNvSpPr/>
          <p:nvPr/>
        </p:nvSpPr>
        <p:spPr>
          <a:xfrm>
            <a:off x="10058400" y="1188720"/>
            <a:ext cx="914400" cy="9144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99648" y="2121408"/>
            <a:ext cx="512064" cy="512064"/>
          </a:xfrm>
          <a:prstGeom prst="ellipse">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10928" y="4864608"/>
            <a:ext cx="329184" cy="329184"/>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102352"/>
            <a:ext cx="11338560" cy="1097280"/>
          </a:xfrm>
          <a:prstGeom prst="rect">
            <a:avLst/>
          </a:prstGeom>
          <a:solidFill>
            <a:srgbClr val="141E37"/>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5102352"/>
            <a:ext cx="64008" cy="1097280"/>
          </a:xfrm>
          <a:prstGeom prst="rect">
            <a:avLst/>
          </a:prstGeom>
          <a:gradFill rotWithShape="1">
            <a:gsLst>
              <a:gs pos="0">
                <a:srgbClr val="16A34A"/>
              </a:gs>
              <a:gs pos="100000">
                <a:srgbClr val="4ADE80"/>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230368"/>
            <a:ext cx="10954512" cy="384048"/>
          </a:xfrm>
          <a:prstGeom prst="rect">
            <a:avLst/>
          </a:prstGeom>
          <a:noFill/>
        </p:spPr>
        <p:txBody>
          <a:bodyPr wrap="square">
            <a:spAutoFit/>
          </a:bodyPr>
          <a:lstStyle/>
          <a:p>
            <a:pPr algn="l"/>
            <a:r>
              <a:rPr sz="1600" b="1" i="0">
                <a:solidFill>
                  <a:srgbClr val="4ADE80"/>
                </a:solidFill>
                <a:latin typeface="Calibri"/>
              </a:rPr>
              <a:t>Zorg dat je Figma project klaar is voor review:</a:t>
            </a:r>
          </a:p>
        </p:txBody>
      </p:sp>
      <p:sp>
        <p:nvSpPr>
          <p:cNvPr id="14" name="TextBox 13"/>
          <p:cNvSpPr txBox="1"/>
          <p:nvPr/>
        </p:nvSpPr>
        <p:spPr>
          <a:xfrm>
            <a:off x="685800" y="5632704"/>
            <a:ext cx="10954512" cy="502920"/>
          </a:xfrm>
          <a:prstGeom prst="rect">
            <a:avLst/>
          </a:prstGeom>
          <a:noFill/>
        </p:spPr>
        <p:txBody>
          <a:bodyPr wrap="square">
            <a:spAutoFit/>
          </a:bodyPr>
          <a:lstStyle/>
          <a:p>
            <a:pPr algn="l"/>
            <a:r>
              <a:rPr sz="1600" b="0" i="0">
                <a:solidFill>
                  <a:srgbClr val="C8E6FF"/>
                </a:solidFill>
                <a:latin typeface="Calibri"/>
              </a:rPr>
              <a:t>Alle paginas, componenten en stijlen moeten aanwezig en netjes georganiseerd zijn.</a:t>
            </a:r>
          </a:p>
        </p:txBody>
      </p:sp>
      <p:sp>
        <p:nvSpPr>
          <p:cNvPr id="15" name="TextBox 14"/>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