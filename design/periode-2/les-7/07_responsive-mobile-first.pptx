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Welkom bij les 7 van periode 2. Vandaag starten we met responsive design en mobile first. Dit is een fundamenteel principe voor moderne webdesign.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een overzicht van periode 2. Leg uit dat het portfolio project de rode draad is door alle lessen.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 kort door de agenda. Geef aan dat de praktijk (Figma) het grootste deel van de les beslaat.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Het 60% cijfer is afgerond gemiddelde. Bron: StatCounter 2024. Leg uit wat dit betekent voor ontwerpers.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Bespreek waarom mobile first strategisch slimmer is. Leg uit dat min-width queries compositioneel beter zijn dan max-width.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 uit dat breakpoints geen vaste regels zijn maar afgeleid worden van je content. Tailwind CSS breakpoints zijn een handige referentie.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Demonstreer live in Figma hoe je een responsive frame aanmaakt. Laat constraints zien op tekst en afbeeldingen.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 uit dat het 12-koloms grid standaard is in frameworks zoals Bootstrap en Tailwind. Mobiel gebruikt 4 kolommen als vereenvoudiging.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 uit waarom relative units (rem, em, vw) beter zijn dan pixels voor schaalbaarheid. Demonstreer clamp() als je tijd hebt.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Introducer het portfolio project. Laat een voorbeeld portfolio zien voor inspiratie. Bespreek de beoordelingscriteria.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studenten stap voor stap hun eerste wireframe opbouwen. Controleer dat iedereen het juiste frame formaat gebruikt.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Bespreek dat responsive design niet over het toevoegen of verwijderen van content gaat, maar over het herschikken ervan.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studenten 10 minuten voor deze analyse. Bespreek daarna klassikaal wat ze gevonden hebben.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Verwijs studenten naar deze bronnen voor verdieping. Every Layout is bijzonder interessant omdat het responsive layouts zonder media queries laat zien.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Geef duidelijk aan wat er ingeleverd moet worden. Herinner studenten aan de deadline voor les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Sluit af met enthousiasme voor les 8. Herinner studenten aan de inleveropdracht en geef ze de link naar Dribbble/Awwwards mee.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097280"/>
            <a:ext cx="73152" cy="466344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9144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Responsive Design
en Mobile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520440"/>
            <a:ext cx="320040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DFF"/>
                </a:solidFill>
                <a:latin typeface="Calibri"/>
              </a:rPr>
              <a:t>Periode 2  ·  Les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AADC"/>
                </a:solidFill>
                <a:latin typeface="Calibri"/>
              </a:rPr>
              <a:t>Ontwerpen voor elk scherm, elke context</a:t>
            </a:r>
          </a:p>
        </p:txBody>
      </p:sp>
      <p:sp>
        <p:nvSpPr>
          <p:cNvPr id="8" name="Oval 7"/>
          <p:cNvSpPr/>
          <p:nvPr/>
        </p:nvSpPr>
        <p:spPr>
          <a:xfrm>
            <a:off x="11320272" y="987552"/>
            <a:ext cx="219456" cy="21945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40312" y="1307592"/>
            <a:ext cx="128016" cy="12801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09960" y="1508760"/>
            <a:ext cx="91440" cy="91440"/>
          </a:xfrm>
          <a:prstGeom prst="ellipse">
            <a:avLst/>
          </a:prstGeom>
          <a:solidFill>
            <a:srgbClr val="96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Periode 2: Portfolio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CDFF"/>
                </a:solidFill>
                <a:latin typeface="Calibri"/>
              </a:rPr>
              <a:t>Wat staat er op het programma: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DCE1FF"/>
                </a:solidFill>
                <a:latin typeface="Calibri"/>
              </a:rPr>
              <a:t>  •  Les 7: Responsive design en mobile first (vandaag)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CE1FF"/>
                </a:solidFill>
                <a:latin typeface="Calibri"/>
              </a:rPr>
              <a:t>  •  Les 8: Navigatiepatronen en JavaScript sliders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CE1FF"/>
                </a:solidFill>
                <a:latin typeface="Calibri"/>
              </a:rPr>
              <a:t>  •  Les 9: Portfolio design en personal branding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CE1FF"/>
                </a:solidFill>
                <a:latin typeface="Calibri"/>
              </a:rPr>
              <a:t>  •  Les 10: Design systems verdieping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CE1FF"/>
                </a:solidFill>
                <a:latin typeface="Calibri"/>
              </a:rPr>
              <a:t>  •  Les 11: Animatie en micro-interacties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CE1FF"/>
                </a:solidFill>
                <a:latin typeface="Calibri"/>
              </a:rPr>
              <a:t>  •  Les 12: Project afronding en presentatie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92040"/>
            <a:ext cx="10332720" cy="1554480"/>
          </a:xfrm>
          <a:prstGeom prst="rect">
            <a:avLst/>
          </a:prstGeom>
          <a:solidFill>
            <a:srgbClr val="141E46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892040"/>
            <a:ext cx="64008" cy="15544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020056"/>
            <a:ext cx="9948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2FF"/>
                </a:solidFill>
                <a:latin typeface="Calibri"/>
              </a:rPr>
              <a:t>Project: ontwerp een portfolio website met about page, projectenpagina en een interactieve slider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Vandaag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7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5029200" cy="530352"/>
          </a:xfrm>
          <a:prstGeom prst="rect">
            <a:avLst/>
          </a:prstGeom>
          <a:solidFill>
            <a:srgbClr val="F0F2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64008" cy="5303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Wat is responsive design en waarom is het essentieel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029200" cy="530352"/>
          </a:xfrm>
          <a:prstGeom prst="rect">
            <a:avLst/>
          </a:prstGeom>
          <a:solidFill>
            <a:srgbClr val="F0F2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91640"/>
            <a:ext cx="64008" cy="5303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7830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783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Mobile first versus desktop first strategie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350008"/>
            <a:ext cx="5029200" cy="530352"/>
          </a:xfrm>
          <a:prstGeom prst="rect">
            <a:avLst/>
          </a:prstGeom>
          <a:solidFill>
            <a:srgbClr val="F0F2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350008"/>
            <a:ext cx="64008" cy="5303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44144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4414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Breakpoints en hoe je ze kiest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350008"/>
            <a:ext cx="5029200" cy="530352"/>
          </a:xfrm>
          <a:prstGeom prst="rect">
            <a:avLst/>
          </a:prstGeom>
          <a:solidFill>
            <a:srgbClr val="F0F2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350008"/>
            <a:ext cx="64008" cy="5303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44144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4414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Fluid typography en spacing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008376"/>
            <a:ext cx="5029200" cy="530352"/>
          </a:xfrm>
          <a:prstGeom prst="rect">
            <a:avLst/>
          </a:prstGeom>
          <a:solidFill>
            <a:srgbClr val="F0F2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008376"/>
            <a:ext cx="64008" cy="5303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09981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09981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Figma: responsive frames instellen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008376"/>
            <a:ext cx="5029200" cy="530352"/>
          </a:xfrm>
          <a:prstGeom prst="rect">
            <a:avLst/>
          </a:prstGeom>
          <a:solidFill>
            <a:srgbClr val="F0F2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008376"/>
            <a:ext cx="64008" cy="5303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309981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09981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Portfolio project introductie en eerste wireframe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060E2C"/>
              </a:gs>
              <a:gs pos="100000">
                <a:srgbClr val="1E3A8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D2FF"/>
                </a:solidFill>
                <a:latin typeface="Calibri"/>
              </a:rPr>
              <a:t>van alle websitebezoeken
komt van mobiele
apparaten</a:t>
            </a:r>
          </a:p>
        </p:txBody>
      </p:sp>
      <p:sp>
        <p:nvSpPr>
          <p:cNvPr id="6" name="Oval 5"/>
          <p:cNvSpPr/>
          <p:nvPr/>
        </p:nvSpPr>
        <p:spPr>
          <a:xfrm>
            <a:off x="4224528" y="292608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23360" y="685800"/>
            <a:ext cx="182880" cy="18288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Wat is responsive design?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572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Responsive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115568"/>
            <a:ext cx="1645920" cy="64008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280160"/>
            <a:ext cx="6583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4155"/>
                </a:solidFill>
                <a:latin typeface="Calibri"/>
              </a:rPr>
              <a:t>  •  Past zich aan aan de schermgrootte van de gebruiker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4155"/>
                </a:solidFill>
                <a:latin typeface="Calibri"/>
              </a:rPr>
              <a:t>  •  Een codebase voor alle apparaten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4155"/>
                </a:solidFill>
                <a:latin typeface="Calibri"/>
              </a:rPr>
              <a:t>  •  Layout, afbeeldingen en typografie passen mee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4155"/>
                </a:solidFill>
                <a:latin typeface="Calibri"/>
              </a:rPr>
              <a:t>  •  Geen aparte mobiele site nodig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4206240"/>
            <a:ext cx="67665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4206240"/>
            <a:ext cx="64008" cy="141732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4334256"/>
            <a:ext cx="63825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Responsive design = flexibele grids + flexibele afbeeldingen + media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Mobile First: de strategie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120640" cy="3657600"/>
          </a:xfrm>
          <a:prstGeom prst="rect">
            <a:avLst/>
          </a:prstGeom>
          <a:solidFill>
            <a:srgbClr val="EBF0FF"/>
          </a:solidFill>
          <a:ln w="9525">
            <a:solidFill>
              <a:srgbClr val="B4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120640" cy="50292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5048E6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Mobile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Start met het kleinste scherm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Voeg complexiteit toe voor grotere schermen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Dwingt tot prioriteren van content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Eenvoudiger CSS structuur (min-width queries)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Google geeft de voorkeur aan mobile-first sites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00200"/>
            <a:ext cx="5120640" cy="3657600"/>
          </a:xfrm>
          <a:prstGeom prst="rect">
            <a:avLst/>
          </a:prstGeom>
          <a:solidFill>
            <a:srgbClr val="F5F5FA"/>
          </a:solidFill>
          <a:ln w="9525">
            <a:solidFill>
              <a:srgbClr val="D2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5120640" cy="502920"/>
          </a:xfrm>
          <a:prstGeom prst="rect">
            <a:avLst/>
          </a:prstGeom>
          <a:gradFill rotWithShape="1">
            <a:gsLst>
              <a:gs pos="0">
                <a:srgbClr val="647487"/>
              </a:gs>
              <a:gs pos="100000">
                <a:srgbClr val="505A6E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733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Desktop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Start groot, strip functionaliteit voor klein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Leidt vaak tot clunky mobiele versies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Max-width queries zijn lastiger te onderhouden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Was de standaard voor 2010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4155"/>
                </a:solidFill>
                <a:latin typeface="Calibri"/>
              </a:rPr>
              <a:t>  •  Minder geschikt voor mobile-first indexering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86400"/>
            <a:ext cx="109728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486400"/>
            <a:ext cx="64008" cy="100584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14416"/>
            <a:ext cx="10588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Les vuistregel: ontwerp altijd mobile first in Figma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Breakpoints: wanneer springt de layout?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114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2286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375px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963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78892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7"/>
                </a:solidFill>
                <a:latin typeface="Calibri"/>
              </a:rPr>
              <a:t>Standaard
iPhone breedte</a:t>
            </a:r>
          </a:p>
        </p:txBody>
      </p:sp>
      <p:sp>
        <p:nvSpPr>
          <p:cNvPr id="10" name="Oval 9"/>
          <p:cNvSpPr/>
          <p:nvPr/>
        </p:nvSpPr>
        <p:spPr>
          <a:xfrm>
            <a:off x="672084" y="215798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85185" y="1938528"/>
            <a:ext cx="2286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5145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640px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3705" y="24963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Small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2265" y="278892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7"/>
                </a:solidFill>
                <a:latin typeface="Calibri"/>
              </a:rPr>
              <a:t>Kleine tablets
en landscape</a:t>
            </a:r>
          </a:p>
        </p:txBody>
      </p:sp>
      <p:sp>
        <p:nvSpPr>
          <p:cNvPr id="15" name="Oval 14"/>
          <p:cNvSpPr/>
          <p:nvPr/>
        </p:nvSpPr>
        <p:spPr>
          <a:xfrm>
            <a:off x="3025749" y="215798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55033" y="1938528"/>
            <a:ext cx="2286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4993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768px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3553" y="24963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2113" y="278892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7"/>
                </a:solidFill>
                <a:latin typeface="Calibri"/>
              </a:rPr>
              <a:t>Tablets</a:t>
            </a:r>
          </a:p>
        </p:txBody>
      </p:sp>
      <p:sp>
        <p:nvSpPr>
          <p:cNvPr id="20" name="Oval 19"/>
          <p:cNvSpPr/>
          <p:nvPr/>
        </p:nvSpPr>
        <p:spPr>
          <a:xfrm>
            <a:off x="4095597" y="215798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52820" y="1938528"/>
            <a:ext cx="2286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2780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1024px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1340" y="24963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Large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9900" y="278892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7"/>
                </a:solidFill>
                <a:latin typeface="Calibri"/>
              </a:rPr>
              <a:t>Kleine laptops</a:t>
            </a:r>
          </a:p>
        </p:txBody>
      </p:sp>
      <p:sp>
        <p:nvSpPr>
          <p:cNvPr id="25" name="Oval 24"/>
          <p:cNvSpPr/>
          <p:nvPr/>
        </p:nvSpPr>
        <p:spPr>
          <a:xfrm>
            <a:off x="5593384" y="215798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15684" y="1938528"/>
            <a:ext cx="2286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5644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1280px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4204" y="24963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Extra Large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2764" y="278892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7"/>
                </a:solidFill>
                <a:latin typeface="Calibri"/>
              </a:rPr>
              <a:t>Desktop</a:t>
            </a:r>
          </a:p>
        </p:txBody>
      </p:sp>
      <p:sp>
        <p:nvSpPr>
          <p:cNvPr id="30" name="Oval 29"/>
          <p:cNvSpPr/>
          <p:nvPr/>
        </p:nvSpPr>
        <p:spPr>
          <a:xfrm>
            <a:off x="6556248" y="215798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55380" y="1938528"/>
            <a:ext cx="2286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5340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  <a:latin typeface="Calibri"/>
              </a:rPr>
              <a:t>1536px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3900" y="24963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2XL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2460" y="278892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7"/>
                </a:solidFill>
                <a:latin typeface="Calibri"/>
              </a:rPr>
              <a:t>Brede schermen</a:t>
            </a:r>
          </a:p>
        </p:txBody>
      </p:sp>
      <p:sp>
        <p:nvSpPr>
          <p:cNvPr id="35" name="Oval 34"/>
          <p:cNvSpPr/>
          <p:nvPr/>
        </p:nvSpPr>
        <p:spPr>
          <a:xfrm>
            <a:off x="8695944" y="2157984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169164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166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6811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375px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7900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E6FF"/>
                </a:solidFill>
                <a:latin typeface="Calibri"/>
              </a:rPr>
              <a:t>Standaard
iPhone breedte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50008" y="5120640"/>
            <a:ext cx="16916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41448" y="5166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41448" y="546811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640px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577900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E6FF"/>
                </a:solidFill>
                <a:latin typeface="Calibri"/>
              </a:rPr>
              <a:t>Kleine tablets
en landscape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51376" y="5120640"/>
            <a:ext cx="169164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42816" y="5166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2816" y="546811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768px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42816" y="577900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E6FF"/>
                </a:solidFill>
                <a:latin typeface="Calibri"/>
              </a:rPr>
              <a:t>Tablets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52744" y="5120640"/>
            <a:ext cx="169164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44184" y="5166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Large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4184" y="546811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1024px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4184" y="577900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E6FF"/>
                </a:solidFill>
                <a:latin typeface="Calibri"/>
              </a:rPr>
              <a:t>Kleine laptops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54112" y="5120640"/>
            <a:ext cx="169164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45552" y="5166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Extra Large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546811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1280px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45552" y="577900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E6FF"/>
                </a:solidFill>
                <a:latin typeface="Calibri"/>
              </a:rPr>
              <a:t>Desktop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5120640"/>
            <a:ext cx="169164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51663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2XL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546811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1536px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46920" y="577900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E6FF"/>
                </a:solidFill>
                <a:latin typeface="Calibri"/>
              </a:rPr>
              <a:t>Brede schermen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Figma: drie frames naast elkaar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83664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8745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Maak drie frames 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21284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EE6"/>
                </a:solidFill>
                <a:latin typeface="Calibri"/>
              </a:rPr>
              <a:t>Mobile 375x812px, Tablet 768x1024px, Desktop 1440x900px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523744"/>
            <a:ext cx="36576" cy="164592"/>
          </a:xfrm>
          <a:prstGeom prst="rect">
            <a:avLst/>
          </a:prstGeom>
          <a:solidFill>
            <a:srgbClr val="6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33472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624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Geef ze namen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96265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EE6"/>
                </a:solidFill>
                <a:latin typeface="Calibri"/>
              </a:rPr>
              <a:t>'home/mobile', 'home/tablet', 'home/desktop'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3273552"/>
            <a:ext cx="36576" cy="164592"/>
          </a:xfrm>
          <a:prstGeom prst="rect">
            <a:avLst/>
          </a:prstGeom>
          <a:solidFill>
            <a:srgbClr val="6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3741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Begin met de mobile versie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1246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EE6"/>
                </a:solidFill>
                <a:latin typeface="Calibri"/>
              </a:rPr>
              <a:t>De content is identiek maar de layout verschilt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" y="4023360"/>
            <a:ext cx="36576" cy="164592"/>
          </a:xfrm>
          <a:prstGeom prst="rect">
            <a:avLst/>
          </a:prstGeom>
          <a:solidFill>
            <a:srgbClr val="6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33088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330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1239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Gebruik constraints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4622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EE6"/>
                </a:solidFill>
                <a:latin typeface="Calibri"/>
              </a:rPr>
              <a:t>Vastmaken op elementen om ze flexibel te maken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" y="4773168"/>
            <a:ext cx="36576" cy="164592"/>
          </a:xfrm>
          <a:prstGeom prst="rect">
            <a:avLst/>
          </a:prstGeom>
          <a:solidFill>
            <a:srgbClr val="64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82896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828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8737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Schakel over tussen frames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5212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4BEE6"/>
                </a:solidFill>
                <a:latin typeface="Calibri"/>
              </a:rPr>
              <a:t>Bekijk hoe de layout verandert per schermgrootte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23560"/>
            <a:ext cx="10698480" cy="914400"/>
          </a:xfrm>
          <a:prstGeom prst="rect">
            <a:avLst/>
          </a:prstGeom>
          <a:solidFill>
            <a:srgbClr val="141E46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623560"/>
            <a:ext cx="64008" cy="9144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751576"/>
            <a:ext cx="10314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2FF"/>
                </a:solidFill>
                <a:latin typeface="Calibri"/>
              </a:rPr>
              <a:t>Tip: Groepeer de drie frames in een group per pagina: zo hou je je Figma overzichtelijk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Grid aanpassen per breakpoint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338328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367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75688"/>
            <a:ext cx="3383280" cy="3611880"/>
          </a:xfrm>
          <a:prstGeom prst="rect">
            <a:avLst/>
          </a:prstGeom>
          <a:solidFill>
            <a:srgbClr val="F8F9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4 kolommen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Margin: 16px aan beide kanten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Gutter: 16px tussen kolommen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Content stack: alles onder elkaar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Full-width knoppen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Grote touch targets (min 44px)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572768"/>
            <a:ext cx="33832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367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Tablet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075688"/>
            <a:ext cx="3383280" cy="3611880"/>
          </a:xfrm>
          <a:prstGeom prst="rect">
            <a:avLst/>
          </a:prstGeom>
          <a:solidFill>
            <a:srgbClr val="F8F9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8 kolommen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32888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Margin: 32px aan beide kanten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Gutter: 24px tussen kolommen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Twee kolommen layout mogelijk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Navigatie zichtbaar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Cards naast elkaar (2 per rij)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572768"/>
            <a:ext cx="338328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3677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Desktop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075688"/>
            <a:ext cx="3383280" cy="3611880"/>
          </a:xfrm>
          <a:prstGeom prst="rect">
            <a:avLst/>
          </a:prstGeom>
          <a:solidFill>
            <a:srgbClr val="F8F9FF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1671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Calibri"/>
              </a:rPr>
              <a:t>12 kolommen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32888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Margin: 80px aan beide kanten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Gutter: 24px tussen kolommen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Complexe multi-column layouts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Sidebar navigatie mogelijk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4155"/>
                </a:solidFill>
                <a:latin typeface="Calibri"/>
              </a:rPr>
              <a:t>  •  Cards naast elkaar (3-4 per rij)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Fluid typography en spacing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DCE1FF"/>
                </a:solidFill>
                <a:latin typeface="Calibri"/>
              </a:rPr>
              <a:t>  •  Gebruik rem eenheden, niet pixels: 1rem = 16px in de browser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CE1FF"/>
                </a:solidFill>
                <a:latin typeface="Calibri"/>
              </a:rPr>
              <a:t>  •  Fluid type scale: lettergrootte schaalt mee met de viewport breedte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CE1FF"/>
                </a:solidFill>
                <a:latin typeface="Calibri"/>
              </a:rPr>
              <a:t>  •  CSS clamp(): clamp(1rem, 2.5vw, 2rem) begrenst min en max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CE1FF"/>
                </a:solidFill>
                <a:latin typeface="Calibri"/>
              </a:rPr>
              <a:t>  •  Vermijd te kleine tekst op mobiel: body minimaal 16px (1rem)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DCE1FF"/>
                </a:solidFill>
                <a:latin typeface="Calibri"/>
              </a:rPr>
              <a:t>  •  Headings op mobiel kleiner dan op desktop: H1 48px desktop, 32px mobiel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617720"/>
            <a:ext cx="3291840" cy="777240"/>
          </a:xfrm>
          <a:prstGeom prst="rect">
            <a:avLst/>
          </a:prstGeom>
          <a:solidFill>
            <a:srgbClr val="1E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690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4BEFF"/>
                </a:solidFill>
                <a:latin typeface="Calibri"/>
              </a:rPr>
              <a:t>Mobiel: H1 = 32px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38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6A0DC"/>
                </a:solidFill>
                <a:latin typeface="Calibri"/>
              </a:rPr>
              <a:t>Body = 16px (1rem)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617720"/>
            <a:ext cx="3291840" cy="77724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690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D2FF"/>
                </a:solidFill>
                <a:latin typeface="Calibri"/>
              </a:rPr>
              <a:t>Desktop: H1 = 48px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5038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4F0"/>
                </a:solidFill>
                <a:latin typeface="Calibri"/>
              </a:rPr>
              <a:t>Body = 18px (1.125rem)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48737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18CF8"/>
                </a:solidFill>
                <a:latin typeface="Calibri"/>
              </a:rPr>
              <a:t>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617720"/>
            <a:ext cx="4023360" cy="777240"/>
          </a:xfrm>
          <a:prstGeom prst="rect">
            <a:avLst/>
          </a:prstGeom>
          <a:solidFill>
            <a:srgbClr val="141E46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4617720"/>
            <a:ext cx="64008" cy="777240"/>
          </a:xfrm>
          <a:prstGeom prst="rect">
            <a:avLst/>
          </a:prstGeom>
          <a:gradFill rotWithShape="1">
            <a:gsLst>
              <a:gs pos="0">
                <a:srgbClr val="818CF8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745736"/>
            <a:ext cx="3639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C8FF"/>
                </a:solidFill>
                <a:latin typeface="Calibri"/>
              </a:rPr>
              <a:t>In Figma: gebruik aparte tekststijlen voor mobiel en desktop, of gebruik de tokens plugin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Portfolio project: wat ga je bouwen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Vereisten: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Home pagina met hero en een interactieve slider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About pagina met jouw verhaal en vaardigheden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Projectenpagina met minimaal 3 project-kaarten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Consistent stijlsysteem op alle paginas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4155"/>
                </a:solidFill>
                <a:latin typeface="Calibri"/>
              </a:rPr>
              <a:t>  •  Responsive: werkt op mobiel (375px) en desktop (1440px)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00200"/>
            <a:ext cx="512064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733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Portfolio Website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38260" y="2103120"/>
            <a:ext cx="45720" cy="274320"/>
          </a:xfrm>
          <a:prstGeom prst="rect">
            <a:avLst/>
          </a:prstGeom>
          <a:solidFill>
            <a:srgbClr val="96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55180" y="2304288"/>
            <a:ext cx="3611880" cy="36576"/>
          </a:xfrm>
          <a:prstGeom prst="rect">
            <a:avLst/>
          </a:prstGeom>
          <a:solidFill>
            <a:srgbClr val="96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2304288"/>
            <a:ext cx="45720" cy="109728"/>
          </a:xfrm>
          <a:prstGeom prst="rect">
            <a:avLst/>
          </a:prstGeom>
          <a:solidFill>
            <a:srgbClr val="96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377440"/>
            <a:ext cx="150876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140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34640"/>
            <a:ext cx="1508760" cy="594360"/>
          </a:xfrm>
          <a:prstGeom prst="rect">
            <a:avLst/>
          </a:prstGeom>
          <a:solidFill>
            <a:srgbClr val="F0F2FF"/>
          </a:solidFill>
          <a:ln w="9525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hero, slider, intro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0808" y="2304288"/>
            <a:ext cx="45720" cy="109728"/>
          </a:xfrm>
          <a:prstGeom prst="rect">
            <a:avLst/>
          </a:prstGeom>
          <a:solidFill>
            <a:srgbClr val="96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15087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24140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About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2834640"/>
            <a:ext cx="1508760" cy="594360"/>
          </a:xfrm>
          <a:prstGeom prst="rect">
            <a:avLst/>
          </a:prstGeom>
          <a:solidFill>
            <a:srgbClr val="F0F2FF"/>
          </a:solidFill>
          <a:ln w="9525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288036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foto, bio, skills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69296" y="2304288"/>
            <a:ext cx="45720" cy="109728"/>
          </a:xfrm>
          <a:prstGeom prst="rect">
            <a:avLst/>
          </a:prstGeom>
          <a:solidFill>
            <a:srgbClr val="96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37776" y="2377440"/>
            <a:ext cx="1508760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24140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Projecten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2834640"/>
            <a:ext cx="1508760" cy="594360"/>
          </a:xfrm>
          <a:prstGeom prst="rect">
            <a:avLst/>
          </a:prstGeom>
          <a:solidFill>
            <a:srgbClr val="F0F2FF"/>
          </a:solidFill>
          <a:ln w="9525">
            <a:solidFill>
              <a:srgbClr val="C8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3496" y="288036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grid met kaarten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64008" cy="146304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157216"/>
            <a:ext cx="10314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Inleverdatum en beoordeling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504688"/>
            <a:ext cx="10314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Lever je Figma link in via de ELO voor les 8. Beoordeeld op: mobile wireframe, desktop wireframe, grid gebruik en responsive aanpak.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Eerste wireframe: mobiele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01952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8836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Maak een Mobile frame 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2128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4E6"/>
                </a:solidFill>
                <a:latin typeface="Calibri"/>
              </a:rPr>
              <a:t>375x812px, naam 'home/mobile'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33472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33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6151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Navigatie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9443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4E6"/>
                </a:solidFill>
                <a:latin typeface="Calibri"/>
              </a:rPr>
              <a:t>Hamburger menu icoon rechts, logo links, hoogte 56px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64992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649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346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Hero sectie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6758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4E6"/>
                </a:solidFill>
                <a:latin typeface="Calibri"/>
              </a:rPr>
              <a:t>Volle breedte, grote heading, 1 CTA knop eronder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96512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965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0782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Slider placeholder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4074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4E6"/>
                </a:solidFill>
                <a:latin typeface="Calibri"/>
              </a:rPr>
              <a:t>Rechthoek over de breedte, hoogte 240px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28032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280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809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Intro sectie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1389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4E6"/>
                </a:solidFill>
                <a:latin typeface="Calibri"/>
              </a:rPr>
              <a:t>Naam en korte bio tekst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559552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59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5412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Footer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58704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4E6"/>
                </a:solidFill>
                <a:latin typeface="Calibri"/>
              </a:rPr>
              <a:t>Drie icoonlinks voor social media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1554480"/>
            <a:ext cx="2194560" cy="4389120"/>
          </a:xfrm>
          <a:prstGeom prst="rect">
            <a:avLst/>
          </a:prstGeom>
          <a:solidFill>
            <a:srgbClr val="192350"/>
          </a:solidFill>
          <a:ln w="9525">
            <a:solidFill>
              <a:srgbClr val="64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1554480"/>
            <a:ext cx="2194560" cy="384048"/>
          </a:xfrm>
          <a:prstGeom prst="rect">
            <a:avLst/>
          </a:prstGeom>
          <a:solidFill>
            <a:srgbClr val="28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1627632"/>
            <a:ext cx="2048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4BEFF"/>
                </a:solidFill>
                <a:latin typeface="Calibri"/>
              </a:rPr>
              <a:t>Logo  [=]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1938528"/>
            <a:ext cx="2194560" cy="1005840"/>
          </a:xfrm>
          <a:prstGeom prst="rect">
            <a:avLst/>
          </a:prstGeom>
          <a:solidFill>
            <a:srgbClr val="32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212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6A0DC"/>
                </a:solidFill>
                <a:latin typeface="Calibri"/>
              </a:rPr>
              <a:t>HERO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2944368"/>
            <a:ext cx="2194560" cy="1417320"/>
          </a:xfrm>
          <a:prstGeom prst="rect">
            <a:avLst/>
          </a:prstGeom>
          <a:solidFill>
            <a:srgbClr val="232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2C8"/>
                </a:solidFill>
                <a:latin typeface="Calibri"/>
              </a:rPr>
              <a:t>SLIDER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361688"/>
            <a:ext cx="2194560" cy="868680"/>
          </a:xfrm>
          <a:prstGeom prst="rect">
            <a:avLst/>
          </a:prstGeom>
          <a:solidFill>
            <a:srgbClr val="1E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6634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96D2"/>
                </a:solidFill>
                <a:latin typeface="Calibri"/>
              </a:rPr>
              <a:t>Intro tekst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5230367"/>
            <a:ext cx="2194560" cy="347472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5285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82C8"/>
                </a:solidFill>
                <a:latin typeface="Calibri"/>
              </a:rPr>
              <a:t>[ ] [ ] [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9893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28CC8"/>
                </a:solidFill>
                <a:latin typeface="Calibri"/>
              </a:rPr>
              <a:t>375px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6080760"/>
            <a:ext cx="6858000" cy="594360"/>
          </a:xfrm>
          <a:prstGeom prst="rect">
            <a:avLst/>
          </a:prstGeom>
          <a:solidFill>
            <a:srgbClr val="141E46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6080760"/>
            <a:ext cx="64008" cy="594360"/>
          </a:xfrm>
          <a:prstGeom prst="rect">
            <a:avLst/>
          </a:prstGeom>
          <a:gradFill rotWithShape="1">
            <a:gsLst>
              <a:gs pos="0">
                <a:srgbClr val="818CF8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6208776"/>
            <a:ext cx="6473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EC8FF"/>
                </a:solidFill>
                <a:latin typeface="Calibri"/>
              </a:rPr>
              <a:t>Focus op structuur en volgorde van content, geen kleur of stijl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Desktop versie: hoe ziet het er anders 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98448"/>
            <a:ext cx="182880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BEE6"/>
                </a:solidFill>
                <a:latin typeface="Calibri"/>
              </a:rPr>
              <a:t>Element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508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CF8"/>
                </a:solidFill>
                <a:latin typeface="Calibri"/>
              </a:rPr>
              <a:t>Mobiel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  <a:latin typeface="Calibri"/>
              </a:rPr>
              <a:t>Desktop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10698480" cy="36576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371600" cy="841248"/>
          </a:xfrm>
          <a:prstGeom prst="rect">
            <a:avLst/>
          </a:prstGeom>
          <a:solidFill>
            <a:srgbClr val="1E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Nav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920240"/>
            <a:ext cx="4114800" cy="841248"/>
          </a:xfrm>
          <a:prstGeom prst="rect">
            <a:avLst/>
          </a:prstGeom>
          <a:solidFill>
            <a:srgbClr val="232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029968"/>
            <a:ext cx="3840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8F0"/>
                </a:solidFill>
                <a:latin typeface="Calibri"/>
              </a:rPr>
              <a:t>Hamburger menu icoon
(mobiel)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7627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  <a:latin typeface="Calibri"/>
              </a:rPr>
              <a:t>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20240"/>
            <a:ext cx="4114800" cy="841248"/>
          </a:xfrm>
          <a:prstGeom prst="rect">
            <a:avLst/>
          </a:prstGeom>
          <a:solidFill>
            <a:srgbClr val="19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029968"/>
            <a:ext cx="3840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CFF"/>
                </a:solidFill>
                <a:latin typeface="Calibri"/>
              </a:rPr>
              <a:t>Volledige horizontale
navigatie (desktop)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07792"/>
            <a:ext cx="1371600" cy="841248"/>
          </a:xfrm>
          <a:prstGeom prst="rect">
            <a:avLst/>
          </a:prstGeom>
          <a:solidFill>
            <a:srgbClr val="1E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638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907792"/>
            <a:ext cx="4114800" cy="841248"/>
          </a:xfrm>
          <a:prstGeom prst="rect">
            <a:avLst/>
          </a:prstGeom>
          <a:solidFill>
            <a:srgbClr val="232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3017520"/>
            <a:ext cx="3840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8F0"/>
                </a:solidFill>
                <a:latin typeface="Calibri"/>
              </a:rPr>
              <a:t>Gestapelde content
(mobiel)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63824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  <a:latin typeface="Calibri"/>
              </a:rPr>
              <a:t>&gt;&gt;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907792"/>
            <a:ext cx="4114800" cy="841248"/>
          </a:xfrm>
          <a:prstGeom prst="rect">
            <a:avLst/>
          </a:prstGeom>
          <a:solidFill>
            <a:srgbClr val="19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017520"/>
            <a:ext cx="3840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CFF"/>
                </a:solidFill>
                <a:latin typeface="Calibri"/>
              </a:rPr>
              <a:t>Content naast
afbeelding (desktop)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95344"/>
            <a:ext cx="1371600" cy="841248"/>
          </a:xfrm>
          <a:prstGeom prst="rect">
            <a:avLst/>
          </a:prstGeom>
          <a:solidFill>
            <a:srgbClr val="1E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513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Slider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895344"/>
            <a:ext cx="4114800" cy="841248"/>
          </a:xfrm>
          <a:prstGeom prst="rect">
            <a:avLst/>
          </a:prstGeom>
          <a:solidFill>
            <a:srgbClr val="232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005072"/>
            <a:ext cx="3840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8F0"/>
                </a:solidFill>
                <a:latin typeface="Calibri"/>
              </a:rPr>
              <a:t>Volle breedte smal
(mobiel)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151376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  <a:latin typeface="Calibri"/>
              </a:rPr>
              <a:t>&gt;&gt;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895344"/>
            <a:ext cx="4114800" cy="841248"/>
          </a:xfrm>
          <a:prstGeom prst="rect">
            <a:avLst/>
          </a:prstGeom>
          <a:solidFill>
            <a:srgbClr val="19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005072"/>
            <a:ext cx="3840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CFF"/>
                </a:solidFill>
                <a:latin typeface="Calibri"/>
              </a:rPr>
              <a:t>Centered breed
(desktop)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882896"/>
            <a:ext cx="1371600" cy="841248"/>
          </a:xfrm>
          <a:prstGeom prst="rect">
            <a:avLst/>
          </a:prstGeom>
          <a:solidFill>
            <a:srgbClr val="1E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1389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Grid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4882896"/>
            <a:ext cx="4114800" cy="841248"/>
          </a:xfrm>
          <a:prstGeom prst="rect">
            <a:avLst/>
          </a:prstGeom>
          <a:solidFill>
            <a:srgbClr val="232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4992624"/>
            <a:ext cx="3840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C8F0"/>
                </a:solidFill>
                <a:latin typeface="Calibri"/>
              </a:rPr>
              <a:t>1 kolom
(mobiel)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138928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  <a:latin typeface="Calibri"/>
              </a:rPr>
              <a:t>&gt;&gt;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882896"/>
            <a:ext cx="4114800" cy="841248"/>
          </a:xfrm>
          <a:prstGeom prst="rect">
            <a:avLst/>
          </a:prstGeom>
          <a:solidFill>
            <a:srgbClr val="19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992624"/>
            <a:ext cx="3840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CFF"/>
                </a:solidFill>
                <a:latin typeface="Calibri"/>
              </a:rPr>
              <a:t>2 tot 3 kolommen
(desktop)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852160"/>
            <a:ext cx="10698480" cy="685800"/>
          </a:xfrm>
          <a:prstGeom prst="rect">
            <a:avLst/>
          </a:prstGeom>
          <a:solidFill>
            <a:srgbClr val="121C44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852160"/>
            <a:ext cx="64008" cy="685800"/>
          </a:xfrm>
          <a:prstGeom prst="rect">
            <a:avLst/>
          </a:prstGeom>
          <a:gradFill rotWithShape="1">
            <a:gsLst>
              <a:gs pos="0">
                <a:srgbClr val="818CF8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980176"/>
            <a:ext cx="10314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C8D2FF"/>
                </a:solidFill>
                <a:latin typeface="Calibri"/>
              </a:rPr>
              <a:t>Hetzelfde content, andere rangschikking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Live analyse: responsiviteit testen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12064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64008" cy="192024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9656"/>
            <a:ext cx="4736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Taak 1: Browser verkleinen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47365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Open je favoriete website op mobiel of verklein je browser. Klapt de navigatie in op een hamburgermenu?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691640"/>
            <a:ext cx="512064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691640"/>
            <a:ext cx="64008" cy="192024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19656"/>
            <a:ext cx="4736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Calibri"/>
              </a:rPr>
              <a:t>Taak 2: Typografie checken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03704"/>
            <a:ext cx="47365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Bekijk de typografie op mobiel. Zijn de headings kleiner dan op desktop? Is de body tekst leesbaar?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512064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64008" cy="192024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77055"/>
            <a:ext cx="4736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alibri"/>
              </a:rPr>
              <a:t>Taak 3: Slechte mobile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61103"/>
            <a:ext cx="47365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Zoek een site die er op mobiel slecht uitziet. Wat gaat er mis? Te kleine tekst, overlappende elementen?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749039"/>
            <a:ext cx="512064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749039"/>
            <a:ext cx="64008" cy="192024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877055"/>
            <a:ext cx="4736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Calibri"/>
              </a:rPr>
              <a:t>Taak 4: Browser DevTools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61103"/>
            <a:ext cx="47365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Gebruik de browser devtools (F12, device toolbar) om een desktop site op 375px te bekijken.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Bronnen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61872"/>
            <a:ext cx="164592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69848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4008" cy="841248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96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Responsive design basics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2"/>
            <a:ext cx="6748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7"/>
                </a:solidFill>
                <a:latin typeface="Calibri"/>
              </a:rPr>
              <a:t>web.dev/responsive-web-design-basics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03704"/>
            <a:ext cx="10314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Google Web.dev gids: de fundamenten van responsive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24328"/>
            <a:ext cx="1069848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24328"/>
            <a:ext cx="64008" cy="84124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523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Calibri"/>
              </a:rPr>
              <a:t>CSS media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6748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7"/>
                </a:solidFill>
                <a:latin typeface="Calibri"/>
              </a:rPr>
              <a:t>developer.mozilla.org/docs/Web/CSS/CSS_media_queries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36392"/>
            <a:ext cx="10314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MDN documentatie: volledige referentie voor media queries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57016"/>
            <a:ext cx="1069848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557016"/>
            <a:ext cx="64008" cy="841248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85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Calibri"/>
              </a:rPr>
              <a:t>Every Layout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21608"/>
            <a:ext cx="6748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7"/>
                </a:solidFill>
                <a:latin typeface="Calibri"/>
              </a:rPr>
              <a:t>every-layout.dev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10314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Responsive layout patronen zonder media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89704"/>
            <a:ext cx="1069848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489704"/>
            <a:ext cx="64008" cy="841248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17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Calibri"/>
              </a:rPr>
              <a:t>Figma responsive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654296"/>
            <a:ext cx="6748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7"/>
                </a:solidFill>
                <a:latin typeface="Calibri"/>
              </a:rPr>
              <a:t>figma.com/resource-library/responsive-design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01768"/>
            <a:ext cx="10314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Officiele Figma gids voor responsive frames en constraints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22392"/>
            <a:ext cx="10698480" cy="841248"/>
          </a:xfrm>
          <a:prstGeom prst="rect">
            <a:avLst/>
          </a:prstGeom>
          <a:solidFill>
            <a:srgbClr val="F8FAFC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422392"/>
            <a:ext cx="64008" cy="841248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5504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Mobile First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586984"/>
            <a:ext cx="6748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7"/>
                </a:solidFill>
                <a:latin typeface="Calibri"/>
              </a:rPr>
              <a:t>abookapart.com/products/mobile-first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934456"/>
            <a:ext cx="10314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Boek van Luke Wroblewski: de mobile first aanpak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7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365760"/>
            <a:ext cx="73152" cy="612648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  <a:latin typeface="Calibri"/>
              </a:rPr>
              <a:t>Opdracht  ·  Les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Portfolio Website  ·  Responsive Wireframe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08760"/>
            <a:ext cx="3200400" cy="64008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7472" cy="34747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647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Maak twee Figma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BEE6"/>
                </a:solidFill>
                <a:latin typeface="Calibri"/>
              </a:rPr>
              <a:t>'home/mobile' (375x812) en 'home/desktop' (1440x900)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87752"/>
            <a:ext cx="347472" cy="34747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5877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694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Wireframe beide versies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07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BEE6"/>
                </a:solidFill>
                <a:latin typeface="Calibri"/>
              </a:rPr>
              <a:t>In grijstinten, geen kleur of stijl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392424"/>
            <a:ext cx="347472" cy="34747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3924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741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Verplichte elementen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124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BEE6"/>
                </a:solidFill>
                <a:latin typeface="Calibri"/>
              </a:rPr>
              <a:t>Navigatie, hero, slider placeholder, intro sectie, footer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197096"/>
            <a:ext cx="347472" cy="34747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1970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788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Grid gebruiken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171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BEE6"/>
                </a:solidFill>
                <a:latin typeface="Calibri"/>
              </a:rPr>
              <a:t>4-koloms grid op mobiel, 12-koloms op desktop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001768"/>
            <a:ext cx="347472" cy="34747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017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9834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Inleveren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21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BEE6"/>
                </a:solidFill>
                <a:latin typeface="Calibri"/>
              </a:rPr>
              <a:t>Lever je Figma link in via de ELO voor les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BEFF"/>
                </a:solidFill>
                <a:latin typeface="Calibri"/>
              </a:rPr>
              <a:t>Volgende 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Navigatiepatronen en Sliders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3657600" cy="73152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818CF8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C8D2FF"/>
                </a:solidFill>
                <a:latin typeface="Calibri"/>
              </a:rPr>
              <a:t>  •  Hamburger menu en mobiele navigatiepatronen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C8D2FF"/>
                </a:solidFill>
                <a:latin typeface="Calibri"/>
              </a:rPr>
              <a:t>  •  Slider en carousel design principes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C8D2FF"/>
                </a:solidFill>
                <a:latin typeface="Calibri"/>
              </a:rPr>
              <a:t>  •  Toegankelijkheid van interactieve elementen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C8D2FF"/>
                </a:solidFill>
                <a:latin typeface="Calibri"/>
              </a:rPr>
              <a:t>  •  Figma: prototype van een werkende slider</a:t>
            </a:r>
          </a:p>
        </p:txBody>
      </p:sp>
      <p:sp>
        <p:nvSpPr>
          <p:cNvPr id="8" name="Oval 7"/>
          <p:cNvSpPr/>
          <p:nvPr/>
        </p:nvSpPr>
        <p:spPr>
          <a:xfrm>
            <a:off x="10378440" y="169164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99064" y="2203704"/>
            <a:ext cx="164592" cy="16459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77856" y="2505456"/>
            <a:ext cx="109728" cy="109728"/>
          </a:xfrm>
          <a:prstGeom prst="ellipse">
            <a:avLst/>
          </a:prstGeom>
          <a:solidFill>
            <a:srgbClr val="96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18520" y="1600200"/>
            <a:ext cx="91440" cy="91440"/>
          </a:xfrm>
          <a:prstGeom prst="ellipse">
            <a:avLst/>
          </a:prstGeom>
          <a:solidFill>
            <a:srgbClr val="64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029200"/>
            <a:ext cx="10698480" cy="914400"/>
          </a:xfrm>
          <a:prstGeom prst="rect">
            <a:avLst/>
          </a:prstGeom>
          <a:solidFill>
            <a:srgbClr val="121C46"/>
          </a:solidFill>
          <a:ln w="9525">
            <a:solidFill>
              <a:srgbClr val="D7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029200"/>
            <a:ext cx="64008" cy="914400"/>
          </a:xfrm>
          <a:prstGeom prst="rect">
            <a:avLst/>
          </a:prstGeom>
          <a:gradFill rotWithShape="1">
            <a:gsLst>
              <a:gs pos="0">
                <a:srgbClr val="818CF8"/>
              </a:gs>
              <a:gs pos="100000">
                <a:srgbClr val="818CF8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157216"/>
            <a:ext cx="10314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EC8FF"/>
                </a:solidFill>
                <a:latin typeface="Calibri"/>
              </a:rPr>
              <a:t>Kijk alvast naar sliders op Dribbble of Awwwards voor designinspiratie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4B4C8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