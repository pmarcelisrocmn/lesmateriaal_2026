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Vandaag behandelen we twee van de meest fundamentele principes. Whitespace en alignment zijn onzichtbaar als het goed is, maar direct zichtbaar als het fout gaat.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Loop de agenda door. Nadruk: we maken vandaag ook echt ons eerste wireframe in Figma voor het goed doel project.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Whitespace is geen 'niets', het is een actieve designkeuze. Vergelijk met pauzes in muziek: de stilte geeft betekenis aan de noten.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Micro zijn de kleine details, macro de grote structuur. Een ontwerp kan goede micro maar slechte macro spacing hebben.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Laat beide panelen zien en vraag wat het verschil is. Studenten voelen het intuïtief, nu leren ze het bewust te controleren.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Waarom 8? De meeste schermen werken met een basisraster van 8. Elk veelvoud van 8 rendert altijd scherp.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Laat studenten een knop maken. Vraag: gebruik 16px padding links/rechts en 12px boven/onder. Wacht, 12 is geen veelvoud van 8! Maak het 8 of 16.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Laat studenten twee layouts bouwen in Figma: een zonder bewuste alignment en een met. Ze voelen het verschil direct.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Demo: open een desktop frame, voeg layout grid toe, laat zien hoe elementen snappen. Tip: 12 kolommen zijn deelbaar door 2, 3, 4 en 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Demo: sleep een guide vanuit de linker ruler. Laat snapping uitschakelen. Studenten zien meteen dat handmatig uitlijnen veel moeilijker 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Demo: maak 3 rechthoeken op willekeurige posities, selecteer alle drie, laat align left zien. Dan distribute horizontally. Studenten doen mee.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Dit is de hands-on kern van de les. Geef 20 tot 25 minuten. Loop rond en help bij stap 3 en stap 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Klassikaal 2 tot 3 wireframes reviewen. Gebruik als kader: heb je whitespace als actief element gebruikt of is het toevallig?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Verwijs studenten naar deze bronnen. Spec.fm/8-pt-grid is goed om voor de volgende les te lezen.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Geef de laatste 20 minuten om te starten. Controleer of iedereen de layout grid goed heeft ingesteld.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Sluit de les af. Tip: vraag studenten typografie bewust te observeren. Welke lettertypes zie je op merksites en waarom voelen die anders?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430000" y="6492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B4B4C8"/>
                </a:solidFill>
                <a:latin typeface="Calibri"/>
              </a:rPr>
              <a:t>1 / 16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gradFill rotWithShape="1">
            <a:gsLst>
              <a:gs pos="0">
                <a:srgbClr val="0D9488"/>
              </a:gs>
              <a:gs pos="100000">
                <a:srgbClr val="06B6D4"/>
              </a:gs>
            </a:gsLst>
            <a:lin scaled="0" ang="54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8686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600" b="1" i="0">
                <a:solidFill>
                  <a:srgbClr val="FFFFFF"/>
                </a:solidFill>
                <a:latin typeface="Calibri"/>
              </a:rPr>
              <a:t>Whitespace
en Alignment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3611880"/>
            <a:ext cx="2560320" cy="91440"/>
          </a:xfrm>
          <a:prstGeom prst="rect">
            <a:avLst/>
          </a:prstGeom>
          <a:gradFill rotWithShape="1">
            <a:gsLst>
              <a:gs pos="0">
                <a:srgbClr val="0D9488"/>
              </a:gs>
              <a:gs pos="100000">
                <a:srgbClr val="06B6D4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7947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A0D2D2"/>
                </a:solidFill>
                <a:latin typeface="Calibri"/>
              </a:rPr>
              <a:t>Periode 1  ·  Les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31596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64B4B4"/>
                </a:solidFill>
                <a:latin typeface="Calibri"/>
              </a:rPr>
              <a:t>De kracht van ruimte en lijn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430000" y="6492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7487"/>
                </a:solidFill>
                <a:latin typeface="Calibri"/>
              </a:rPr>
              <a:t>2 /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332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F172A"/>
                </a:solidFill>
                <a:latin typeface="Calibri"/>
              </a:rPr>
              <a:t>Vandaag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261872"/>
            <a:ext cx="1645920" cy="73152"/>
          </a:xfrm>
          <a:prstGeom prst="rect">
            <a:avLst/>
          </a:prstGeom>
          <a:gradFill rotWithShape="1">
            <a:gsLst>
              <a:gs pos="0">
                <a:srgbClr val="0D9488"/>
              </a:gs>
              <a:gs pos="100000">
                <a:srgbClr val="06B6D4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3272" y="1700784"/>
            <a:ext cx="402336" cy="402336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1" y="1755648"/>
            <a:ext cx="4023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1640" y="1737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0F172A"/>
                </a:solidFill>
                <a:latin typeface="Calibri"/>
              </a:rPr>
              <a:t>Wat is whitespace en waarom werkt het</a:t>
            </a:r>
          </a:p>
        </p:txBody>
      </p:sp>
      <p:sp>
        <p:nvSpPr>
          <p:cNvPr id="9" name="Oval 8"/>
          <p:cNvSpPr/>
          <p:nvPr/>
        </p:nvSpPr>
        <p:spPr>
          <a:xfrm>
            <a:off x="1033272" y="2505456"/>
            <a:ext cx="402336" cy="402336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1" y="2560320"/>
            <a:ext cx="4023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2542032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0F172A"/>
                </a:solidFill>
                <a:latin typeface="Calibri"/>
              </a:rPr>
              <a:t>Micro en macro whitespace</a:t>
            </a:r>
          </a:p>
        </p:txBody>
      </p:sp>
      <p:sp>
        <p:nvSpPr>
          <p:cNvPr id="12" name="Oval 11"/>
          <p:cNvSpPr/>
          <p:nvPr/>
        </p:nvSpPr>
        <p:spPr>
          <a:xfrm>
            <a:off x="1033272" y="3310128"/>
            <a:ext cx="402336" cy="402336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33271" y="3364992"/>
            <a:ext cx="4023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3346704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0F172A"/>
                </a:solidFill>
                <a:latin typeface="Calibri"/>
              </a:rPr>
              <a:t>Het 8pt grid systeem</a:t>
            </a:r>
          </a:p>
        </p:txBody>
      </p:sp>
      <p:sp>
        <p:nvSpPr>
          <p:cNvPr id="15" name="Oval 14"/>
          <p:cNvSpPr/>
          <p:nvPr/>
        </p:nvSpPr>
        <p:spPr>
          <a:xfrm>
            <a:off x="1033272" y="4114800"/>
            <a:ext cx="402336" cy="402336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33271" y="4169664"/>
            <a:ext cx="4023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91640" y="4151376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0F172A"/>
                </a:solidFill>
                <a:latin typeface="Calibri"/>
              </a:rPr>
              <a:t>Alignment en visuele lijn</a:t>
            </a:r>
          </a:p>
        </p:txBody>
      </p:sp>
      <p:sp>
        <p:nvSpPr>
          <p:cNvPr id="18" name="Oval 17"/>
          <p:cNvSpPr/>
          <p:nvPr/>
        </p:nvSpPr>
        <p:spPr>
          <a:xfrm>
            <a:off x="1033272" y="4919472"/>
            <a:ext cx="402336" cy="402336"/>
          </a:xfrm>
          <a:prstGeom prst="ellipse">
            <a:avLst/>
          </a:prstGeom>
          <a:solidFill>
            <a:srgbClr val="639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3271" y="4974336"/>
            <a:ext cx="4023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1640" y="4956048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0F172A"/>
                </a:solidFill>
                <a:latin typeface="Calibri"/>
              </a:rPr>
              <a:t>Figma: layout grid, guides en align tools</a:t>
            </a:r>
          </a:p>
        </p:txBody>
      </p:sp>
      <p:sp>
        <p:nvSpPr>
          <p:cNvPr id="21" name="Oval 20"/>
          <p:cNvSpPr/>
          <p:nvPr/>
        </p:nvSpPr>
        <p:spPr>
          <a:xfrm>
            <a:off x="1033272" y="5724144"/>
            <a:ext cx="402336" cy="402336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33271" y="5779008"/>
            <a:ext cx="4023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91640" y="57607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0F172A"/>
                </a:solidFill>
                <a:latin typeface="Calibri"/>
              </a:rPr>
              <a:t>Wireframe van het goed doel project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430000" y="6492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7487"/>
                </a:solidFill>
                <a:latin typeface="Calibri"/>
              </a:rPr>
              <a:t>3 / 16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gradFill rotWithShape="1">
            <a:gsLst>
              <a:gs pos="0">
                <a:srgbClr val="060E2C"/>
              </a:gs>
              <a:gs pos="100000">
                <a:srgbClr val="142864"/>
              </a:gs>
            </a:gsLst>
            <a:lin scaled="0" ang="54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gradFill rotWithShape="1">
            <a:gsLst>
              <a:gs pos="0">
                <a:srgbClr val="0D9488"/>
              </a:gs>
              <a:gs pos="100000">
                <a:srgbClr val="06B6D4"/>
              </a:gs>
            </a:gsLst>
            <a:lin scaled="0" ang="54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37160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libri"/>
              </a:rPr>
              <a:t>Whitespace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121408"/>
            <a:ext cx="3657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B4D2FF"/>
                </a:solidFill>
                <a:latin typeface="Calibri"/>
              </a:rPr>
              <a:t>is niet leeg,
het is ruimte
met een doel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7760" y="1463040"/>
            <a:ext cx="68580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</a:pPr>
            <a:r>
              <a:rPr sz="1800">
                <a:solidFill>
                  <a:srgbClr val="0F172A"/>
                </a:solidFill>
                <a:latin typeface="Calibri"/>
              </a:rPr>
              <a:t>  •  Alles tussen en rondom ontwerpelementen</a:t>
            </a:r>
          </a:p>
          <a:p>
            <a:pPr>
              <a:spcBef>
                <a:spcPts val="700"/>
              </a:spcBef>
            </a:pPr>
            <a:r>
              <a:rPr sz="1800">
                <a:solidFill>
                  <a:srgbClr val="0F172A"/>
                </a:solidFill>
                <a:latin typeface="Calibri"/>
              </a:rPr>
              <a:t>  •  Geeft het oog rust en richting</a:t>
            </a:r>
          </a:p>
          <a:p>
            <a:pPr>
              <a:spcBef>
                <a:spcPts val="700"/>
              </a:spcBef>
            </a:pPr>
            <a:r>
              <a:rPr sz="1800">
                <a:solidFill>
                  <a:srgbClr val="0F172A"/>
                </a:solidFill>
                <a:latin typeface="Calibri"/>
              </a:rPr>
              <a:t>  •  Bepaalt wat belangrijk is via contrast door ruimte</a:t>
            </a:r>
          </a:p>
          <a:p>
            <a:pPr>
              <a:spcBef>
                <a:spcPts val="700"/>
              </a:spcBef>
            </a:pPr>
            <a:r>
              <a:rPr sz="1800">
                <a:solidFill>
                  <a:srgbClr val="0F172A"/>
                </a:solidFill>
                <a:latin typeface="Calibri"/>
              </a:rPr>
              <a:t>  •  Maakt inhoud scanbaar en leesbaar</a:t>
            </a:r>
          </a:p>
          <a:p>
            <a:pPr>
              <a:spcBef>
                <a:spcPts val="700"/>
              </a:spcBef>
            </a:pPr>
            <a:r>
              <a:rPr sz="1800">
                <a:solidFill>
                  <a:srgbClr val="0F172A"/>
                </a:solidFill>
                <a:latin typeface="Calibri"/>
              </a:rPr>
              <a:t>  •  Gebruikt door Apple, Google en Linear als designtaal</a:t>
            </a:r>
          </a:p>
        </p:txBody>
      </p:sp>
      <p:sp>
        <p:nvSpPr>
          <p:cNvPr id="8" name="Rectangle 7"/>
          <p:cNvSpPr/>
          <p:nvPr/>
        </p:nvSpPr>
        <p:spPr>
          <a:xfrm>
            <a:off x="4937760" y="4617720"/>
            <a:ext cx="6858000" cy="1874519"/>
          </a:xfrm>
          <a:prstGeom prst="rect">
            <a:avLst/>
          </a:prstGeom>
          <a:solidFill>
            <a:srgbClr val="F8FAFC"/>
          </a:solidFill>
          <a:ln w="9525">
            <a:solidFill>
              <a:srgbClr val="D7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937760" y="4617720"/>
            <a:ext cx="64008" cy="1874519"/>
          </a:xfrm>
          <a:prstGeom prst="rect">
            <a:avLst/>
          </a:prstGeom>
          <a:gradFill rotWithShape="1">
            <a:gsLst>
              <a:gs pos="0">
                <a:srgbClr val="0D9488"/>
              </a:gs>
              <a:gs pos="100000">
                <a:srgbClr val="06B6D4"/>
              </a:gs>
            </a:gsLst>
            <a:lin scaled="0" ang="54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4745736"/>
            <a:ext cx="647395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0F172A"/>
                </a:solidFill>
                <a:latin typeface="Calibri"/>
              </a:rPr>
              <a:t>"White space is to be regarded as an active element, not a passive background."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66360" y="5980176"/>
            <a:ext cx="64739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7"/>
                </a:solidFill>
                <a:latin typeface="Calibri"/>
              </a:rPr>
              <a:t>Jan Tschichold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430000" y="6492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7487"/>
                </a:solidFill>
                <a:latin typeface="Calibri"/>
              </a:rPr>
              <a:t>4 /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332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F172A"/>
                </a:solidFill>
                <a:latin typeface="Calibri"/>
              </a:rPr>
              <a:t>Twee soorten whitespace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261872"/>
            <a:ext cx="1645920" cy="73152"/>
          </a:xfrm>
          <a:prstGeom prst="rect">
            <a:avLst/>
          </a:prstGeom>
          <a:gradFill rotWithShape="1">
            <a:gsLst>
              <a:gs pos="0">
                <a:srgbClr val="0D9488"/>
              </a:gs>
              <a:gs pos="100000">
                <a:srgbClr val="06B6D4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1600200"/>
            <a:ext cx="5074920" cy="5029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64208"/>
            <a:ext cx="5074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Micro whitespace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3120"/>
            <a:ext cx="5074920" cy="4297680"/>
          </a:xfrm>
          <a:prstGeom prst="rect">
            <a:avLst/>
          </a:prstGeom>
          <a:solidFill>
            <a:srgbClr val="F8FAFC"/>
          </a:solidFill>
          <a:ln w="9525">
            <a:solidFill>
              <a:srgbClr val="D7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0" y="2103120"/>
            <a:ext cx="5074920" cy="1005840"/>
          </a:xfrm>
          <a:prstGeom prst="rect">
            <a:avLst/>
          </a:prstGeom>
          <a:solidFill>
            <a:srgbClr val="F8FAFC"/>
          </a:solidFill>
          <a:ln w="9525">
            <a:solidFill>
              <a:srgbClr val="DC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212848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  <a:latin typeface="Calibri"/>
              </a:rPr>
              <a:t>Letter-spacing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651760"/>
            <a:ext cx="4800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4155"/>
                </a:solidFill>
                <a:latin typeface="Calibri"/>
              </a:rPr>
              <a:t>Ruimte tussen letters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3154680"/>
            <a:ext cx="507492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C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264408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  <a:latin typeface="Calibri"/>
              </a:rPr>
              <a:t>Line-height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3703320"/>
            <a:ext cx="4800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4155"/>
                </a:solidFill>
                <a:latin typeface="Calibri"/>
              </a:rPr>
              <a:t>Ruimte tussen regels tekst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4206240"/>
            <a:ext cx="5074920" cy="1005840"/>
          </a:xfrm>
          <a:prstGeom prst="rect">
            <a:avLst/>
          </a:prstGeom>
          <a:solidFill>
            <a:srgbClr val="F8FAFC"/>
          </a:solidFill>
          <a:ln w="9525">
            <a:solidFill>
              <a:srgbClr val="DC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4315968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  <a:latin typeface="Calibri"/>
              </a:rPr>
              <a:t>Padding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4754880"/>
            <a:ext cx="4800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4155"/>
                </a:solidFill>
                <a:latin typeface="Calibri"/>
              </a:rPr>
              <a:t>Ruimte binnen een element zoals een knop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" y="5257800"/>
            <a:ext cx="507492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C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5367528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  <a:latin typeface="Calibri"/>
              </a:rPr>
              <a:t>Gap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5806440"/>
            <a:ext cx="4800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4155"/>
                </a:solidFill>
                <a:latin typeface="Calibri"/>
              </a:rPr>
              <a:t>Ruimte tussen kleine elementen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1600200"/>
            <a:ext cx="5074920" cy="502920"/>
          </a:xfrm>
          <a:prstGeom prst="rect">
            <a:avLst/>
          </a:prstGeom>
          <a:solidFill>
            <a:srgbClr val="060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1664208"/>
            <a:ext cx="5074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Macro whitespace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0" y="2103120"/>
            <a:ext cx="5074920" cy="4297680"/>
          </a:xfrm>
          <a:prstGeom prst="rect">
            <a:avLst/>
          </a:prstGeom>
          <a:solidFill>
            <a:srgbClr val="F8FAFC"/>
          </a:solidFill>
          <a:ln w="9525">
            <a:solidFill>
              <a:srgbClr val="D7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00800" y="2103120"/>
            <a:ext cx="5074920" cy="1005840"/>
          </a:xfrm>
          <a:prstGeom prst="rect">
            <a:avLst/>
          </a:prstGeom>
          <a:solidFill>
            <a:srgbClr val="F8FAFC"/>
          </a:solidFill>
          <a:ln w="9525">
            <a:solidFill>
              <a:srgbClr val="DC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37960" y="2212848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  <a:latin typeface="Calibri"/>
              </a:rPr>
              <a:t>Sectie-spacing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37960" y="2651760"/>
            <a:ext cx="4800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4155"/>
                </a:solidFill>
                <a:latin typeface="Calibri"/>
              </a:rPr>
              <a:t>Ruimte tussen secties op de pagina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0" y="3154680"/>
            <a:ext cx="507492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C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37960" y="3264408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  <a:latin typeface="Calibri"/>
              </a:rPr>
              <a:t>Marges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37960" y="3703320"/>
            <a:ext cx="4800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4155"/>
                </a:solidFill>
                <a:latin typeface="Calibri"/>
              </a:rPr>
              <a:t>Ruimte aan de zijkanten van de layout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0" y="4206240"/>
            <a:ext cx="5074920" cy="1005840"/>
          </a:xfrm>
          <a:prstGeom prst="rect">
            <a:avLst/>
          </a:prstGeom>
          <a:solidFill>
            <a:srgbClr val="F8FAFC"/>
          </a:solidFill>
          <a:ln w="9525">
            <a:solidFill>
              <a:srgbClr val="DC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37960" y="4315968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  <a:latin typeface="Calibri"/>
              </a:rPr>
              <a:t>Hero-ruimte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37960" y="4754880"/>
            <a:ext cx="4800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4155"/>
                </a:solidFill>
                <a:latin typeface="Calibri"/>
              </a:rPr>
              <a:t>Lucht rondom het centrale element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0" y="5257800"/>
            <a:ext cx="507492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C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37960" y="5367528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  <a:latin typeface="Calibri"/>
              </a:rPr>
              <a:t>Kolom-gap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37960" y="5806440"/>
            <a:ext cx="4800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4155"/>
                </a:solidFill>
                <a:latin typeface="Calibri"/>
              </a:rPr>
              <a:t>Ruimte tussen kolommen in een grid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430000" y="6492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7487"/>
                </a:solidFill>
                <a:latin typeface="Calibri"/>
              </a:rPr>
              <a:t>5 /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332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F172A"/>
                </a:solidFill>
                <a:latin typeface="Calibri"/>
              </a:rPr>
              <a:t>Whitespace in de praktijk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261872"/>
            <a:ext cx="1645920" cy="73152"/>
          </a:xfrm>
          <a:prstGeom prst="rect">
            <a:avLst/>
          </a:prstGeom>
          <a:gradFill rotWithShape="1">
            <a:gsLst>
              <a:gs pos="0">
                <a:srgbClr val="0D9488"/>
              </a:gs>
              <a:gs pos="100000">
                <a:srgbClr val="06B6D4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1600200"/>
            <a:ext cx="4892040" cy="4663440"/>
          </a:xfrm>
          <a:prstGeom prst="rect">
            <a:avLst/>
          </a:prstGeom>
          <a:solidFill>
            <a:srgbClr val="F8FAFC"/>
          </a:solidFill>
          <a:ln w="9525">
            <a:solidFill>
              <a:srgbClr val="D7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1600200"/>
            <a:ext cx="4892040" cy="411480"/>
          </a:xfrm>
          <a:prstGeom prst="rect">
            <a:avLst/>
          </a:prstGeom>
          <a:solidFill>
            <a:srgbClr val="C8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664208"/>
            <a:ext cx="4709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Zonder whitespace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0" y="2167128"/>
            <a:ext cx="4709160" cy="201168"/>
          </a:xfrm>
          <a:prstGeom prst="rect">
            <a:avLst/>
          </a:prstGeom>
          <a:solidFill>
            <a:srgbClr val="AAA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0" y="2423160"/>
            <a:ext cx="4709160" cy="201168"/>
          </a:xfrm>
          <a:prstGeom prst="rect">
            <a:avLst/>
          </a:prstGeom>
          <a:solidFill>
            <a:srgbClr val="AAA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05840" y="2679192"/>
            <a:ext cx="4709160" cy="201168"/>
          </a:xfrm>
          <a:prstGeom prst="rect">
            <a:avLst/>
          </a:prstGeom>
          <a:solidFill>
            <a:srgbClr val="AAA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5840" y="2935224"/>
            <a:ext cx="2926080" cy="201168"/>
          </a:xfrm>
          <a:prstGeom prst="rect">
            <a:avLst/>
          </a:prstGeom>
          <a:solidFill>
            <a:srgbClr val="AAA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05840" y="3191256"/>
            <a:ext cx="4709160" cy="201168"/>
          </a:xfrm>
          <a:prstGeom prst="rect">
            <a:avLst/>
          </a:prstGeom>
          <a:solidFill>
            <a:srgbClr val="AAA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05840" y="3447288"/>
            <a:ext cx="4709160" cy="201168"/>
          </a:xfrm>
          <a:prstGeom prst="rect">
            <a:avLst/>
          </a:prstGeom>
          <a:solidFill>
            <a:srgbClr val="AAA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05840" y="3703320"/>
            <a:ext cx="1828800" cy="201168"/>
          </a:xfrm>
          <a:prstGeom prst="rect">
            <a:avLst/>
          </a:prstGeom>
          <a:solidFill>
            <a:srgbClr val="AAA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05840" y="4050792"/>
            <a:ext cx="2011680" cy="43891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408736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KLIK HIER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4690872"/>
            <a:ext cx="4709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DC2626"/>
                </a:solidFill>
                <a:latin typeface="Calibri"/>
              </a:rPr>
              <a:t>Tekst plakt aan de randen
Geen ademruimte
Alles heeft gelijke nadruk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35040" y="1600200"/>
            <a:ext cx="4892040" cy="4663440"/>
          </a:xfrm>
          <a:prstGeom prst="rect">
            <a:avLst/>
          </a:prstGeom>
          <a:solidFill>
            <a:srgbClr val="F8FAFC"/>
          </a:solidFill>
          <a:ln w="9525">
            <a:solidFill>
              <a:srgbClr val="D7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035040" y="1600200"/>
            <a:ext cx="4892040" cy="411480"/>
          </a:xfrm>
          <a:prstGeom prst="rect">
            <a:avLst/>
          </a:prstGeom>
          <a:solidFill>
            <a:srgbClr val="146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72200" y="1664208"/>
            <a:ext cx="4617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Met whitespace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82512" y="2286000"/>
            <a:ext cx="3200400" cy="274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82512" y="2770632"/>
            <a:ext cx="3474720" cy="201168"/>
          </a:xfrm>
          <a:prstGeom prst="rect">
            <a:avLst/>
          </a:prstGeom>
          <a:solidFill>
            <a:srgbClr val="AAA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82512" y="3172968"/>
            <a:ext cx="3474720" cy="201168"/>
          </a:xfrm>
          <a:prstGeom prst="rect">
            <a:avLst/>
          </a:prstGeom>
          <a:solidFill>
            <a:srgbClr val="AAA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82512" y="3575304"/>
            <a:ext cx="3474720" cy="201168"/>
          </a:xfrm>
          <a:prstGeom prst="rect">
            <a:avLst/>
          </a:prstGeom>
          <a:solidFill>
            <a:srgbClr val="AAA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382512" y="3840480"/>
            <a:ext cx="1828800" cy="47548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82512" y="388620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Lees meer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82512" y="4690872"/>
            <a:ext cx="436168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16A34A"/>
                </a:solidFill>
                <a:latin typeface="Calibri"/>
              </a:rPr>
              <a:t>Marges creeren focus
Ruimte geeft hierarchie
Knop heeft ademruimte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6355080"/>
            <a:ext cx="108173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647487"/>
                </a:solidFill>
                <a:latin typeface="Calibri"/>
              </a:rPr>
              <a:t>Dezelfde inhoud, andere ervaring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430000" y="6492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B4B4C8"/>
                </a:solidFill>
                <a:latin typeface="Calibri"/>
              </a:rPr>
              <a:t>6 / 16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gradFill rotWithShape="1">
            <a:gsLst>
              <a:gs pos="0">
                <a:srgbClr val="0D9488"/>
              </a:gs>
              <a:gs pos="100000">
                <a:srgbClr val="06B6D4"/>
              </a:gs>
            </a:gsLst>
            <a:lin scaled="0" ang="54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572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Het 8pt grid systeem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298448"/>
            <a:ext cx="1828800" cy="73152"/>
          </a:xfrm>
          <a:prstGeom prst="rect">
            <a:avLst/>
          </a:prstGeom>
          <a:gradFill rotWithShape="1">
            <a:gsLst>
              <a:gs pos="0">
                <a:srgbClr val="0D9488"/>
              </a:gs>
              <a:gs pos="100000">
                <a:srgbClr val="06B6D4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17320"/>
            <a:ext cx="10332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A0D2D2"/>
                </a:solidFill>
                <a:latin typeface="Calibri"/>
              </a:rPr>
              <a:t>De meest gebruikte spacingstandaard in professioneel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10332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</a:pPr>
            <a:r>
              <a:rPr sz="1900">
                <a:solidFill>
                  <a:srgbClr val="C8DCFF"/>
                </a:solidFill>
                <a:latin typeface="Calibri"/>
              </a:rPr>
              <a:t>  •  Alle spacing is een veelvoud van 8: zo zijn dat 8, 16, 24, 32, 48 en 64px</a:t>
            </a:r>
          </a:p>
          <a:p>
            <a:pPr>
              <a:spcBef>
                <a:spcPts val="700"/>
              </a:spcBef>
            </a:pPr>
            <a:r>
              <a:rPr sz="1900">
                <a:solidFill>
                  <a:srgbClr val="C8DCFF"/>
                </a:solidFill>
                <a:latin typeface="Calibri"/>
              </a:rPr>
              <a:t>  •  Werkt moeiteloos op alle schermresoluties en pixeldichtheden</a:t>
            </a:r>
          </a:p>
          <a:p>
            <a:pPr>
              <a:spcBef>
                <a:spcPts val="700"/>
              </a:spcBef>
            </a:pPr>
            <a:r>
              <a:rPr sz="1900">
                <a:solidFill>
                  <a:srgbClr val="C8DCFF"/>
                </a:solidFill>
                <a:latin typeface="Calibri"/>
              </a:rPr>
              <a:t>  •  Zorgt voor visuele consistentie zonder nadenken</a:t>
            </a:r>
          </a:p>
          <a:p>
            <a:pPr>
              <a:spcBef>
                <a:spcPts val="700"/>
              </a:spcBef>
            </a:pPr>
            <a:r>
              <a:rPr sz="1900">
                <a:solidFill>
                  <a:srgbClr val="C8DCFF"/>
                </a:solidFill>
                <a:latin typeface="Calibri"/>
              </a:rPr>
              <a:t>  •  Ontwikkelaars kunnen je ontwerp direct vertalen naar code</a:t>
            </a:r>
          </a:p>
          <a:p>
            <a:pPr>
              <a:spcBef>
                <a:spcPts val="700"/>
              </a:spcBef>
            </a:pPr>
            <a:r>
              <a:rPr sz="1900">
                <a:solidFill>
                  <a:srgbClr val="C8DCFF"/>
                </a:solidFill>
                <a:latin typeface="Calibri"/>
              </a:rPr>
              <a:t>  •  Gebruikt door Google Material Design, Apple HIG en IBM Carbon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5257800"/>
            <a:ext cx="10332720" cy="1234440"/>
          </a:xfrm>
          <a:prstGeom prst="rect">
            <a:avLst/>
          </a:prstGeom>
          <a:solidFill>
            <a:srgbClr val="142350"/>
          </a:solidFill>
          <a:ln w="9525">
            <a:solidFill>
              <a:srgbClr val="D7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14400" y="5257800"/>
            <a:ext cx="64008" cy="1234440"/>
          </a:xfrm>
          <a:prstGeom prst="rect">
            <a:avLst/>
          </a:prstGeom>
          <a:gradFill rotWithShape="1">
            <a:gsLst>
              <a:gs pos="0">
                <a:srgbClr val="0D9488"/>
              </a:gs>
              <a:gs pos="100000">
                <a:srgbClr val="06B6D4"/>
              </a:gs>
            </a:gsLst>
            <a:lin scaled="0" ang="54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5385816"/>
            <a:ext cx="99486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0D2D2"/>
                </a:solidFill>
                <a:latin typeface="Calibri"/>
              </a:rPr>
              <a:t>Bron: spec.fm/specifics/8-pt-grid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5797296"/>
            <a:ext cx="99486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2A5D2"/>
                </a:solidFill>
                <a:latin typeface="Calibri"/>
              </a:rPr>
              <a:t>Uitgebreide uitleg met visuele voorbeelden van het systeem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430000" y="6492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7487"/>
                </a:solidFill>
                <a:latin typeface="Calibri"/>
              </a:rPr>
              <a:t>7 /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332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F172A"/>
                </a:solidFill>
                <a:latin typeface="Calibri"/>
              </a:rPr>
              <a:t>8pt grid in de getallen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261872"/>
            <a:ext cx="1645920" cy="73152"/>
          </a:xfrm>
          <a:prstGeom prst="rect">
            <a:avLst/>
          </a:prstGeom>
          <a:gradFill rotWithShape="1">
            <a:gsLst>
              <a:gs pos="0">
                <a:srgbClr val="0D9488"/>
              </a:gs>
              <a:gs pos="100000">
                <a:srgbClr val="06B6D4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1682496"/>
            <a:ext cx="742950" cy="457200"/>
          </a:xfrm>
          <a:prstGeom prst="rect">
            <a:avLst/>
          </a:prstGeom>
          <a:gradFill rotWithShape="1">
            <a:gsLst>
              <a:gs pos="0">
                <a:srgbClr val="0D9488"/>
              </a:gs>
              <a:gs pos="100000">
                <a:srgbClr val="06B6D4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767078" y="1709928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D9488"/>
                </a:solidFill>
                <a:latin typeface="Calibri"/>
              </a:rPr>
              <a:t>8px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46070" y="1728216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34155"/>
                </a:solidFill>
                <a:latin typeface="Calibri"/>
              </a:rPr>
              <a:t>Binnenste padding en icon gap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2487168"/>
            <a:ext cx="1485900" cy="457200"/>
          </a:xfrm>
          <a:prstGeom prst="rect">
            <a:avLst/>
          </a:prstGeom>
          <a:gradFill rotWithShape="1">
            <a:gsLst>
              <a:gs pos="0">
                <a:srgbClr val="2563EB"/>
              </a:gs>
              <a:gs pos="100000">
                <a:srgbClr val="06B6D4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10028" y="2514600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563EB"/>
                </a:solidFill>
                <a:latin typeface="Calibri"/>
              </a:rPr>
              <a:t>16px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89020" y="2532888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34155"/>
                </a:solidFill>
                <a:latin typeface="Calibri"/>
              </a:rPr>
              <a:t>Standaard component padding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3291840"/>
            <a:ext cx="2228850" cy="457200"/>
          </a:xfrm>
          <a:prstGeom prst="rect">
            <a:avLst/>
          </a:prstGeom>
          <a:gradFill rotWithShape="1">
            <a:gsLst>
              <a:gs pos="0">
                <a:srgbClr val="3B82F6"/>
              </a:gs>
              <a:gs pos="100000">
                <a:srgbClr val="06B6D4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52978" y="3319272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B82F6"/>
                </a:solidFill>
                <a:latin typeface="Calibri"/>
              </a:rPr>
              <a:t>24px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31970" y="333756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34155"/>
                </a:solidFill>
                <a:latin typeface="Calibri"/>
              </a:rPr>
              <a:t>Sectie-interne spacing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4096512"/>
            <a:ext cx="2971800" cy="457200"/>
          </a:xfrm>
          <a:prstGeom prst="rect">
            <a:avLst/>
          </a:prstGeom>
          <a:gradFill rotWithShape="1">
            <a:gsLst>
              <a:gs pos="0">
                <a:srgbClr val="6396F6"/>
              </a:gs>
              <a:gs pos="100000">
                <a:srgbClr val="06B6D4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95928" y="4123944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6396F6"/>
                </a:solidFill>
                <a:latin typeface="Calibri"/>
              </a:rPr>
              <a:t>32px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74920" y="4142232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34155"/>
                </a:solidFill>
                <a:latin typeface="Calibri"/>
              </a:rPr>
              <a:t>Spacing tussen componenten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" y="4901184"/>
            <a:ext cx="4457700" cy="457200"/>
          </a:xfrm>
          <a:prstGeom prst="rect">
            <a:avLst/>
          </a:prstGeom>
          <a:gradFill rotWithShape="1">
            <a:gsLst>
              <a:gs pos="0">
                <a:srgbClr val="7C3AED"/>
              </a:gs>
              <a:gs pos="100000">
                <a:srgbClr val="06B6D4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1828" y="4928616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7C3AED"/>
                </a:solidFill>
                <a:latin typeface="Calibri"/>
              </a:rPr>
              <a:t>48px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60820" y="4946904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34155"/>
                </a:solidFill>
                <a:latin typeface="Calibri"/>
              </a:rPr>
              <a:t>Sectie-spacing klein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" y="5705856"/>
            <a:ext cx="5943600" cy="457200"/>
          </a:xfrm>
          <a:prstGeom prst="rect">
            <a:avLst/>
          </a:prstGeom>
          <a:gradFill rotWithShape="1">
            <a:gsLst>
              <a:gs pos="0">
                <a:srgbClr val="1E3A8A"/>
              </a:gs>
              <a:gs pos="100000">
                <a:srgbClr val="06B6D4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67728" y="5733288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E3A8A"/>
                </a:solidFill>
                <a:latin typeface="Calibri"/>
              </a:rPr>
              <a:t>64px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0" y="5751576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34155"/>
                </a:solidFill>
                <a:latin typeface="Calibri"/>
              </a:rPr>
              <a:t>Sectie-spacing groot en hero marge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778240" y="1572768"/>
            <a:ext cx="3063240" cy="47091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778240" y="1572768"/>
            <a:ext cx="3063240" cy="73152"/>
          </a:xfrm>
          <a:prstGeom prst="rect">
            <a:avLst/>
          </a:prstGeom>
          <a:gradFill rotWithShape="1">
            <a:gsLst>
              <a:gs pos="0">
                <a:srgbClr val="0D9488"/>
              </a:gs>
              <a:gs pos="100000">
                <a:srgbClr val="06B6D4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42832" y="1755648"/>
            <a:ext cx="2697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A0B9E6"/>
                </a:solidFill>
                <a:latin typeface="Calibri"/>
              </a:rPr>
              <a:t>Voorbeeld: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942832" y="2212848"/>
            <a:ext cx="2377440" cy="5303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942832" y="2258568"/>
            <a:ext cx="2377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Meer informatie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42832" y="2907792"/>
            <a:ext cx="25603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482B4"/>
                </a:solidFill>
                <a:latin typeface="Calibri"/>
              </a:rPr>
              <a:t>Hoogte: 48px (6x8)
Padding: 16px (2x8)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430000" y="6492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7487"/>
                </a:solidFill>
                <a:latin typeface="Calibri"/>
              </a:rPr>
              <a:t>8 /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332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F172A"/>
                </a:solidFill>
                <a:latin typeface="Calibri"/>
              </a:rPr>
              <a:t>Alignment en visuele lijn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261872"/>
            <a:ext cx="1645920" cy="73152"/>
          </a:xfrm>
          <a:prstGeom prst="rect">
            <a:avLst/>
          </a:prstGeom>
          <a:gradFill rotWithShape="1">
            <a:gsLst>
              <a:gs pos="0">
                <a:srgbClr val="0D9488"/>
              </a:gs>
              <a:gs pos="100000">
                <a:srgbClr val="06B6D4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67665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</a:pPr>
            <a:r>
              <a:rPr sz="1800">
                <a:solidFill>
                  <a:srgbClr val="0F172A"/>
                </a:solidFill>
                <a:latin typeface="Calibri"/>
              </a:rPr>
              <a:t>  •  Elementen op dezelfde lijn voelen als een geheel</a:t>
            </a:r>
          </a:p>
          <a:p>
            <a:pPr>
              <a:spcBef>
                <a:spcPts val="700"/>
              </a:spcBef>
            </a:pPr>
            <a:r>
              <a:rPr sz="1800">
                <a:solidFill>
                  <a:srgbClr val="0F172A"/>
                </a:solidFill>
                <a:latin typeface="Calibri"/>
              </a:rPr>
              <a:t>  •  Links uitlijnen is de standaard voor westerse leesvolgorde</a:t>
            </a:r>
          </a:p>
          <a:p>
            <a:pPr>
              <a:spcBef>
                <a:spcPts val="700"/>
              </a:spcBef>
            </a:pPr>
            <a:r>
              <a:rPr sz="1800">
                <a:solidFill>
                  <a:srgbClr val="0F172A"/>
                </a:solidFill>
                <a:latin typeface="Calibri"/>
              </a:rPr>
              <a:t>  •  Centreren werkt goed voor koppen en CTA's, niet voor lopende tekst</a:t>
            </a:r>
          </a:p>
          <a:p>
            <a:pPr>
              <a:spcBef>
                <a:spcPts val="700"/>
              </a:spcBef>
            </a:pPr>
            <a:r>
              <a:rPr sz="1800">
                <a:solidFill>
                  <a:srgbClr val="0F172A"/>
                </a:solidFill>
                <a:latin typeface="Calibri"/>
              </a:rPr>
              <a:t>  •  Rechts uitlijnen is zelden nodig op pagina's, wel in tabellen voor getallen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4462272"/>
            <a:ext cx="4937760" cy="2212848"/>
          </a:xfrm>
          <a:prstGeom prst="rect">
            <a:avLst/>
          </a:prstGeom>
          <a:solidFill>
            <a:srgbClr val="F8FAFC"/>
          </a:solidFill>
          <a:ln w="9525">
            <a:solidFill>
              <a:srgbClr val="D7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4462272"/>
            <a:ext cx="4937760" cy="365760"/>
          </a:xfrm>
          <a:prstGeom prst="rect">
            <a:avLst/>
          </a:prstGeom>
          <a:solidFill>
            <a:srgbClr val="C8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4526280"/>
            <a:ext cx="47183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Slechte alignment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88720" y="4992624"/>
            <a:ext cx="3108960" cy="256032"/>
          </a:xfrm>
          <a:prstGeom prst="rect">
            <a:avLst/>
          </a:prstGeom>
          <a:solidFill>
            <a:srgbClr val="B4B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417320" y="5376672"/>
            <a:ext cx="2560320" cy="256032"/>
          </a:xfrm>
          <a:prstGeom prst="rect">
            <a:avLst/>
          </a:prstGeom>
          <a:solidFill>
            <a:srgbClr val="B4B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51560" y="5760720"/>
            <a:ext cx="1645920" cy="38404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5815584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Knop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53328" y="4462272"/>
            <a:ext cx="4937760" cy="2212848"/>
          </a:xfrm>
          <a:prstGeom prst="rect">
            <a:avLst/>
          </a:prstGeom>
          <a:solidFill>
            <a:srgbClr val="F8FAFC"/>
          </a:solidFill>
          <a:ln w="9525">
            <a:solidFill>
              <a:srgbClr val="D7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53328" y="4462272"/>
            <a:ext cx="4937760" cy="365760"/>
          </a:xfrm>
          <a:prstGeom prst="rect">
            <a:avLst/>
          </a:prstGeom>
          <a:solidFill>
            <a:srgbClr val="146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90488" y="452628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Betere alignment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73368" y="4992624"/>
            <a:ext cx="3108960" cy="256032"/>
          </a:xfrm>
          <a:prstGeom prst="rect">
            <a:avLst/>
          </a:prstGeom>
          <a:solidFill>
            <a:srgbClr val="B4B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73368" y="5376672"/>
            <a:ext cx="2560320" cy="256032"/>
          </a:xfrm>
          <a:prstGeom prst="rect">
            <a:avLst/>
          </a:prstGeom>
          <a:solidFill>
            <a:srgbClr val="B4B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73368" y="5760720"/>
            <a:ext cx="1645920" cy="3840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73368" y="5815584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Knop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73368" y="4919472"/>
            <a:ext cx="45720" cy="1417320"/>
          </a:xfrm>
          <a:prstGeom prst="rect">
            <a:avLst/>
          </a:prstGeom>
          <a:gradFill rotWithShape="1">
            <a:gsLst>
              <a:gs pos="0">
                <a:srgbClr val="0D9488"/>
              </a:gs>
              <a:gs pos="100000">
                <a:srgbClr val="06B6D4"/>
              </a:gs>
            </a:gsLst>
            <a:lin scaled="0" ang="54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430000" y="6492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B4B4C8"/>
                </a:solidFill>
                <a:latin typeface="Calibri"/>
              </a:rPr>
              <a:t>9 / 16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gradFill rotWithShape="1">
            <a:gsLst>
              <a:gs pos="0">
                <a:srgbClr val="0D9488"/>
              </a:gs>
              <a:gs pos="100000">
                <a:srgbClr val="06B6D4"/>
              </a:gs>
            </a:gsLst>
            <a:lin scaled="0" ang="54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572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Figma: Layout Grid instellen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298448"/>
            <a:ext cx="1828800" cy="73152"/>
          </a:xfrm>
          <a:prstGeom prst="rect">
            <a:avLst/>
          </a:prstGeom>
          <a:gradFill rotWithShape="1">
            <a:gsLst>
              <a:gs pos="0">
                <a:srgbClr val="0D9488"/>
              </a:gs>
              <a:gs pos="100000">
                <a:srgbClr val="06B6D4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96112" y="1920240"/>
            <a:ext cx="402336" cy="402336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975104"/>
            <a:ext cx="4023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81328" y="1956816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D2E1FF"/>
                </a:solidFill>
                <a:latin typeface="Calibri"/>
              </a:rPr>
              <a:t>Selecteer een frame, bijvoorbeeld Desktop 1440px</a:t>
            </a:r>
          </a:p>
        </p:txBody>
      </p:sp>
      <p:sp>
        <p:nvSpPr>
          <p:cNvPr id="10" name="Oval 9"/>
          <p:cNvSpPr/>
          <p:nvPr/>
        </p:nvSpPr>
        <p:spPr>
          <a:xfrm>
            <a:off x="896112" y="2807208"/>
            <a:ext cx="402336" cy="402336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2862072"/>
            <a:ext cx="4023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81328" y="2843784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D2E1FF"/>
                </a:solidFill>
                <a:latin typeface="Calibri"/>
              </a:rPr>
              <a:t>Rechtsboven in het properties panel, klik het plus-teken naast Layout grid</a:t>
            </a:r>
          </a:p>
        </p:txBody>
      </p:sp>
      <p:sp>
        <p:nvSpPr>
          <p:cNvPr id="13" name="Oval 12"/>
          <p:cNvSpPr/>
          <p:nvPr/>
        </p:nvSpPr>
        <p:spPr>
          <a:xfrm>
            <a:off x="896112" y="3694176"/>
            <a:ext cx="402336" cy="402336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" y="3749040"/>
            <a:ext cx="4023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1328" y="3730752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D2E1FF"/>
                </a:solidFill>
                <a:latin typeface="Calibri"/>
              </a:rPr>
              <a:t>Kies Columns en stel in: 12 kolommen, margin 80px, gutter 24px</a:t>
            </a:r>
          </a:p>
        </p:txBody>
      </p:sp>
      <p:sp>
        <p:nvSpPr>
          <p:cNvPr id="16" name="Oval 15"/>
          <p:cNvSpPr/>
          <p:nvPr/>
        </p:nvSpPr>
        <p:spPr>
          <a:xfrm>
            <a:off x="896112" y="4581144"/>
            <a:ext cx="402336" cy="402336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636008"/>
            <a:ext cx="4023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4617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D2E1FF"/>
                </a:solidFill>
                <a:latin typeface="Calibri"/>
              </a:rPr>
              <a:t>Klik op het oogje om de grid te tonen of te verbergen</a:t>
            </a:r>
          </a:p>
        </p:txBody>
      </p:sp>
      <p:sp>
        <p:nvSpPr>
          <p:cNvPr id="19" name="Oval 18"/>
          <p:cNvSpPr/>
          <p:nvPr/>
        </p:nvSpPr>
        <p:spPr>
          <a:xfrm>
            <a:off x="896112" y="5468112"/>
            <a:ext cx="402336" cy="402336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6112" y="5522976"/>
            <a:ext cx="4023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81328" y="5504688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D2E1FF"/>
                </a:solidFill>
                <a:latin typeface="Calibri"/>
              </a:rPr>
              <a:t>Alle elementen snappen nu automatisch aan de grid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4400" y="6400800"/>
            <a:ext cx="10817352" cy="384048"/>
          </a:xfrm>
          <a:prstGeom prst="rect">
            <a:avLst/>
          </a:prstGeom>
          <a:solidFill>
            <a:srgbClr val="14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6464808"/>
            <a:ext cx="102687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A0D2D2"/>
                </a:solidFill>
                <a:latin typeface="Calibri"/>
              </a:rPr>
              <a:t>Sneltoets om grid te tonen of te verbergen: Ctrl+Shift+4 op Windows, Cmd+Shift+4 op Mac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430000" y="6492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7487"/>
                </a:solidFill>
                <a:latin typeface="Calibri"/>
              </a:rPr>
              <a:t>10 /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332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F172A"/>
                </a:solidFill>
                <a:latin typeface="Calibri"/>
              </a:rPr>
              <a:t>Figma: Rulers, Guides en Snapping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261872"/>
            <a:ext cx="1645920" cy="73152"/>
          </a:xfrm>
          <a:prstGeom prst="rect">
            <a:avLst/>
          </a:prstGeom>
          <a:gradFill rotWithShape="1">
            <a:gsLst>
              <a:gs pos="0">
                <a:srgbClr val="0D9488"/>
              </a:gs>
              <a:gs pos="100000">
                <a:srgbClr val="06B6D4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1600200"/>
            <a:ext cx="3291840" cy="5029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64208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Rulers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3120"/>
            <a:ext cx="3291840" cy="4251960"/>
          </a:xfrm>
          <a:prstGeom prst="rect">
            <a:avLst/>
          </a:prstGeom>
          <a:solidFill>
            <a:srgbClr val="F8FAFC"/>
          </a:solidFill>
          <a:ln w="9525">
            <a:solidFill>
              <a:srgbClr val="D7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212848"/>
            <a:ext cx="301752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34155"/>
                </a:solidFill>
                <a:latin typeface="Calibri"/>
              </a:rPr>
              <a:t>  •  Toon of verberg: Ctrl+R (Cmd+R)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218688"/>
            <a:ext cx="301752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34155"/>
                </a:solidFill>
                <a:latin typeface="Calibri"/>
              </a:rPr>
              <a:t>  •  Klik en sleep vanuit de ruler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4224528"/>
            <a:ext cx="301752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34155"/>
                </a:solidFill>
                <a:latin typeface="Calibri"/>
              </a:rPr>
              <a:t>  •  Zet gidsen op vaste posities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5230368"/>
            <a:ext cx="301752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34155"/>
                </a:solidFill>
                <a:latin typeface="Calibri"/>
              </a:rPr>
              <a:t>  •  Handig voor paginamarges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62272" y="1600200"/>
            <a:ext cx="3291840" cy="5029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62272" y="1664208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Guides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62272" y="2103120"/>
            <a:ext cx="3291840" cy="4251960"/>
          </a:xfrm>
          <a:prstGeom prst="rect">
            <a:avLst/>
          </a:prstGeom>
          <a:solidFill>
            <a:srgbClr val="F8FAFC"/>
          </a:solidFill>
          <a:ln w="9525">
            <a:solidFill>
              <a:srgbClr val="D7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99432" y="2212848"/>
            <a:ext cx="301752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34155"/>
                </a:solidFill>
                <a:latin typeface="Calibri"/>
              </a:rPr>
              <a:t>  •  Sleep vanuit de ruler naar de canvas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99432" y="3218688"/>
            <a:ext cx="301752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34155"/>
                </a:solidFill>
                <a:latin typeface="Calibri"/>
              </a:rPr>
              <a:t>  •  Dubbelklik om exacte positie in te stellen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99432" y="4224528"/>
            <a:ext cx="301752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34155"/>
                </a:solidFill>
                <a:latin typeface="Calibri"/>
              </a:rPr>
              <a:t>  •  Gidsen snappen automatisch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99432" y="5230368"/>
            <a:ext cx="301752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34155"/>
                </a:solidFill>
                <a:latin typeface="Calibri"/>
              </a:rPr>
              <a:t>  •  Verwijder door terug te slepen naar de ruler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10144" y="1600200"/>
            <a:ext cx="3291840" cy="5029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10144" y="1664208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Snapping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10144" y="2103120"/>
            <a:ext cx="3291840" cy="4251960"/>
          </a:xfrm>
          <a:prstGeom prst="rect">
            <a:avLst/>
          </a:prstGeom>
          <a:solidFill>
            <a:srgbClr val="F8FAFC"/>
          </a:solidFill>
          <a:ln w="9525">
            <a:solidFill>
              <a:srgbClr val="D7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47304" y="2212848"/>
            <a:ext cx="301752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34155"/>
                </a:solidFill>
                <a:latin typeface="Calibri"/>
              </a:rPr>
              <a:t>  •  Automatisch uitlijnen aan andere elementen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47304" y="3218688"/>
            <a:ext cx="301752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34155"/>
                </a:solidFill>
                <a:latin typeface="Calibri"/>
              </a:rPr>
              <a:t>  •  Rode lijnen tonen de uitlijning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47304" y="4224528"/>
            <a:ext cx="301752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34155"/>
                </a:solidFill>
                <a:latin typeface="Calibri"/>
              </a:rPr>
              <a:t>  •  Shift ingedrukt houden om te overbruggen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47304" y="5230368"/>
            <a:ext cx="301752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34155"/>
                </a:solidFill>
                <a:latin typeface="Calibri"/>
              </a:rPr>
              <a:t>  •  Aan of uit via View en dan Snap to objects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430000" y="6492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7487"/>
                </a:solidFill>
                <a:latin typeface="Calibri"/>
              </a:rPr>
              <a:t>11 /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332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F172A"/>
                </a:solidFill>
                <a:latin typeface="Calibri"/>
              </a:rPr>
              <a:t>Figma: Align gereedschappen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261872"/>
            <a:ext cx="1645920" cy="73152"/>
          </a:xfrm>
          <a:prstGeom prst="rect">
            <a:avLst/>
          </a:prstGeom>
          <a:gradFill rotWithShape="1">
            <a:gsLst>
              <a:gs pos="0">
                <a:srgbClr val="0D9488"/>
              </a:gs>
              <a:gs pos="100000">
                <a:srgbClr val="06B6D4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173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647487"/>
                </a:solidFill>
                <a:latin typeface="Calibri"/>
              </a:rPr>
              <a:t>Selecteer meerdere elementen en kijk rechtsboven in het properties panel voor de uitlijningsopties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2011680"/>
            <a:ext cx="2724912" cy="1536192"/>
          </a:xfrm>
          <a:prstGeom prst="rect">
            <a:avLst/>
          </a:prstGeom>
          <a:solidFill>
            <a:srgbClr val="F8FAFC"/>
          </a:solidFill>
          <a:ln w="9525">
            <a:solidFill>
              <a:srgbClr val="D7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2011680"/>
            <a:ext cx="2724912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05840" y="2322576"/>
            <a:ext cx="512064" cy="51206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971800"/>
            <a:ext cx="24505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  <a:latin typeface="Calibri"/>
              </a:rPr>
              <a:t>Links uitlijnen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310128"/>
            <a:ext cx="24505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47487"/>
                </a:solidFill>
                <a:latin typeface="Calibri"/>
              </a:rPr>
              <a:t>Align left edge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40480" y="2011680"/>
            <a:ext cx="2724912" cy="1536192"/>
          </a:xfrm>
          <a:prstGeom prst="rect">
            <a:avLst/>
          </a:prstGeom>
          <a:solidFill>
            <a:srgbClr val="F8FAFC"/>
          </a:solidFill>
          <a:ln w="9525">
            <a:solidFill>
              <a:srgbClr val="D7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840480" y="2011680"/>
            <a:ext cx="2724912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931920" y="2322576"/>
            <a:ext cx="512064" cy="51206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77640" y="2971800"/>
            <a:ext cx="24505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  <a:latin typeface="Calibri"/>
              </a:rPr>
              <a:t>Centreren horizontaal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77640" y="3310128"/>
            <a:ext cx="24505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47487"/>
                </a:solidFill>
                <a:latin typeface="Calibri"/>
              </a:rPr>
              <a:t>Align horizontal center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766560" y="2011680"/>
            <a:ext cx="2724912" cy="1536192"/>
          </a:xfrm>
          <a:prstGeom prst="rect">
            <a:avLst/>
          </a:prstGeom>
          <a:solidFill>
            <a:srgbClr val="F8FAFC"/>
          </a:solidFill>
          <a:ln w="9525">
            <a:solidFill>
              <a:srgbClr val="D7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766560" y="2011680"/>
            <a:ext cx="2724912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858000" y="2322576"/>
            <a:ext cx="512064" cy="512064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03720" y="2971800"/>
            <a:ext cx="24505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  <a:latin typeface="Calibri"/>
              </a:rPr>
              <a:t>Rechts uitlijnen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03720" y="3310128"/>
            <a:ext cx="24505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47487"/>
                </a:solidFill>
                <a:latin typeface="Calibri"/>
              </a:rPr>
              <a:t>Align right edge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692640" y="2011680"/>
            <a:ext cx="2724912" cy="1536192"/>
          </a:xfrm>
          <a:prstGeom prst="rect">
            <a:avLst/>
          </a:prstGeom>
          <a:solidFill>
            <a:srgbClr val="F8FAFC"/>
          </a:solidFill>
          <a:ln w="9525">
            <a:solidFill>
              <a:srgbClr val="D7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692640" y="2011680"/>
            <a:ext cx="2724912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784080" y="2322576"/>
            <a:ext cx="512064" cy="51206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829800" y="2971800"/>
            <a:ext cx="24505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  <a:latin typeface="Calibri"/>
              </a:rPr>
              <a:t>Boven uitlijnen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29800" y="3310128"/>
            <a:ext cx="24505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47487"/>
                </a:solidFill>
                <a:latin typeface="Calibri"/>
              </a:rPr>
              <a:t>Align top edge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14400" y="3749040"/>
            <a:ext cx="2724912" cy="1536192"/>
          </a:xfrm>
          <a:prstGeom prst="rect">
            <a:avLst/>
          </a:prstGeom>
          <a:solidFill>
            <a:srgbClr val="F8FAFC"/>
          </a:solidFill>
          <a:ln w="9525">
            <a:solidFill>
              <a:srgbClr val="D7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14400" y="3749040"/>
            <a:ext cx="2724912" cy="73152"/>
          </a:xfrm>
          <a:prstGeom prst="rect">
            <a:avLst/>
          </a:prstGeom>
          <a:solidFill>
            <a:srgbClr val="8C3C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05840" y="4059936"/>
            <a:ext cx="512064" cy="512064"/>
          </a:xfrm>
          <a:prstGeom prst="ellipse">
            <a:avLst/>
          </a:prstGeom>
          <a:solidFill>
            <a:srgbClr val="8C3C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51560" y="4709160"/>
            <a:ext cx="24505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  <a:latin typeface="Calibri"/>
              </a:rPr>
              <a:t>Centreren verticaal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" y="5047488"/>
            <a:ext cx="24505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47487"/>
                </a:solidFill>
                <a:latin typeface="Calibri"/>
              </a:rPr>
              <a:t>Align vertical center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840480" y="3749040"/>
            <a:ext cx="2724912" cy="1536192"/>
          </a:xfrm>
          <a:prstGeom prst="rect">
            <a:avLst/>
          </a:prstGeom>
          <a:solidFill>
            <a:srgbClr val="F8FAFC"/>
          </a:solidFill>
          <a:ln w="9525">
            <a:solidFill>
              <a:srgbClr val="D7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840480" y="3749040"/>
            <a:ext cx="2724912" cy="7315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931920" y="4059936"/>
            <a:ext cx="512064" cy="512064"/>
          </a:xfrm>
          <a:prstGeom prst="ellipse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977640" y="4709160"/>
            <a:ext cx="24505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  <a:latin typeface="Calibri"/>
              </a:rPr>
              <a:t>Onder uitlijnen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977640" y="5047488"/>
            <a:ext cx="24505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47487"/>
                </a:solidFill>
                <a:latin typeface="Calibri"/>
              </a:rPr>
              <a:t>Align bottom edge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766560" y="3749040"/>
            <a:ext cx="2724912" cy="1536192"/>
          </a:xfrm>
          <a:prstGeom prst="rect">
            <a:avLst/>
          </a:prstGeom>
          <a:solidFill>
            <a:srgbClr val="F8FAFC"/>
          </a:solidFill>
          <a:ln w="9525">
            <a:solidFill>
              <a:srgbClr val="D7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766560" y="3749040"/>
            <a:ext cx="2724912" cy="7315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6858000" y="4059936"/>
            <a:ext cx="512064" cy="512064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903720" y="4709160"/>
            <a:ext cx="24505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  <a:latin typeface="Calibri"/>
              </a:rPr>
              <a:t>Verdelen horizontaal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03720" y="5047488"/>
            <a:ext cx="24505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47487"/>
                </a:solidFill>
                <a:latin typeface="Calibri"/>
              </a:rPr>
              <a:t>Distribute horizontally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692640" y="3749040"/>
            <a:ext cx="2724912" cy="1536192"/>
          </a:xfrm>
          <a:prstGeom prst="rect">
            <a:avLst/>
          </a:prstGeom>
          <a:solidFill>
            <a:srgbClr val="F8FAFC"/>
          </a:solidFill>
          <a:ln w="9525">
            <a:solidFill>
              <a:srgbClr val="D7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692640" y="3749040"/>
            <a:ext cx="2724912" cy="7315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9784080" y="4059936"/>
            <a:ext cx="512064" cy="512064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829800" y="4709160"/>
            <a:ext cx="24505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  <a:latin typeface="Calibri"/>
              </a:rPr>
              <a:t>Verdelen verticaal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829800" y="5047488"/>
            <a:ext cx="24505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47487"/>
                </a:solidFill>
                <a:latin typeface="Calibri"/>
              </a:rPr>
              <a:t>Distribute vertically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430000" y="6492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B4B4C8"/>
                </a:solidFill>
                <a:latin typeface="Calibri"/>
              </a:rPr>
              <a:t>12 / 16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gradFill rotWithShape="1">
            <a:gsLst>
              <a:gs pos="0">
                <a:srgbClr val="0D9488"/>
              </a:gs>
              <a:gs pos="100000">
                <a:srgbClr val="06B6D4"/>
              </a:gs>
            </a:gsLst>
            <a:lin scaled="0" ang="54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572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Wireframe maken, stap voor stap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298448"/>
            <a:ext cx="1828800" cy="73152"/>
          </a:xfrm>
          <a:prstGeom prst="rect">
            <a:avLst/>
          </a:prstGeom>
          <a:gradFill rotWithShape="1">
            <a:gsLst>
              <a:gs pos="0">
                <a:srgbClr val="0D9488"/>
              </a:gs>
              <a:gs pos="100000">
                <a:srgbClr val="06B6D4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17320"/>
            <a:ext cx="10332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A0D2D2"/>
                </a:solidFill>
                <a:latin typeface="Calibri"/>
              </a:rPr>
              <a:t>Goed doel project: eerste schets in Figma</a:t>
            </a:r>
          </a:p>
        </p:txBody>
      </p:sp>
      <p:sp>
        <p:nvSpPr>
          <p:cNvPr id="8" name="Oval 7"/>
          <p:cNvSpPr/>
          <p:nvPr/>
        </p:nvSpPr>
        <p:spPr>
          <a:xfrm>
            <a:off x="914400" y="1764792"/>
            <a:ext cx="365760" cy="36576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801368"/>
            <a:ext cx="4023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1783080"/>
            <a:ext cx="10058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D2E1FF"/>
                </a:solidFill>
                <a:latin typeface="Calibri"/>
              </a:rPr>
              <a:t>Frame aanmaken: F, kies Desktop 1440x1024, naam 'home-wireframe'</a:t>
            </a:r>
          </a:p>
        </p:txBody>
      </p:sp>
      <p:sp>
        <p:nvSpPr>
          <p:cNvPr id="11" name="Oval 10"/>
          <p:cNvSpPr/>
          <p:nvPr/>
        </p:nvSpPr>
        <p:spPr>
          <a:xfrm>
            <a:off x="914400" y="2441448"/>
            <a:ext cx="365760" cy="36576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2478024"/>
            <a:ext cx="4023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2459736"/>
            <a:ext cx="10058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D2E1FF"/>
                </a:solidFill>
                <a:latin typeface="Calibri"/>
              </a:rPr>
              <a:t>Layout grid instellen: 12 kolommen, margin 80px, gutter 24px</a:t>
            </a:r>
          </a:p>
        </p:txBody>
      </p:sp>
      <p:sp>
        <p:nvSpPr>
          <p:cNvPr id="14" name="Oval 13"/>
          <p:cNvSpPr/>
          <p:nvPr/>
        </p:nvSpPr>
        <p:spPr>
          <a:xfrm>
            <a:off x="914400" y="3118104"/>
            <a:ext cx="365760" cy="36576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3154680"/>
            <a:ext cx="4023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3136392"/>
            <a:ext cx="10058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D2E1FF"/>
                </a:solidFill>
                <a:latin typeface="Calibri"/>
              </a:rPr>
              <a:t>Navigatiebalk: rechthoek 1440x80px bovenaan, naam 'nav'</a:t>
            </a:r>
          </a:p>
        </p:txBody>
      </p:sp>
      <p:sp>
        <p:nvSpPr>
          <p:cNvPr id="17" name="Oval 16"/>
          <p:cNvSpPr/>
          <p:nvPr/>
        </p:nvSpPr>
        <p:spPr>
          <a:xfrm>
            <a:off x="914400" y="3794760"/>
            <a:ext cx="365760" cy="36576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" y="3831336"/>
            <a:ext cx="4023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3813048"/>
            <a:ext cx="10058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D2E1FF"/>
                </a:solidFill>
                <a:latin typeface="Calibri"/>
              </a:rPr>
              <a:t>Hero sectie: groot vlak van ongeveer 600px hoog, placeholdertekst voor kop en subtitel</a:t>
            </a:r>
          </a:p>
        </p:txBody>
      </p:sp>
      <p:sp>
        <p:nvSpPr>
          <p:cNvPr id="20" name="Oval 19"/>
          <p:cNvSpPr/>
          <p:nvPr/>
        </p:nvSpPr>
        <p:spPr>
          <a:xfrm>
            <a:off x="914400" y="4471416"/>
            <a:ext cx="365760" cy="36576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2" y="4507992"/>
            <a:ext cx="4023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4489704"/>
            <a:ext cx="10058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D2E1FF"/>
                </a:solidFill>
                <a:latin typeface="Calibri"/>
              </a:rPr>
              <a:t>CTA knop: rechthoek 180x56px binnen de hero, naam 'hero/cta-knop'</a:t>
            </a:r>
          </a:p>
        </p:txBody>
      </p:sp>
      <p:sp>
        <p:nvSpPr>
          <p:cNvPr id="23" name="Oval 22"/>
          <p:cNvSpPr/>
          <p:nvPr/>
        </p:nvSpPr>
        <p:spPr>
          <a:xfrm>
            <a:off x="914400" y="5148072"/>
            <a:ext cx="365760" cy="36576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6112" y="5184648"/>
            <a:ext cx="4023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63040" y="5166360"/>
            <a:ext cx="10058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D2E1FF"/>
                </a:solidFill>
                <a:latin typeface="Calibri"/>
              </a:rPr>
              <a:t>Testimonials: drie gelijke kaarten naast elkaar met 8pt spacing</a:t>
            </a:r>
          </a:p>
        </p:txBody>
      </p:sp>
      <p:sp>
        <p:nvSpPr>
          <p:cNvPr id="26" name="Oval 25"/>
          <p:cNvSpPr/>
          <p:nvPr/>
        </p:nvSpPr>
        <p:spPr>
          <a:xfrm>
            <a:off x="914400" y="5824728"/>
            <a:ext cx="365760" cy="36576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6112" y="5861304"/>
            <a:ext cx="4023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63040" y="5843016"/>
            <a:ext cx="10058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D2E1FF"/>
                </a:solidFill>
                <a:latin typeface="Calibri"/>
              </a:rPr>
              <a:t>Alles in grijstinten, geen kleur. Focus op structuur en verhoudingen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430000" y="6492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7487"/>
                </a:solidFill>
                <a:latin typeface="Calibri"/>
              </a:rPr>
              <a:t>13 /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332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F172A"/>
                </a:solidFill>
                <a:latin typeface="Calibri"/>
              </a:rPr>
              <a:t>Live analyse: whitespace herkennen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261872"/>
            <a:ext cx="1645920" cy="73152"/>
          </a:xfrm>
          <a:prstGeom prst="rect">
            <a:avLst/>
          </a:prstGeom>
          <a:gradFill rotWithShape="1">
            <a:gsLst>
              <a:gs pos="0">
                <a:srgbClr val="0D9488"/>
              </a:gs>
              <a:gs pos="100000">
                <a:srgbClr val="06B6D4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10332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</a:pPr>
            <a:r>
              <a:rPr sz="1900">
                <a:solidFill>
                  <a:srgbClr val="0F172A"/>
                </a:solidFill>
                <a:latin typeface="Calibri"/>
              </a:rPr>
              <a:t>  •  Open apple.com: hoeveel ruimte staat er tussen de elementen?</a:t>
            </a:r>
          </a:p>
          <a:p>
            <a:pPr>
              <a:spcBef>
                <a:spcPts val="700"/>
              </a:spcBef>
            </a:pPr>
            <a:r>
              <a:rPr sz="1900">
                <a:solidFill>
                  <a:srgbClr val="0F172A"/>
                </a:solidFill>
                <a:latin typeface="Calibri"/>
              </a:rPr>
              <a:t>  •  Open een drukke nieuwssite: wat doet het gebrek aan whitespace met je?</a:t>
            </a:r>
          </a:p>
          <a:p>
            <a:pPr>
              <a:spcBef>
                <a:spcPts val="700"/>
              </a:spcBef>
            </a:pPr>
            <a:r>
              <a:rPr sz="1900">
                <a:solidFill>
                  <a:srgbClr val="0F172A"/>
                </a:solidFill>
                <a:latin typeface="Calibri"/>
              </a:rPr>
              <a:t>  •  Kijk naar de hero sectie: hoe groot is de marge rondom de kop?</a:t>
            </a:r>
          </a:p>
          <a:p>
            <a:pPr>
              <a:spcBef>
                <a:spcPts val="700"/>
              </a:spcBef>
            </a:pPr>
            <a:r>
              <a:rPr sz="1900">
                <a:solidFill>
                  <a:srgbClr val="0F172A"/>
                </a:solidFill>
                <a:latin typeface="Calibri"/>
              </a:rPr>
              <a:t>  •  Vergelijk de knoppen: hoeveel padding zit er in de CTA?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4462272"/>
            <a:ext cx="10332720" cy="2057400"/>
          </a:xfrm>
          <a:prstGeom prst="rect">
            <a:avLst/>
          </a:prstGeom>
          <a:solidFill>
            <a:srgbClr val="F8FAFC"/>
          </a:solidFill>
          <a:ln w="9525">
            <a:solidFill>
              <a:srgbClr val="D7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4462272"/>
            <a:ext cx="64008" cy="2057400"/>
          </a:xfrm>
          <a:prstGeom prst="rect">
            <a:avLst/>
          </a:prstGeom>
          <a:gradFill rotWithShape="1">
            <a:gsLst>
              <a:gs pos="0">
                <a:srgbClr val="0D9488"/>
              </a:gs>
              <a:gs pos="100000">
                <a:srgbClr val="06B6D4"/>
              </a:gs>
            </a:gsLst>
            <a:lin scaled="0" ang="54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4590288"/>
            <a:ext cx="99486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  <a:latin typeface="Calibri"/>
              </a:rPr>
              <a:t>Observatieopdracht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5029200"/>
            <a:ext cx="9948672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34155"/>
                </a:solidFill>
                <a:latin typeface="Calibri"/>
              </a:rPr>
              <a:t>Kijk naar de wireframe van een medestudent. Benoem 2 plekken waar meer whitespace zou helpen en 2 plekken waar het al goed werkt. Geef mondeling feedback.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430000" y="6492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7487"/>
                </a:solidFill>
                <a:latin typeface="Calibri"/>
              </a:rPr>
              <a:t>14 /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332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F172A"/>
                </a:solidFill>
                <a:latin typeface="Calibri"/>
              </a:rPr>
              <a:t>Bronnen en verdieping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261872"/>
            <a:ext cx="1645920" cy="73152"/>
          </a:xfrm>
          <a:prstGeom prst="rect">
            <a:avLst/>
          </a:prstGeom>
          <a:gradFill rotWithShape="1">
            <a:gsLst>
              <a:gs pos="0">
                <a:srgbClr val="0D9488"/>
              </a:gs>
              <a:gs pos="100000">
                <a:srgbClr val="06B6D4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1600200"/>
            <a:ext cx="10332720" cy="749808"/>
          </a:xfrm>
          <a:prstGeom prst="rect">
            <a:avLst/>
          </a:prstGeom>
          <a:solidFill>
            <a:srgbClr val="F8FAFC"/>
          </a:solidFill>
          <a:ln w="9525">
            <a:solidFill>
              <a:srgbClr val="D7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1600200"/>
            <a:ext cx="64008" cy="749808"/>
          </a:xfrm>
          <a:prstGeom prst="rect">
            <a:avLst/>
          </a:prstGeom>
          <a:gradFill rotWithShape="1">
            <a:gsLst>
              <a:gs pos="0">
                <a:srgbClr val="0D9488"/>
              </a:gs>
              <a:gs pos="100000">
                <a:srgbClr val="06B6D4"/>
              </a:gs>
            </a:gsLst>
            <a:lin scaled="0" ang="54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176479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172A"/>
                </a:solidFill>
                <a:latin typeface="Calibri"/>
              </a:rPr>
              <a:t>8pt grid systeem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1783080"/>
            <a:ext cx="72511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D9488"/>
                </a:solidFill>
                <a:latin typeface="Calibri"/>
              </a:rPr>
              <a:t>spec.fm/specifics/8-pt-grid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2496312"/>
            <a:ext cx="10332720" cy="749808"/>
          </a:xfrm>
          <a:prstGeom prst="rect">
            <a:avLst/>
          </a:prstGeom>
          <a:solidFill>
            <a:srgbClr val="F8FAFC"/>
          </a:solidFill>
          <a:ln w="9525">
            <a:solidFill>
              <a:srgbClr val="D7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400" y="2496312"/>
            <a:ext cx="64008" cy="749808"/>
          </a:xfrm>
          <a:prstGeom prst="rect">
            <a:avLst/>
          </a:prstGeom>
          <a:gradFill rotWithShape="1">
            <a:gsLst>
              <a:gs pos="0">
                <a:srgbClr val="2563EB"/>
              </a:gs>
              <a:gs pos="100000">
                <a:srgbClr val="06B6D4"/>
              </a:gs>
            </a:gsLst>
            <a:lin scaled="0" ang="54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2660904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172A"/>
                </a:solidFill>
                <a:latin typeface="Calibri"/>
              </a:rPr>
              <a:t>Whitespace in UX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2679192"/>
            <a:ext cx="72511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563EB"/>
                </a:solidFill>
                <a:latin typeface="Calibri"/>
              </a:rPr>
              <a:t>interaction-design.org, zoek op 'white space'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3392424"/>
            <a:ext cx="10332720" cy="749808"/>
          </a:xfrm>
          <a:prstGeom prst="rect">
            <a:avLst/>
          </a:prstGeom>
          <a:solidFill>
            <a:srgbClr val="F8FAFC"/>
          </a:solidFill>
          <a:ln w="9525">
            <a:solidFill>
              <a:srgbClr val="D7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14400" y="3392424"/>
            <a:ext cx="64008" cy="749808"/>
          </a:xfrm>
          <a:prstGeom prst="rect">
            <a:avLst/>
          </a:prstGeom>
          <a:gradFill rotWithShape="1">
            <a:gsLst>
              <a:gs pos="0">
                <a:srgbClr val="3B82F6"/>
              </a:gs>
              <a:gs pos="100000">
                <a:srgbClr val="06B6D4"/>
              </a:gs>
            </a:gsLst>
            <a:lin scaled="0" ang="54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3557016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172A"/>
                </a:solidFill>
                <a:latin typeface="Calibri"/>
              </a:rPr>
              <a:t>F-patroon scangedrag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0" y="3575304"/>
            <a:ext cx="72511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B82F6"/>
                </a:solidFill>
                <a:latin typeface="Calibri"/>
              </a:rPr>
              <a:t>nngroup.com/articles/f-shaped-pattern-reading-web-content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" y="4288536"/>
            <a:ext cx="10332720" cy="749808"/>
          </a:xfrm>
          <a:prstGeom prst="rect">
            <a:avLst/>
          </a:prstGeom>
          <a:solidFill>
            <a:srgbClr val="F8FAFC"/>
          </a:solidFill>
          <a:ln w="9525">
            <a:solidFill>
              <a:srgbClr val="D7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4400" y="4288536"/>
            <a:ext cx="64008" cy="749808"/>
          </a:xfrm>
          <a:prstGeom prst="rect">
            <a:avLst/>
          </a:prstGeom>
          <a:gradFill rotWithShape="1">
            <a:gsLst>
              <a:gs pos="0">
                <a:srgbClr val="7C3AED"/>
              </a:gs>
              <a:gs pos="100000">
                <a:srgbClr val="06B6D4"/>
              </a:gs>
            </a:gsLst>
            <a:lin scaled="0" ang="54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4453128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172A"/>
                </a:solidFill>
                <a:latin typeface="Calibri"/>
              </a:rPr>
              <a:t>Every Layout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0" y="4471416"/>
            <a:ext cx="72511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7C3AED"/>
                </a:solidFill>
                <a:latin typeface="Calibri"/>
              </a:rPr>
              <a:t>every-layout.dev, gratis boek over CSS layout principes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4400" y="5184648"/>
            <a:ext cx="10332720" cy="749808"/>
          </a:xfrm>
          <a:prstGeom prst="rect">
            <a:avLst/>
          </a:prstGeom>
          <a:solidFill>
            <a:srgbClr val="F8FAFC"/>
          </a:solidFill>
          <a:ln w="9525">
            <a:solidFill>
              <a:srgbClr val="D7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14400" y="5184648"/>
            <a:ext cx="64008" cy="749808"/>
          </a:xfrm>
          <a:prstGeom prst="rect">
            <a:avLst/>
          </a:prstGeom>
          <a:gradFill rotWithShape="1">
            <a:gsLst>
              <a:gs pos="0">
                <a:srgbClr val="1E3A8A"/>
              </a:gs>
              <a:gs pos="100000">
                <a:srgbClr val="06B6D4"/>
              </a:gs>
            </a:gsLst>
            <a:lin scaled="0" ang="54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43000" y="534924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172A"/>
                </a:solidFill>
                <a:latin typeface="Calibri"/>
              </a:rPr>
              <a:t>Visual hierarchy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40480" y="5367528"/>
            <a:ext cx="72511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E3A8A"/>
                </a:solidFill>
                <a:latin typeface="Calibri"/>
              </a:rPr>
              <a:t>nngroup.com/articles/visual-hierarchy-ux-definition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430000" y="6492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B4B4C8"/>
                </a:solidFill>
                <a:latin typeface="Calibri"/>
              </a:rPr>
              <a:t>15 / 16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gradFill rotWithShape="1">
            <a:gsLst>
              <a:gs pos="0">
                <a:srgbClr val="0D9488"/>
              </a:gs>
              <a:gs pos="100000">
                <a:srgbClr val="06B6D4"/>
              </a:gs>
            </a:gsLst>
            <a:lin scaled="0" ang="54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1148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Opdracht  ·  Les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24128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A0D2D2"/>
                </a:solidFill>
                <a:latin typeface="Calibri"/>
              </a:rPr>
              <a:t>Goed Doel Website  ·  Wireframe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1417320"/>
            <a:ext cx="2011680" cy="73152"/>
          </a:xfrm>
          <a:prstGeom prst="rect">
            <a:avLst/>
          </a:prstGeom>
          <a:gradFill rotWithShape="1">
            <a:gsLst>
              <a:gs pos="0">
                <a:srgbClr val="0D9488"/>
              </a:gs>
              <a:gs pos="100000">
                <a:srgbClr val="06B6D4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14400" y="1655064"/>
            <a:ext cx="365760" cy="36576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691640"/>
            <a:ext cx="365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1682496"/>
            <a:ext cx="10149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D2E1FF"/>
                </a:solidFill>
                <a:latin typeface="Calibri"/>
              </a:rPr>
              <a:t>Open je Figma bestand van les 1</a:t>
            </a:r>
          </a:p>
        </p:txBody>
      </p:sp>
      <p:sp>
        <p:nvSpPr>
          <p:cNvPr id="11" name="Oval 10"/>
          <p:cNvSpPr/>
          <p:nvPr/>
        </p:nvSpPr>
        <p:spPr>
          <a:xfrm>
            <a:off x="914400" y="2359152"/>
            <a:ext cx="365760" cy="36576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2395728"/>
            <a:ext cx="365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2386584"/>
            <a:ext cx="10149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D2E1FF"/>
                </a:solidFill>
                <a:latin typeface="Calibri"/>
              </a:rPr>
              <a:t>Maak een nieuw frame: Desktop 1440x1024, naam 'home-wireframe'</a:t>
            </a:r>
          </a:p>
        </p:txBody>
      </p:sp>
      <p:sp>
        <p:nvSpPr>
          <p:cNvPr id="14" name="Oval 13"/>
          <p:cNvSpPr/>
          <p:nvPr/>
        </p:nvSpPr>
        <p:spPr>
          <a:xfrm>
            <a:off x="914400" y="3063240"/>
            <a:ext cx="365760" cy="36576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3099816"/>
            <a:ext cx="365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3090672"/>
            <a:ext cx="10149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D2E1FF"/>
                </a:solidFill>
                <a:latin typeface="Calibri"/>
              </a:rPr>
              <a:t>Stel een 12-koloms layout grid in met margin 80px en gutter 24px</a:t>
            </a:r>
          </a:p>
        </p:txBody>
      </p:sp>
      <p:sp>
        <p:nvSpPr>
          <p:cNvPr id="17" name="Oval 16"/>
          <p:cNvSpPr/>
          <p:nvPr/>
        </p:nvSpPr>
        <p:spPr>
          <a:xfrm>
            <a:off x="914400" y="3767328"/>
            <a:ext cx="365760" cy="36576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" y="3803904"/>
            <a:ext cx="365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3794760"/>
            <a:ext cx="10149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D2E1FF"/>
                </a:solidFill>
                <a:latin typeface="Calibri"/>
              </a:rPr>
              <a:t>Bouw in grijstinten: navigatiebalk, hero met CTA knop en drie testimonial-kaarten</a:t>
            </a:r>
          </a:p>
        </p:txBody>
      </p:sp>
      <p:sp>
        <p:nvSpPr>
          <p:cNvPr id="20" name="Oval 19"/>
          <p:cNvSpPr/>
          <p:nvPr/>
        </p:nvSpPr>
        <p:spPr>
          <a:xfrm>
            <a:off x="914400" y="4471416"/>
            <a:ext cx="365760" cy="365760"/>
          </a:xfrm>
          <a:prstGeom prst="ellipse">
            <a:avLst/>
          </a:prstGeom>
          <a:solidFill>
            <a:srgbClr val="639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2" y="4507992"/>
            <a:ext cx="365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4498848"/>
            <a:ext cx="10149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D2E1FF"/>
                </a:solidFill>
                <a:latin typeface="Calibri"/>
              </a:rPr>
              <a:t>Gebruik 8pt spacing overal, controleer alle afstanden</a:t>
            </a:r>
          </a:p>
        </p:txBody>
      </p:sp>
      <p:sp>
        <p:nvSpPr>
          <p:cNvPr id="23" name="Oval 22"/>
          <p:cNvSpPr/>
          <p:nvPr/>
        </p:nvSpPr>
        <p:spPr>
          <a:xfrm>
            <a:off x="914400" y="5175504"/>
            <a:ext cx="365760" cy="365760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6112" y="5212080"/>
            <a:ext cx="365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63040" y="5202936"/>
            <a:ext cx="10149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D2E1FF"/>
                </a:solidFill>
                <a:latin typeface="Calibri"/>
              </a:rPr>
              <a:t>Benoem alle lagen goed: 'nav', 'hero/kop', 'testimonial-1' enzovoort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4400" y="6126480"/>
            <a:ext cx="10817352" cy="594360"/>
          </a:xfrm>
          <a:prstGeom prst="rect">
            <a:avLst/>
          </a:prstGeom>
          <a:solidFill>
            <a:srgbClr val="14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6263640"/>
            <a:ext cx="102687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A0D2D2"/>
                </a:solidFill>
                <a:latin typeface="Calibri"/>
              </a:rPr>
              <a:t>Inleveren: Figma link via de leeromgeving voor het begin van les 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430000" y="6492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B4B4C8"/>
                </a:solidFill>
                <a:latin typeface="Calibri"/>
              </a:rPr>
              <a:t>16 / 16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gradFill rotWithShape="1">
            <a:gsLst>
              <a:gs pos="0">
                <a:srgbClr val="0D9488"/>
              </a:gs>
              <a:gs pos="100000">
                <a:srgbClr val="06B6D4"/>
              </a:gs>
            </a:gsLst>
            <a:lin scaled="0" ang="54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Volgende 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29968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06B6D4"/>
                </a:solidFill>
                <a:latin typeface="Calibri"/>
              </a:rPr>
              <a:t>Typografie en Legibility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2596896"/>
            <a:ext cx="2286000" cy="82296"/>
          </a:xfrm>
          <a:prstGeom prst="rect">
            <a:avLst/>
          </a:prstGeom>
          <a:gradFill rotWithShape="1">
            <a:gsLst>
              <a:gs pos="0">
                <a:srgbClr val="0D9488"/>
              </a:gs>
              <a:gs pos="100000">
                <a:srgbClr val="06B6D4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2852928"/>
            <a:ext cx="10817352" cy="685800"/>
          </a:xfrm>
          <a:prstGeom prst="rect">
            <a:avLst/>
          </a:prstGeom>
          <a:solidFill>
            <a:srgbClr val="0F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0" y="2852928"/>
            <a:ext cx="64008" cy="685800"/>
          </a:xfrm>
          <a:prstGeom prst="rect">
            <a:avLst/>
          </a:prstGeom>
          <a:gradFill rotWithShape="1">
            <a:gsLst>
              <a:gs pos="0">
                <a:srgbClr val="0D9488"/>
              </a:gs>
              <a:gs pos="100000">
                <a:srgbClr val="06B6D4"/>
              </a:gs>
            </a:gsLst>
            <a:lin scaled="0" ang="54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2926080"/>
            <a:ext cx="103601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D2E1FF"/>
                </a:solidFill>
                <a:latin typeface="Calibri"/>
              </a:rPr>
              <a:t>Type scale van H1 tot body text: hoe maak je een systeem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3694176"/>
            <a:ext cx="10817352" cy="685800"/>
          </a:xfrm>
          <a:prstGeom prst="rect">
            <a:avLst/>
          </a:prstGeom>
          <a:solidFill>
            <a:srgbClr val="0F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" y="3694176"/>
            <a:ext cx="64008" cy="685800"/>
          </a:xfrm>
          <a:prstGeom prst="rect">
            <a:avLst/>
          </a:prstGeom>
          <a:gradFill rotWithShape="1">
            <a:gsLst>
              <a:gs pos="0">
                <a:srgbClr val="0D9488"/>
              </a:gs>
              <a:gs pos="100000">
                <a:srgbClr val="06B6D4"/>
              </a:gs>
            </a:gsLst>
            <a:lin scaled="0" ang="54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3767328"/>
            <a:ext cx="103601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D2E1FF"/>
                </a:solidFill>
                <a:latin typeface="Calibri"/>
              </a:rPr>
              <a:t>Line-height, letter-spacing en maximale regellengte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4535424"/>
            <a:ext cx="10817352" cy="685800"/>
          </a:xfrm>
          <a:prstGeom prst="rect">
            <a:avLst/>
          </a:prstGeom>
          <a:solidFill>
            <a:srgbClr val="0F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14400" y="4535424"/>
            <a:ext cx="64008" cy="685800"/>
          </a:xfrm>
          <a:prstGeom prst="rect">
            <a:avLst/>
          </a:prstGeom>
          <a:gradFill rotWithShape="1">
            <a:gsLst>
              <a:gs pos="0">
                <a:srgbClr val="0D9488"/>
              </a:gs>
              <a:gs pos="100000">
                <a:srgbClr val="06B6D4"/>
              </a:gs>
            </a:gsLst>
            <a:lin scaled="0" ang="54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4608576"/>
            <a:ext cx="103601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D2E1FF"/>
                </a:solidFill>
                <a:latin typeface="Calibri"/>
              </a:rPr>
              <a:t>Lettertypes kiezen: wanneer serif en wanneer sans-serif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5376672"/>
            <a:ext cx="10817352" cy="685800"/>
          </a:xfrm>
          <a:prstGeom prst="rect">
            <a:avLst/>
          </a:prstGeom>
          <a:solidFill>
            <a:srgbClr val="0F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14400" y="5376672"/>
            <a:ext cx="64008" cy="685800"/>
          </a:xfrm>
          <a:prstGeom prst="rect">
            <a:avLst/>
          </a:prstGeom>
          <a:gradFill rotWithShape="1">
            <a:gsLst>
              <a:gs pos="0">
                <a:srgbClr val="0D9488"/>
              </a:gs>
              <a:gs pos="100000">
                <a:srgbClr val="06B6D4"/>
              </a:gs>
            </a:gsLst>
            <a:lin scaled="0" ang="54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5449824"/>
            <a:ext cx="103601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D2E1FF"/>
                </a:solidFill>
                <a:latin typeface="Calibri"/>
              </a:rPr>
              <a:t>Tekststijlen aanmaken en beheren in Figma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" y="6108192"/>
            <a:ext cx="10817352" cy="594360"/>
          </a:xfrm>
          <a:prstGeom prst="rect">
            <a:avLst/>
          </a:prstGeom>
          <a:solidFill>
            <a:srgbClr val="0A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" y="6245352"/>
            <a:ext cx="102687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A0D2D2"/>
                </a:solidFill>
                <a:latin typeface="Calibri"/>
              </a:rPr>
              <a:t>Tip: kijk op fonts.google.com/knowledge voor uitstekende achtergrondlectuur over typografie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