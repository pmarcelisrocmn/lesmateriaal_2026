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Welkom bij les 1. Vandaag starten we breed: wat is design? Daarna maken we kennis met Figma.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de agenda door. We beginnen met theorie en eindigen concreet in Figma.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Gebruik twee concrete voorbeelden: een mooie maar onbruikbare site, en Google homepage 1998.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vaardigheden overlappen: kleur, compositie, typografie. Maar design werkt altijd in dienst van iemand anders.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deze quote even staan. Vraag studenten: wanneer heb jij voor het laatst gefrustreerd een website verlaten?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 boek is van 2000 maar de principes zijn tijdloos. Niets aan ons scangedrag is veranderd, eerder erger geworden door social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nngroup.com in de browser en laat de echte heatmaps zien. Vraag: hoe schrijf je koppen zodat ze ook los van de rest betekenis hebben?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het voorbeeld: een sollicitatiebrief per WhatsApp vs. per e-mail vs. op papier. Identieke inhoud, compleet andere boodschap.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Vraag studenten: gebruik jij dezelfde apps anders op je telefoon dan op een laptop? Wat doe je anders?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Zoek 'Norman door Vox' op YouTube, 4 minuten. Vraag daarna: welk webdesign-equivalent heb jij deze week meegemaakt?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Interactief moment, geen slides nodig. Open de browser. Stel vragen aan de klas. Houd het bij 5 minuten per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studenten 5 minuten om een account aan te maken. Gebruik schoolmailadres voor het gratis Education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dit nu zien in Figma. Wijs de 4 zones aan, klik erop. Studenten openen tegelijk hun eigen Figma.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druk F, kies Desktop, geef de naam 'home'. Druk daarna F opnieuw en kies iPhone 14. Laat zien hoe je beide naast elkaar kunt hebben.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studenten 3 rechthoeken plaatsen en benoemen. Laat dan zien wat er gebeurt als je een bestand deelt met verkeerde namen.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maak een button. Rechthoek (R), tekst (T), centreer de tekst. Verander kleur via het properties panel rechts.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de laatste 15 minuten om te starten. Loop rond. Veel studenten hebben moeite met tekst in Figma, leg dat even extra 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Sluit de les af. Vraag nog of iedereen een Figma account heeft en de opdracht begrijpt.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8686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Wat is Design?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2560320" cy="9144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B9E6"/>
                </a:solidFill>
                <a:latin typeface="Calibri"/>
              </a:rPr>
              <a:t>Periode 1  ·  Les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82B4"/>
                </a:solidFill>
                <a:latin typeface="Calibri"/>
              </a:rPr>
              <a:t>Design voor het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Vandaag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37360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92224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Calibri"/>
              </a:rPr>
              <a:t>Wat is design en wat niet</a:t>
            </a:r>
          </a:p>
        </p:txBody>
      </p:sp>
      <p:sp>
        <p:nvSpPr>
          <p:cNvPr id="9" name="Oval 8"/>
          <p:cNvSpPr/>
          <p:nvPr/>
        </p:nvSpPr>
        <p:spPr>
          <a:xfrm>
            <a:off x="1033272" y="2624328"/>
            <a:ext cx="402336" cy="402336"/>
          </a:xfrm>
          <a:prstGeom prst="ellipse">
            <a:avLst/>
          </a:prstGeom>
          <a:solidFill>
            <a:srgbClr val="4F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67919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Calibri"/>
              </a:rPr>
              <a:t>Hoe denkt een gebruiker?</a:t>
            </a:r>
          </a:p>
        </p:txBody>
      </p:sp>
      <p:sp>
        <p:nvSpPr>
          <p:cNvPr id="12" name="Oval 11"/>
          <p:cNvSpPr/>
          <p:nvPr/>
        </p:nvSpPr>
        <p:spPr>
          <a:xfrm>
            <a:off x="1033272" y="3511296"/>
            <a:ext cx="402336" cy="402336"/>
          </a:xfrm>
          <a:prstGeom prst="ellipse">
            <a:avLst/>
          </a:prstGeom>
          <a:solidFill>
            <a:srgbClr val="639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566160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38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Calibri"/>
              </a:rPr>
              <a:t>Het kanaal bepaalt de boodschap</a:t>
            </a:r>
          </a:p>
        </p:txBody>
      </p:sp>
      <p:sp>
        <p:nvSpPr>
          <p:cNvPr id="15" name="Oval 14"/>
          <p:cNvSpPr/>
          <p:nvPr/>
        </p:nvSpPr>
        <p:spPr>
          <a:xfrm>
            <a:off x="1033272" y="4398264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453128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4256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Calibri"/>
              </a:rPr>
              <a:t>Kennismaking met Figma</a:t>
            </a:r>
          </a:p>
        </p:txBody>
      </p:sp>
      <p:sp>
        <p:nvSpPr>
          <p:cNvPr id="18" name="Oval 17"/>
          <p:cNvSpPr/>
          <p:nvPr/>
        </p:nvSpPr>
        <p:spPr>
          <a:xfrm>
            <a:off x="1033272" y="5285232"/>
            <a:ext cx="402336" cy="402336"/>
          </a:xfrm>
          <a:prstGeom prst="ellipse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534009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3126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Calibri"/>
              </a:rPr>
              <a:t>Opdracht van vandaag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3 /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60E2C"/>
              </a:gs>
              <a:gs pos="100000">
                <a:srgbClr val="14286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6B6D4"/>
                </a:solidFill>
                <a:latin typeface="Calibri"/>
              </a:rPr>
              <a:t>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Iets mooi
maken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6766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Design lost een probleem op voor een gebruiker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Mooi zijn is een bijproduct, niet het doel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Slecht design kan er prachtig uitzien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Goed design kan sober zijn en perfect werken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4434840"/>
            <a:ext cx="685800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0" y="4434840"/>
            <a:ext cx="64008" cy="1920240"/>
          </a:xfrm>
          <a:prstGeom prst="rect">
            <a:avLst/>
          </a:prstGeom>
          <a:gradFill rotWithShape="1">
            <a:gsLst>
              <a:gs pos="0">
                <a:srgbClr val="060E2C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4562856"/>
            <a:ext cx="6473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F172A"/>
                </a:solidFill>
                <a:latin typeface="Calibri"/>
              </a:rPr>
              <a:t>"Design is not just what it looks like. Design is how it works."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5797296"/>
            <a:ext cx="6473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7"/>
                </a:solidFill>
                <a:latin typeface="Calibri"/>
              </a:rPr>
              <a:t>Steve Jobs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Design vs. Kunst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5029200" cy="502920"/>
          </a:xfrm>
          <a:prstGeom prst="rect">
            <a:avLst/>
          </a:prstGeom>
          <a:solidFill>
            <a:srgbClr val="06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502920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5029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1284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In dienst van een doel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08960"/>
            <a:ext cx="5029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1868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Altijd een gebruiker centraal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5029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2452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Meetbaar: werkt het?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120640"/>
            <a:ext cx="5029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3036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Beperkingen zijn het spel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00200"/>
            <a:ext cx="5029200" cy="502920"/>
          </a:xfrm>
          <a:prstGeom prst="rect">
            <a:avLst/>
          </a:prstGeom>
          <a:solidFill>
            <a:srgbClr val="501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642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Kunst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103120"/>
            <a:ext cx="502920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103120"/>
            <a:ext cx="5029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21284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Vrije expressie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108960"/>
            <a:ext cx="5029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21868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Publiek is optioneel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4114800"/>
            <a:ext cx="5029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2452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Subjectief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5120640"/>
            <a:ext cx="5029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23036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Beperkingen zijn een hindernis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29107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47487"/>
                </a:solidFill>
                <a:latin typeface="Calibri"/>
              </a:rPr>
              <a:t>Zelfde vaardigheden, andere intentie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5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4D2FF"/>
                </a:solidFill>
                <a:latin typeface="Calibri"/>
              </a:rPr>
              <a:t>De vraag die je altijd moet stellen: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"Kan mijn gebruiker zonder na te denken
doen wat ze wil doen?"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023360"/>
            <a:ext cx="3931920" cy="82296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4D2FF"/>
                </a:solidFill>
                <a:latin typeface="Calibri"/>
              </a:rPr>
              <a:t>Steve Krug,  Don't Make Me Think  (2000)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Don't Make Me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72768"/>
            <a:ext cx="4389120" cy="457200"/>
          </a:xfrm>
          <a:prstGeom prst="rect">
            <a:avLst/>
          </a:prstGeom>
          <a:solidFill>
            <a:srgbClr val="06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27632"/>
            <a:ext cx="4041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Steve Krug  ·  2000, nog steeds actueel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Gebruikers scannen pagina's, ze lezen niet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Ze klikken op het eerste dat redelijk lijkt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Elk vraagteken kost mentale energie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Jouw design moet zo vanzelfsprekend zijn dat niemand nadenkt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De gebruiker is druk, gehaast en minder zorgvuldig dan jij hoopt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3383280" cy="4937760"/>
          </a:xfrm>
          <a:prstGeom prst="rect">
            <a:avLst/>
          </a:prstGeom>
          <a:solidFill>
            <a:srgbClr val="06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508760"/>
            <a:ext cx="338328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B9E6"/>
                </a:solidFill>
                <a:latin typeface="Calibri"/>
              </a:rPr>
              <a:t>Vragen van je gebruiker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2240280"/>
            <a:ext cx="3017520" cy="749808"/>
          </a:xfrm>
          <a:prstGeom prst="rect">
            <a:avLst/>
          </a:prstGeom>
          <a:solidFill>
            <a:srgbClr val="1E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233172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  <a:latin typeface="Calibri"/>
              </a:rPr>
              <a:t>?  Waar moet ik klikken?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3154680"/>
            <a:ext cx="3017520" cy="749808"/>
          </a:xfrm>
          <a:prstGeom prst="rect">
            <a:avLst/>
          </a:prstGeom>
          <a:solidFill>
            <a:srgbClr val="1E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324612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  <a:latin typeface="Calibri"/>
              </a:rPr>
              <a:t>?  Wat doet dit?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4069080"/>
            <a:ext cx="3017520" cy="749808"/>
          </a:xfrm>
          <a:prstGeom prst="rect">
            <a:avLst/>
          </a:prstGeom>
          <a:solidFill>
            <a:srgbClr val="1E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416052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  <a:latin typeface="Calibri"/>
              </a:rPr>
              <a:t>?  Ben ik op de goede pagina?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4983480"/>
            <a:ext cx="3017520" cy="749808"/>
          </a:xfrm>
          <a:prstGeom prst="rect">
            <a:avLst/>
          </a:prstGeom>
          <a:solidFill>
            <a:srgbClr val="1E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9952" y="507492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  <a:latin typeface="Calibri"/>
              </a:rPr>
              <a:t>?  Hoe ga ik terug?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0350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82B4"/>
                </a:solidFill>
                <a:latin typeface="Calibri"/>
              </a:rPr>
              <a:t>Elk vraagteken is een gefrustreerde gebruiker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Zo lezen gebruikers een pagina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Gebruikers volgen een F-patroon (Nielsen Norman Group, 2006)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Bovenaan links krijgt de meeste aandacht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Eerste woorden van elke zin zijn het belangrijkst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Koppen worden gelezen, lopende tekst nauwelijks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Zet kritieke informatie bovenaan en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7"/>
                </a:solidFill>
                <a:latin typeface="Calibri"/>
              </a:rPr>
              <a:t>nngroup.com  ·  f-shaped-pattern-reading-web-content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417320"/>
            <a:ext cx="3886200" cy="4846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417320"/>
            <a:ext cx="388620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37360"/>
            <a:ext cx="34290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2578608"/>
            <a:ext cx="2286000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3419856"/>
            <a:ext cx="1188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4261104"/>
            <a:ext cx="1188720" cy="548640"/>
          </a:xfrm>
          <a:prstGeom prst="rect">
            <a:avLst/>
          </a:prstGeom>
          <a:solidFill>
            <a:srgbClr val="B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5102352"/>
            <a:ext cx="1188720" cy="548640"/>
          </a:xfrm>
          <a:prstGeom prst="rect">
            <a:avLst/>
          </a:prstGeom>
          <a:solidFill>
            <a:srgbClr val="B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633679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7"/>
                </a:solidFill>
                <a:latin typeface="Calibri"/>
              </a:rPr>
              <a:t>Simulatie heatmap  ·  rood = meest bekeken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8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Medium is the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C8DCFF"/>
                </a:solidFill>
                <a:latin typeface="Calibri"/>
              </a:rPr>
              <a:t>  •  Marshall McLuhan, filosoof en mediatheoreticus (1964)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C8DCFF"/>
                </a:solidFill>
                <a:latin typeface="Calibri"/>
              </a:rPr>
              <a:t>  •  Het kanaal dat je kiest communiceert al iets, voor je eerste woord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C8DCFF"/>
                </a:solidFill>
                <a:latin typeface="Calibri"/>
              </a:rPr>
              <a:t>  •  Zelfde bericht via SMS, brief of telefoongesprek: compleet anders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C8DCFF"/>
                </a:solidFill>
                <a:latin typeface="Calibri"/>
              </a:rPr>
              <a:t>  •  Desktop en mobiel zijn twee verschillende media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10332720" cy="1783080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73152" cy="17830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754880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libri"/>
              </a:rPr>
              <a:t>"The medium is the message."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0B9E6"/>
                </a:solidFill>
                <a:latin typeface="Calibri"/>
              </a:rPr>
              <a:t>Marshall McLuhan,  Understanding Media  (1964)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9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Hetzelfde design, andere ervaring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3429000" cy="502920"/>
          </a:xfrm>
          <a:prstGeom prst="rect">
            <a:avLst/>
          </a:prstGeom>
          <a:solidFill>
            <a:srgbClr val="06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Desktop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3429000" cy="434340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1284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Muis en toetsenbord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44368"/>
            <a:ext cx="3429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054096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Grote viewport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85616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95344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Hover states werken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626864"/>
            <a:ext cx="3429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36592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Gefocuste sessie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468112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7784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Meer ruimte voor inhoud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2856" y="1600200"/>
            <a:ext cx="3429000" cy="50292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166420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Tablet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2856" y="2103120"/>
            <a:ext cx="3429000" cy="434340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62856" y="2103120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221284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Aanraking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62856" y="2944368"/>
            <a:ext cx="3429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054096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Middelgrote viewport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62856" y="3785616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3895344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Beperkte hover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2856" y="4626864"/>
            <a:ext cx="3429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736592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Half zittend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62856" y="5468112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557784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Flexibele sessie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11312" y="1600200"/>
            <a:ext cx="34290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166420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Mobiel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11312" y="2103120"/>
            <a:ext cx="3429000" cy="434340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11312" y="2103120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221284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Vinger, thumb zone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11312" y="2944368"/>
            <a:ext cx="3429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3054096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Kleine viewport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2" y="3785616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2" y="3895344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Geen hover states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11312" y="4626864"/>
            <a:ext cx="3429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48472" y="4736592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Onderweg, gehaast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11312" y="5468112"/>
            <a:ext cx="3429000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2" y="557784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Versnipperde aandacht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5105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47487"/>
                </a:solidFill>
                <a:latin typeface="Calibri"/>
              </a:rPr>
              <a:t>Responsive design is niet alleen technisch, het is een designvraag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10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Goed design valt niet op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Als iets goed werkt, merk je het niet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Als iets slecht werkt, merk je het meteen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Don Norman (1988): een deur met trekhandvat die je moet duwen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Het design geeft de verkeerde aanwijzing en dat leidt tot frustratie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10332720" cy="221284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64008" cy="22128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425696"/>
            <a:ext cx="9948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Norman 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64608"/>
            <a:ext cx="9948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7"/>
                </a:solidFill>
                <a:latin typeface="Calibri"/>
              </a:rPr>
              <a:t>Een ontwerp dat de verkeerde aanwijzing geeft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5340096"/>
            <a:ext cx="2377440" cy="804672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5340096"/>
            <a:ext cx="2377440" cy="804672"/>
          </a:xfrm>
          <a:prstGeom prst="rect">
            <a:avLst/>
          </a:prstGeom>
          <a:solidFill>
            <a:srgbClr val="DC262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41324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Knop die er niet uitziet als knop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8" y="5340096"/>
            <a:ext cx="2377440" cy="804672"/>
          </a:xfrm>
          <a:prstGeom prst="rect">
            <a:avLst/>
          </a:prstGeom>
          <a:solidFill>
            <a:srgbClr val="B46400"/>
          </a:solidFill>
          <a:ln w="9525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75888" y="5340096"/>
            <a:ext cx="2377440" cy="804672"/>
          </a:xfrm>
          <a:prstGeom prst="rect">
            <a:avLst/>
          </a:prstGeom>
          <a:solidFill>
            <a:srgbClr val="B464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541324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Link zonder kleur of onderstreping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5340096"/>
            <a:ext cx="2377440" cy="804672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5340096"/>
            <a:ext cx="2377440" cy="804672"/>
          </a:xfrm>
          <a:prstGeom prst="rect">
            <a:avLst/>
          </a:prstGeom>
          <a:solidFill>
            <a:srgbClr val="2563E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541324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Formulierveld zonder label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1664" y="5340096"/>
            <a:ext cx="2377440" cy="804672"/>
          </a:xfrm>
          <a:prstGeom prst="rect">
            <a:avLst/>
          </a:prstGeom>
          <a:solidFill>
            <a:srgbClr val="7828A0"/>
          </a:solidFill>
          <a:ln w="9525">
            <a:solidFill>
              <a:srgbClr val="78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41664" y="5340096"/>
            <a:ext cx="2377440" cy="804672"/>
          </a:xfrm>
          <a:prstGeom prst="rect">
            <a:avLst/>
          </a:prstGeom>
          <a:solidFill>
            <a:srgbClr val="7828A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541324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Navigatie die niemand begrijpt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11 /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gradFill rotWithShape="1">
            <a:gsLst>
              <a:gs pos="0">
                <a:srgbClr val="0F2D0F"/>
              </a:gs>
              <a:gs pos="100000">
                <a:srgbClr val="14411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9632" y="0"/>
            <a:ext cx="5989320" cy="6858000"/>
          </a:xfrm>
          <a:prstGeom prst="rect">
            <a:avLst/>
          </a:prstGeom>
          <a:gradFill rotWithShape="1">
            <a:gsLst>
              <a:gs pos="0">
                <a:srgbClr val="3C0F0F"/>
              </a:gs>
              <a:gs pos="100000">
                <a:srgbClr val="55141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89320" y="0"/>
            <a:ext cx="2103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Goed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2011680" cy="73152"/>
          </a:xfrm>
          <a:prstGeom prst="rect">
            <a:avLst/>
          </a:prstGeom>
          <a:solidFill>
            <a:srgbClr val="5AD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F0B4"/>
                </a:solidFill>
                <a:latin typeface="Calibri"/>
              </a:rPr>
              <a:t>Open live: stripe.com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029200" cy="749808"/>
          </a:xfrm>
          <a:prstGeom prst="rect">
            <a:avLst/>
          </a:prstGeom>
          <a:solidFill>
            <a:srgbClr val="194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57400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Wat zie je als eerste?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5029200" cy="749808"/>
          </a:xfrm>
          <a:prstGeom prst="rect">
            <a:avLst/>
          </a:prstGeom>
          <a:solidFill>
            <a:srgbClr val="194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71800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Weet je direct wat je hier kunt doen?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5029200" cy="749808"/>
          </a:xfrm>
          <a:prstGeom prst="rect">
            <a:avLst/>
          </a:prstGeom>
          <a:solidFill>
            <a:srgbClr val="194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86200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Hoe snel vind je wat je zoekt?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5029200" cy="749808"/>
          </a:xfrm>
          <a:prstGeom prst="rect">
            <a:avLst/>
          </a:prstGeom>
          <a:solidFill>
            <a:srgbClr val="194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800600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Hoeveel moeite kost navigeren?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7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Slecht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051560"/>
            <a:ext cx="2011680" cy="73152"/>
          </a:xfrm>
          <a:prstGeom prst="rect">
            <a:avLst/>
          </a:prstGeom>
          <a:solidFill>
            <a:srgbClr val="EB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B4B4"/>
                </a:solidFill>
                <a:latin typeface="Calibri"/>
              </a:rPr>
              <a:t>Open live: een verouderde bedrijfssite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965960"/>
            <a:ext cx="5029200" cy="749808"/>
          </a:xfrm>
          <a:prstGeom prst="rect">
            <a:avLst/>
          </a:prstGeom>
          <a:solidFill>
            <a:srgbClr val="4B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2057400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Waar is de navigatie?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880360"/>
            <a:ext cx="5029200" cy="749808"/>
          </a:xfrm>
          <a:prstGeom prst="rect">
            <a:avLst/>
          </a:prstGeom>
          <a:solidFill>
            <a:srgbClr val="4B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2971800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Wat wil deze site dat je doet?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794760"/>
            <a:ext cx="5029200" cy="749808"/>
          </a:xfrm>
          <a:prstGeom prst="rect">
            <a:avLst/>
          </a:prstGeom>
          <a:solidFill>
            <a:srgbClr val="4B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3886200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Hoe snel raak je gefrustreerd?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709160"/>
            <a:ext cx="5029200" cy="749808"/>
          </a:xfrm>
          <a:prstGeom prst="rect">
            <a:avLst/>
          </a:prstGeom>
          <a:solidFill>
            <a:srgbClr val="4B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4800600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Vind je wat je zoekt?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23620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8C8C8"/>
                </a:solidFill>
                <a:latin typeface="Calibri"/>
              </a:rPr>
              <a:t>Kijk niet of het mooi is, kijk of het werkt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12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Kennismaking met Figma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5212080" cy="1691640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521208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Browser-based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3347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9E6"/>
                </a:solidFill>
                <a:latin typeface="Calibri"/>
              </a:rPr>
              <a:t>Geen installatie vereist, ook desktop app beschikbaar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5212080" cy="1691640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920240"/>
            <a:ext cx="521208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Real-time samenwerken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3347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9E6"/>
                </a:solidFill>
                <a:latin typeface="Calibri"/>
              </a:rPr>
              <a:t>Meerdere mensen tegelijk in hetzelfde bestand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86200"/>
            <a:ext cx="5212080" cy="1691640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886200"/>
            <a:ext cx="521208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Gratis voor studenten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9943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9E6"/>
                </a:solidFill>
                <a:latin typeface="Calibri"/>
              </a:rPr>
              <a:t>Education plan via figma.com/education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886200"/>
            <a:ext cx="5212080" cy="1691640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886200"/>
            <a:ext cx="521208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069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Industriestandaard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9943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9E6"/>
                </a:solidFill>
                <a:latin typeface="Calibri"/>
              </a:rPr>
              <a:t>Gebruikt door Spotify, Airbnb, Uber en Google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De interface van Figma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55648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7282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Toolbar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55648"/>
            <a:ext cx="10515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783080"/>
            <a:ext cx="1014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Bovenaan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746504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Gereedschappen: frame, shapes, tekst, pen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9424"/>
            <a:ext cx="10881360" cy="18288"/>
          </a:xfrm>
          <a:prstGeom prst="rect">
            <a:avLst/>
          </a:prstGeom>
          <a:solidFill>
            <a:srgbClr val="E1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862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9260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8986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Layers panel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926080"/>
            <a:ext cx="10515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2953512"/>
            <a:ext cx="1014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916936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Alles wat je maakt staat hier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419856"/>
            <a:ext cx="10881360" cy="18288"/>
          </a:xfrm>
          <a:prstGeom prst="rect">
            <a:avLst/>
          </a:prstGeom>
          <a:solidFill>
            <a:srgbClr val="E1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032504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96512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690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Canvas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096512"/>
            <a:ext cx="10515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4448" y="4123944"/>
            <a:ext cx="1014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087368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Jouw werkruimte, oneindig groot, begin altijd met een frame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590288"/>
            <a:ext cx="10881360" cy="18288"/>
          </a:xfrm>
          <a:prstGeom prst="rect">
            <a:avLst/>
          </a:prstGeom>
          <a:solidFill>
            <a:srgbClr val="E1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202936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5266944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2395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Properties panel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5266944"/>
            <a:ext cx="105156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5294376"/>
            <a:ext cx="1014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5257800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Afmetingen, kleuren, tekst en effecten van het geselecteerde element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Frame = Jouw scherm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Een frame stelt een schermformaat voor, vergelijkbaar met een artboard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Sneltoets: F, klik en sleep of kies een preset rechts in het panel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Presets: iPhone 14 (390x844)  en  Desktop (1440x1024)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Frames kunnen in frames, dit wordt later belangrijk bij components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Geef frames altijd een naam: 'home-desktop', 'hero-mobiel'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257800"/>
            <a:ext cx="10332720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257800"/>
            <a:ext cx="64008" cy="126187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385816"/>
            <a:ext cx="9948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Gouden regel: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797296"/>
            <a:ext cx="9948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Begin altijd met een frame. Nooit direct op de canvas ontwerpen.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Layers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217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Elke shape, tekst of frame verschijnt in de layers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Volgorde is diepte: bovenste laag in de lijst staat vooraan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Ctrl+G of Cmd+G om elementen te groeperen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Naamgeving is cruciaal, een developer of collega werkt met jouw bestand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Calibri"/>
              </a:rPr>
              <a:t>Gebruik: sectie / element als naamconventie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508760"/>
            <a:ext cx="2560320" cy="4434840"/>
          </a:xfrm>
          <a:prstGeom prst="rect">
            <a:avLst/>
          </a:prstGeom>
          <a:solidFill>
            <a:srgbClr val="50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508760"/>
            <a:ext cx="2560320" cy="73152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100000">
                <a:srgbClr val="DC262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0A0"/>
                </a:solidFill>
                <a:latin typeface="Calibri"/>
              </a:rPr>
              <a:t>Slecht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2103120"/>
            <a:ext cx="2286000" cy="594360"/>
          </a:xfrm>
          <a:prstGeom prst="rect">
            <a:avLst/>
          </a:prstGeom>
          <a:solidFill>
            <a:srgbClr val="5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1671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A0"/>
                </a:solidFill>
                <a:latin typeface="Calibri"/>
              </a:rPr>
              <a:t>Rectangle 47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816352"/>
            <a:ext cx="2286000" cy="594360"/>
          </a:xfrm>
          <a:prstGeom prst="rect">
            <a:avLst/>
          </a:prstGeom>
          <a:solidFill>
            <a:srgbClr val="5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A0"/>
                </a:solidFill>
                <a:latin typeface="Calibri"/>
              </a:rPr>
              <a:t>Group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3529584"/>
            <a:ext cx="2286000" cy="594360"/>
          </a:xfrm>
          <a:prstGeom prst="rect">
            <a:avLst/>
          </a:prstGeom>
          <a:solidFill>
            <a:srgbClr val="5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5935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A0"/>
                </a:solidFill>
                <a:latin typeface="Calibri"/>
              </a:rPr>
              <a:t>Text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4242816"/>
            <a:ext cx="2286000" cy="594360"/>
          </a:xfrm>
          <a:prstGeom prst="rect">
            <a:avLst/>
          </a:prstGeom>
          <a:solidFill>
            <a:srgbClr val="5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3068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A0"/>
                </a:solidFill>
                <a:latin typeface="Calibri"/>
              </a:rPr>
              <a:t>Ellipse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4956048"/>
            <a:ext cx="2286000" cy="594360"/>
          </a:xfrm>
          <a:prstGeom prst="rect">
            <a:avLst/>
          </a:prstGeom>
          <a:solidFill>
            <a:srgbClr val="5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50200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A0"/>
                </a:solidFill>
                <a:latin typeface="Calibri"/>
              </a:rPr>
              <a:t>Rectangle 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508760"/>
            <a:ext cx="2560320" cy="4434840"/>
          </a:xfrm>
          <a:prstGeom prst="rect">
            <a:avLst/>
          </a:prstGeom>
          <a:solidFill>
            <a:srgbClr val="0F3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24160" y="1508760"/>
            <a:ext cx="2560320" cy="73152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16A34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6132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E68C"/>
                </a:solidFill>
                <a:latin typeface="Calibri"/>
              </a:rPr>
              <a:t>Goed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61320" y="2103120"/>
            <a:ext cx="2286000" cy="594360"/>
          </a:xfrm>
          <a:prstGeom prst="rect">
            <a:avLst/>
          </a:prstGeom>
          <a:solidFill>
            <a:srgbClr val="1B3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52760" y="21671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E68C"/>
                </a:solidFill>
                <a:latin typeface="Calibri"/>
              </a:rPr>
              <a:t>hero / achtergrond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20" y="2816352"/>
            <a:ext cx="2286000" cy="594360"/>
          </a:xfrm>
          <a:prstGeom prst="rect">
            <a:avLst/>
          </a:prstGeom>
          <a:solidFill>
            <a:srgbClr val="1B3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6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E68C"/>
                </a:solidFill>
                <a:latin typeface="Calibri"/>
              </a:rPr>
              <a:t>nav / logo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1320" y="3529584"/>
            <a:ext cx="2286000" cy="594360"/>
          </a:xfrm>
          <a:prstGeom prst="rect">
            <a:avLst/>
          </a:prstGeom>
          <a:solidFill>
            <a:srgbClr val="1B3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52760" y="35935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E68C"/>
                </a:solidFill>
                <a:latin typeface="Calibri"/>
              </a:rPr>
              <a:t>nav / links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4242816"/>
            <a:ext cx="2286000" cy="594360"/>
          </a:xfrm>
          <a:prstGeom prst="rect">
            <a:avLst/>
          </a:prstGeom>
          <a:solidFill>
            <a:srgbClr val="1B3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60" y="43068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E68C"/>
                </a:solidFill>
                <a:latin typeface="Calibri"/>
              </a:rPr>
              <a:t>hero / kop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61320" y="4956048"/>
            <a:ext cx="2286000" cy="594360"/>
          </a:xfrm>
          <a:prstGeom prst="rect">
            <a:avLst/>
          </a:prstGeom>
          <a:solidFill>
            <a:srgbClr val="1B3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52760" y="50200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E68C"/>
                </a:solidFill>
                <a:latin typeface="Calibri"/>
              </a:rPr>
              <a:t>hero / knop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Je eerste gereedschappen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658368" cy="658368"/>
          </a:xfrm>
          <a:prstGeom prst="rect">
            <a:avLst/>
          </a:prstGeom>
          <a:solidFill>
            <a:srgbClr val="06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916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Rechthoek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09928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Klik en sleep  ·  Shift ingedrukt voor vierkant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32888"/>
            <a:ext cx="65836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2432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Ellipse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42616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Klik en sleep  ·  Shift ingedrukt voor cirkel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465576"/>
            <a:ext cx="658368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11296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5701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Tekst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75304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Klik op de canvas en begin te typen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398264"/>
            <a:ext cx="658368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43984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48970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507992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Altijd terug naar V na gebruik van een ander gereedschap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330952"/>
            <a:ext cx="65836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76672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2239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440680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Klik en sleep of kies preset rechts in het panel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17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Opdracht  ·  Les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0B9E6"/>
                </a:solidFill>
                <a:latin typeface="Calibri"/>
              </a:rPr>
              <a:t>Goed Doel Website  ·  Analyse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2011680" cy="7315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6420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078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82496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Maak een nieuw Figma bestand: [Naam] Goed Doel Project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43230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6888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50592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Zoek 3 websites van goede doelen, bijvoorbeeld Rode Kruis, Unicef of Amnesty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639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3697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1868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Maak screenshots en plak ze op aparte frames in Figma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68496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0507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86784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Annoteer per website: hero, navigatie en call-to-action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736592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7316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54880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Schrijf 2 tot 3 pluspunten en 2 tot 3 verbeterpunten per site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504688"/>
            <a:ext cx="365760" cy="365760"/>
          </a:xfrm>
          <a:prstGeom prst="ellipse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54126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522976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Deel via Share, Anyone with link, Can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6291072"/>
            <a:ext cx="10332720" cy="475488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636422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D2FF"/>
                </a:solidFill>
                <a:latin typeface="Calibri"/>
              </a:rPr>
              <a:t>Inleveren: Figma link voor het begin van les 2, twee ontwerpen bespreken we klassikaal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18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Volgende 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6B6D4"/>
                </a:solidFill>
                <a:latin typeface="Calibri"/>
              </a:rPr>
              <a:t>Whitespace en Alignment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78608"/>
            <a:ext cx="2286000" cy="82296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10817352" cy="685800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" cy="6858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07792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2E1FF"/>
                </a:solidFill>
                <a:latin typeface="Calibri"/>
              </a:rPr>
              <a:t>Het 8pt grid systeem als basis voor consistent spacing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75888"/>
            <a:ext cx="10817352" cy="685800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675888"/>
            <a:ext cx="64008" cy="6858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2E1FF"/>
                </a:solidFill>
                <a:latin typeface="Calibri"/>
              </a:rPr>
              <a:t>Micro en macro whitespace: hoe ademruimte werkt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17136"/>
            <a:ext cx="10817352" cy="685800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517136"/>
            <a:ext cx="64008" cy="6858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90288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2E1FF"/>
                </a:solidFill>
                <a:latin typeface="Calibri"/>
              </a:rPr>
              <a:t>Je eerste wireframe in Figma voor het goed doel project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577840"/>
            <a:ext cx="10817352" cy="960120"/>
          </a:xfrm>
          <a:prstGeom prst="rect">
            <a:avLst/>
          </a:prstGeom>
          <a:solidFill>
            <a:srgbClr val="0F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870448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9E6"/>
                </a:solidFill>
                <a:latin typeface="Calibri"/>
              </a:rPr>
              <a:t>Tip: Installeer de Figma desktop app via figma.com/downloads voor betere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