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Welkom bij de laatste les van periode 1. Vandaag ronden we het goed doel website project af: we doen een review, geven peer feedback en presenteren het werk.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Loop kort langs elke les. Vraag: wat herinner je je nog van les 1? Wat was het moeilijkst?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Studenten kunnen hier met een pen of mentaal afvinken. Loop de drie kolommen langs en vraag of er punten zijn waarbij ze twijfelen.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Laat studenten hun eigen hero openen in Figma. Loop door elk criterium en laat ze aangeven of ze eraan voldoen.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Veel voorkomende fouten: te veel links, geen actieve staat, CTA ontbreekt in de nav. Wijs dit aan in de wireframe.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Laat studenten in tweetallen elkaars CTA beoordelen. Is het label actief? Is er genoeg contrast en witruimte?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op: zijn de drie kaarten echt gelijk van hoogte? Zijn ze een component in Figma? Dat is de technische 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Oefen het FIST-framework klassikaal: laat een student een scherm tonen en een andere student doorloopt F-I-S-T hardop.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Demonstreer dit live in Figma als je een beamer hebt. Laat studenten 5 minuten nemen om hun Figma presentatiepagina klaar te zetten.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Bespreek de weging: design kwaliteit telt het zwaarst. Studenten hoeven niet perfect te zijn, maar moeten aantonen dat ze de principes begrijpen.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Geef studenten 2 minuten om deze tips te lezen en dan te beginnen. Presentaties: max 3 minuten per student.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Vertel kort wat je zelf het meest gebruikt. Refactoring UI is een aanrader voor visueel sterke studenten. NN/g voor studenten die geinteresseerd zijn in UX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Geef studenten een voorproefje van periode 2. Noem een paar inspiratiebronnen: awwwards.com, dribbble.com. Vraag welk onderdeel ze het meest interessant lijkt.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Sluit de les positief af. Laat iedereen kort antwoord geven op de vraag. Dit is ook een goede evaluatie voor jou als docent: welke onderwerpen verdienen meer aandacht in periode 2?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gradFill rotWithShape="1">
            <a:gsLst>
              <a:gs pos="0">
                <a:srgbClr val="E11D48"/>
              </a:gs>
              <a:gs pos="100000">
                <a:srgbClr val="FB7185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103120"/>
            <a:ext cx="914400" cy="34747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Les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7860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Project Afronding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101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B7185"/>
                </a:solidFill>
                <a:latin typeface="Calibri"/>
              </a:rPr>
              <a:t>Periode 1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005072"/>
            <a:ext cx="2743200" cy="64008"/>
          </a:xfrm>
          <a:prstGeom prst="rect">
            <a:avLst/>
          </a:prstGeom>
          <a:gradFill rotWithShape="1">
            <a:gsLst>
              <a:gs pos="0">
                <a:srgbClr val="E11D48"/>
              </a:gs>
              <a:gs pos="100000">
                <a:srgbClr val="FB718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33087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C8D2"/>
                </a:solidFill>
                <a:latin typeface="Calibri"/>
              </a:rPr>
              <a:t>Goed Doel Website  |  Review en Oplevering</a:t>
            </a:r>
          </a:p>
        </p:txBody>
      </p:sp>
      <p:sp>
        <p:nvSpPr>
          <p:cNvPr id="10" name="Oval 9"/>
          <p:cNvSpPr/>
          <p:nvPr/>
        </p:nvSpPr>
        <p:spPr>
          <a:xfrm>
            <a:off x="10259568" y="1389888"/>
            <a:ext cx="512064" cy="512064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17936" y="1956816"/>
            <a:ext cx="292608" cy="292608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0" y="5120640"/>
            <a:ext cx="365760" cy="36576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4B4C8"/>
                </a:solidFill>
                <a:latin typeface="Calibr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Wat hebben we geleerd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E11D48"/>
              </a:gs>
              <a:gs pos="100000">
                <a:srgbClr val="FB718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7"/>
                </a:solidFill>
                <a:latin typeface="Calibri"/>
              </a:rPr>
              <a:t>Vijf lessen design, van principes tot componenten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91640"/>
            <a:ext cx="1033272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691640"/>
            <a:ext cx="64008" cy="658368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FB7185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1874520"/>
            <a:ext cx="658368" cy="32918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874520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Les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8" y="1901952"/>
            <a:ext cx="9198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4155"/>
                </a:solidFill>
                <a:latin typeface="Calibri"/>
              </a:rPr>
              <a:t>Wat is design, designprincipes en Figma kennismaking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459736"/>
            <a:ext cx="1033272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459736"/>
            <a:ext cx="64008" cy="65836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FB7185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42616"/>
            <a:ext cx="658368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642616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Les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2808" y="2670048"/>
            <a:ext cx="9198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4155"/>
                </a:solidFill>
                <a:latin typeface="Calibri"/>
              </a:rPr>
              <a:t>Whitespace, alignment en het 8pt grid systeem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227832"/>
            <a:ext cx="1033272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227832"/>
            <a:ext cx="64008" cy="658368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FB7185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3000" y="3410712"/>
            <a:ext cx="658368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410712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Les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92808" y="3438144"/>
            <a:ext cx="9198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4155"/>
                </a:solidFill>
                <a:latin typeface="Calibri"/>
              </a:rPr>
              <a:t>Typografie, type scale en tekststijlen in Figma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995928"/>
            <a:ext cx="1033272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995928"/>
            <a:ext cx="64008" cy="658368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100000">
                <a:srgbClr val="FB7185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43000" y="4178808"/>
            <a:ext cx="658368" cy="32918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4178808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Les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92808" y="4206240"/>
            <a:ext cx="9198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4155"/>
                </a:solidFill>
                <a:latin typeface="Calibri"/>
              </a:rPr>
              <a:t>Kleurtheorie, WCAG contrast en kleurstijlen in Figma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764024"/>
            <a:ext cx="1033272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4764024"/>
            <a:ext cx="64008" cy="658368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100000">
                <a:srgbClr val="FB7185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3000" y="4946904"/>
            <a:ext cx="658368" cy="32918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946904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Les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92808" y="4974336"/>
            <a:ext cx="9198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4155"/>
                </a:solidFill>
                <a:latin typeface="Calibri"/>
              </a:rPr>
              <a:t>Componenten, atomic design en Auto Layout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Goed doel website: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E11D48"/>
              </a:gs>
              <a:gs pos="100000">
                <a:srgbClr val="FB718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7"/>
                </a:solidFill>
                <a:latin typeface="Calibri"/>
              </a:rPr>
              <a:t>Controleer of je ontwerp aan alle eisen voldoet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3383280" cy="43891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36776"/>
            <a:ext cx="3383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Inhoud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11680"/>
            <a:ext cx="3383280" cy="4361688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157984"/>
            <a:ext cx="3054096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500">
                <a:solidFill>
                  <a:srgbClr val="334155"/>
                </a:solidFill>
                <a:latin typeface="Calibri"/>
              </a:rPr>
              <a:t>  •  Logo placeholder</a:t>
            </a:r>
          </a:p>
          <a:p>
            <a:pPr>
              <a:spcBef>
                <a:spcPts val="900"/>
              </a:spcBef>
            </a:pPr>
            <a:r>
              <a:rPr sz="1500">
                <a:solidFill>
                  <a:srgbClr val="334155"/>
                </a:solidFill>
                <a:latin typeface="Calibri"/>
              </a:rPr>
              <a:t>  •  Hero heading en subtitel</a:t>
            </a:r>
          </a:p>
          <a:p>
            <a:pPr>
              <a:spcBef>
                <a:spcPts val="900"/>
              </a:spcBef>
            </a:pPr>
            <a:r>
              <a:rPr sz="1500">
                <a:solidFill>
                  <a:srgbClr val="334155"/>
                </a:solidFill>
                <a:latin typeface="Calibri"/>
              </a:rPr>
              <a:t>  •  CTA knop</a:t>
            </a:r>
          </a:p>
          <a:p>
            <a:pPr>
              <a:spcBef>
                <a:spcPts val="900"/>
              </a:spcBef>
            </a:pPr>
            <a:r>
              <a:rPr sz="1500">
                <a:solidFill>
                  <a:srgbClr val="334155"/>
                </a:solidFill>
                <a:latin typeface="Calibri"/>
              </a:rPr>
              <a:t>  •  Navigatiemenu met 3 links</a:t>
            </a:r>
          </a:p>
          <a:p>
            <a:pPr>
              <a:spcBef>
                <a:spcPts val="900"/>
              </a:spcBef>
            </a:pPr>
            <a:r>
              <a:rPr sz="1500">
                <a:solidFill>
                  <a:srgbClr val="334155"/>
                </a:solidFill>
                <a:latin typeface="Calibri"/>
              </a:rPr>
              <a:t>  •  3 testimonial-kaarten</a:t>
            </a:r>
          </a:p>
          <a:p>
            <a:pPr>
              <a:spcBef>
                <a:spcPts val="900"/>
              </a:spcBef>
            </a:pPr>
            <a:r>
              <a:rPr sz="1500">
                <a:solidFill>
                  <a:srgbClr val="334155"/>
                </a:solidFill>
                <a:latin typeface="Calibri"/>
              </a:rPr>
              <a:t>  •  Footer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572768"/>
            <a:ext cx="3383280" cy="43891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636776"/>
            <a:ext cx="3383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2011680"/>
            <a:ext cx="3383280" cy="4361688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157984"/>
            <a:ext cx="3054096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500">
                <a:solidFill>
                  <a:srgbClr val="334155"/>
                </a:solidFill>
                <a:latin typeface="Calibri"/>
              </a:rPr>
              <a:t>  •  Kleurpalet met kleurstijlen</a:t>
            </a:r>
          </a:p>
          <a:p>
            <a:pPr>
              <a:spcBef>
                <a:spcPts val="900"/>
              </a:spcBef>
            </a:pPr>
            <a:r>
              <a:rPr sz="1500">
                <a:solidFill>
                  <a:srgbClr val="334155"/>
                </a:solidFill>
                <a:latin typeface="Calibri"/>
              </a:rPr>
              <a:t>  •  Type scale met tekststijlen</a:t>
            </a:r>
          </a:p>
          <a:p>
            <a:pPr>
              <a:spcBef>
                <a:spcPts val="900"/>
              </a:spcBef>
            </a:pPr>
            <a:r>
              <a:rPr sz="1500">
                <a:solidFill>
                  <a:srgbClr val="334155"/>
                </a:solidFill>
                <a:latin typeface="Calibri"/>
              </a:rPr>
              <a:t>  •  8pt grid toegepast</a:t>
            </a:r>
          </a:p>
          <a:p>
            <a:pPr>
              <a:spcBef>
                <a:spcPts val="900"/>
              </a:spcBef>
            </a:pPr>
            <a:r>
              <a:rPr sz="1500">
                <a:solidFill>
                  <a:srgbClr val="334155"/>
                </a:solidFill>
                <a:latin typeface="Calibri"/>
              </a:rPr>
              <a:t>  •  WCAG AA contrast op alle tekst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1572768"/>
            <a:ext cx="3383280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636776"/>
            <a:ext cx="3383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Figma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2011680"/>
            <a:ext cx="3383280" cy="4361688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157984"/>
            <a:ext cx="3054096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500">
                <a:solidFill>
                  <a:srgbClr val="334155"/>
                </a:solidFill>
                <a:latin typeface="Calibri"/>
              </a:rPr>
              <a:t>  •  Pagina gestructureerd in frames</a:t>
            </a:r>
          </a:p>
          <a:p>
            <a:pPr>
              <a:spcBef>
                <a:spcPts val="900"/>
              </a:spcBef>
            </a:pPr>
            <a:r>
              <a:rPr sz="1500">
                <a:solidFill>
                  <a:srgbClr val="334155"/>
                </a:solidFill>
                <a:latin typeface="Calibri"/>
              </a:rPr>
              <a:t>  •  Lagen correct benoemd</a:t>
            </a:r>
          </a:p>
          <a:p>
            <a:pPr>
              <a:spcBef>
                <a:spcPts val="900"/>
              </a:spcBef>
            </a:pPr>
            <a:r>
              <a:rPr sz="1500">
                <a:solidFill>
                  <a:srgbClr val="334155"/>
                </a:solidFill>
                <a:latin typeface="Calibri"/>
              </a:rPr>
              <a:t>  •  Componenten aangemaakt</a:t>
            </a:r>
          </a:p>
          <a:p>
            <a:pPr>
              <a:spcBef>
                <a:spcPts val="900"/>
              </a:spcBef>
            </a:pPr>
            <a:r>
              <a:rPr sz="1500">
                <a:solidFill>
                  <a:srgbClr val="334155"/>
                </a:solidFill>
                <a:latin typeface="Calibri"/>
              </a:rPr>
              <a:t>  •  Varianten toegepast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Hero sectie: review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E11D48"/>
              </a:gs>
              <a:gs pos="100000">
                <a:srgbClr val="FB718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7"/>
                </a:solidFill>
                <a:latin typeface="Calibri"/>
              </a:rPr>
              <a:t>Wat maakt een sterke hero?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5029200" cy="4663440"/>
          </a:xfrm>
          <a:prstGeom prst="rect">
            <a:avLst/>
          </a:prstGeom>
          <a:solidFill>
            <a:srgbClr val="EBF0FA"/>
          </a:solidFill>
          <a:ln w="9525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1848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7"/>
                </a:solidFill>
                <a:latin typeface="Calibri"/>
              </a:rPr>
              <a:t>1440px frame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572768"/>
            <a:ext cx="502920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642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2E6"/>
                </a:solidFill>
                <a:latin typeface="Calibri"/>
              </a:rPr>
              <a:t>Navigatie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103120"/>
            <a:ext cx="4846320" cy="2560320"/>
          </a:xfrm>
          <a:prstGeom prst="rect">
            <a:avLst/>
          </a:prstGeom>
          <a:solidFill>
            <a:srgbClr val="C8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128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7"/>
                </a:solidFill>
                <a:latin typeface="Calibri"/>
              </a:rPr>
              <a:t>Hero achtergrond (foto / kleur)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2560320"/>
            <a:ext cx="4480560" cy="411480"/>
          </a:xfrm>
          <a:prstGeom prst="rect">
            <a:avLst/>
          </a:prstGeom>
          <a:solidFill>
            <a:srgbClr val="96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6243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H1 Heading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3054096"/>
            <a:ext cx="4206240" cy="256032"/>
          </a:xfrm>
          <a:prstGeom prst="rect">
            <a:avLst/>
          </a:prstGeom>
          <a:solidFill>
            <a:srgbClr val="B4C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090672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05A6E"/>
                </a:solidFill>
                <a:latin typeface="Calibri"/>
              </a:rPr>
              <a:t>Subtitel / missieomschrijving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3419856"/>
            <a:ext cx="1280160" cy="32918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4747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Doneer nu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6916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Review criteria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240280"/>
            <a:ext cx="219456" cy="219456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2167128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Duidelijke H1 heading met maximaal 8 woorden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971800"/>
            <a:ext cx="219456" cy="219456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84848" y="2898648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Subtitel die de missie uitlegt in 1-2 zinnen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703320"/>
            <a:ext cx="219456" cy="219456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4848" y="3630168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CTA knop met actiewerkwoord: Doneer nu, Lees meer, Meld je aan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4434840"/>
            <a:ext cx="219456" cy="219456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4361688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Voldoende contrast tussen tekst en achtergrond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5166360"/>
            <a:ext cx="219456" cy="219456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84848" y="5093208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Hero-hoogte minimaal 50vh (op Desktop: 500 tot 700px)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Navigatie: review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E11D48"/>
              </a:gs>
              <a:gs pos="100000">
                <a:srgbClr val="FB718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7"/>
                </a:solidFill>
                <a:latin typeface="Calibri"/>
              </a:rPr>
              <a:t>Consistente navigatie is de basis van 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5029200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3544" y="1819656"/>
            <a:ext cx="804672" cy="402336"/>
          </a:xfrm>
          <a:prstGeom prst="rect">
            <a:avLst/>
          </a:prstGeom>
          <a:solidFill>
            <a:srgbClr val="5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856232"/>
            <a:ext cx="804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Logo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928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7F0"/>
                </a:solidFill>
                <a:latin typeface="Calibri"/>
              </a:rPr>
              <a:t>Home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48840" y="2276856"/>
            <a:ext cx="548640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8928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7F0"/>
                </a:solidFill>
                <a:latin typeface="Calibri"/>
              </a:rPr>
              <a:t>Over 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18928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7F0"/>
                </a:solidFill>
                <a:latin typeface="Calibri"/>
              </a:rPr>
              <a:t>Doneer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1837944"/>
            <a:ext cx="1115568" cy="3657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892808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Doneer 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4414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7"/>
                </a:solidFill>
                <a:latin typeface="Calibri"/>
              </a:rPr>
              <a:t>Logo links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24414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7"/>
                </a:solidFill>
                <a:latin typeface="Calibri"/>
              </a:rPr>
              <a:t>3-5 links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4414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7"/>
                </a:solidFill>
                <a:latin typeface="Calibri"/>
              </a:rPr>
              <a:t>CTA rechts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788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563EB"/>
                </a:solidFill>
                <a:latin typeface="Calibri"/>
              </a:rPr>
              <a:t>Hoogte: 64-80px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6916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Review criteria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2240280"/>
            <a:ext cx="219456" cy="219456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84848" y="216712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Logo of merkidentiteit links in de navigatie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2898648"/>
            <a:ext cx="219456" cy="219456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4848" y="2825496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3 tot 5 navigatielinks, geen meer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3557016"/>
            <a:ext cx="219456" cy="219456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4848" y="3483864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Actieve pagina visueel gemarkeerd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4215384"/>
            <a:ext cx="219456" cy="219456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4848" y="414223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CTA knop of link rechts in de navigatie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4873752"/>
            <a:ext cx="219456" cy="219456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4848" y="48006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Consistent op alle paginas: gebruik een component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5532120"/>
            <a:ext cx="219456" cy="219456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4848" y="545896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Hoogte 64 tot 80px (veelvoud van 8)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Call-to-Action: review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E11D48"/>
              </a:gs>
              <a:gs pos="100000">
                <a:srgbClr val="FB718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7"/>
                </a:solidFill>
                <a:latin typeface="Calibri"/>
              </a:rPr>
              <a:t>Een goede CTA is duidelijk, contrastrijk en prominent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5120640" cy="4663440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5120640" cy="47548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556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Goede CTA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50008"/>
            <a:ext cx="4718304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>
                <a:solidFill>
                  <a:srgbClr val="334155"/>
                </a:solidFill>
                <a:latin typeface="Calibri"/>
              </a:rPr>
              <a:t>  •  Actief werkwoord: Doneer nu, Meld je aan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334155"/>
                </a:solidFill>
                <a:latin typeface="Calibri"/>
              </a:rPr>
              <a:t>  •  Contraststerke kleur t.o.v. achtergrond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334155"/>
                </a:solidFill>
                <a:latin typeface="Calibri"/>
              </a:rPr>
              <a:t>  •  Voldoende padding (min. 16x48px)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334155"/>
                </a:solidFill>
                <a:latin typeface="Calibri"/>
              </a:rPr>
              <a:t>  •  Slechts een primaire actie per pagina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334155"/>
                </a:solidFill>
                <a:latin typeface="Calibri"/>
              </a:rPr>
              <a:t>  •  Witruimte eromheen: geeft lucht en focus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7400" y="5550408"/>
            <a:ext cx="2011680" cy="47548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558698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Doneer nu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691640"/>
            <a:ext cx="5120640" cy="4663440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691640"/>
            <a:ext cx="5120640" cy="47548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7556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Zwakke CTA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2350008"/>
            <a:ext cx="4718304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>
                <a:solidFill>
                  <a:srgbClr val="334155"/>
                </a:solidFill>
                <a:latin typeface="Calibri"/>
              </a:rPr>
              <a:t>  •  Vaag label zoals 'klik hier' of 'meer info'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334155"/>
                </a:solidFill>
                <a:latin typeface="Calibri"/>
              </a:rPr>
              <a:t>  •  Te weinig padding, knop voelt klein aan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334155"/>
                </a:solidFill>
                <a:latin typeface="Calibri"/>
              </a:rPr>
              <a:t>  •  Verloren tussen andere elementen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334155"/>
                </a:solidFill>
                <a:latin typeface="Calibri"/>
              </a:rPr>
              <a:t>  •  Zelfde kleur als de achtergrond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80" y="5550408"/>
            <a:ext cx="2011680" cy="4754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80" y="558698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47487"/>
                </a:solidFill>
                <a:latin typeface="Calibri"/>
              </a:rPr>
              <a:t>Klik hier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Testimonials: review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E11D48"/>
              </a:gs>
              <a:gs pos="100000">
                <a:srgbClr val="FB718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7"/>
                </a:solidFill>
                <a:latin typeface="Calibri"/>
              </a:rPr>
              <a:t>Drie consistente kaarten bouwen vertrouwen 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4630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16152" y="2386584"/>
            <a:ext cx="585216" cy="585216"/>
          </a:xfrm>
          <a:prstGeom prst="ellipse">
            <a:avLst/>
          </a:prstGeom>
          <a:solidFill>
            <a:srgbClr val="B4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2441448"/>
            <a:ext cx="5852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AB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" y="3118104"/>
            <a:ext cx="1133856" cy="201168"/>
          </a:xfrm>
          <a:prstGeom prst="rect">
            <a:avLst/>
          </a:prstGeom>
          <a:solidFill>
            <a:srgbClr val="C8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3374136"/>
            <a:ext cx="1005840" cy="164592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1832" y="3657600"/>
            <a:ext cx="1133856" cy="16459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1832" y="3950208"/>
            <a:ext cx="950976" cy="16459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1832" y="4242816"/>
            <a:ext cx="768096" cy="16459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23160" y="2240280"/>
            <a:ext cx="14630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62072" y="2386584"/>
            <a:ext cx="585216" cy="585216"/>
          </a:xfrm>
          <a:prstGeom prst="ellipse">
            <a:avLst/>
          </a:prstGeom>
          <a:solidFill>
            <a:srgbClr val="B4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62072" y="2441448"/>
            <a:ext cx="5852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AB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87752" y="3118104"/>
            <a:ext cx="1133856" cy="201168"/>
          </a:xfrm>
          <a:prstGeom prst="rect">
            <a:avLst/>
          </a:prstGeom>
          <a:solidFill>
            <a:srgbClr val="C8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51760" y="3374136"/>
            <a:ext cx="1005840" cy="164592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87752" y="3657600"/>
            <a:ext cx="1133856" cy="16459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87752" y="3950208"/>
            <a:ext cx="950976" cy="16459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87752" y="4242816"/>
            <a:ext cx="768096" cy="16459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9080" y="2240280"/>
            <a:ext cx="14630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07992" y="2386584"/>
            <a:ext cx="585216" cy="585216"/>
          </a:xfrm>
          <a:prstGeom prst="ellipse">
            <a:avLst/>
          </a:prstGeom>
          <a:solidFill>
            <a:srgbClr val="B4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7992" y="2441448"/>
            <a:ext cx="5852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AB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33672" y="3118104"/>
            <a:ext cx="1133856" cy="201168"/>
          </a:xfrm>
          <a:prstGeom prst="rect">
            <a:avLst/>
          </a:prstGeom>
          <a:solidFill>
            <a:srgbClr val="C8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374136"/>
            <a:ext cx="1005840" cy="164592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33672" y="3657600"/>
            <a:ext cx="1133856" cy="16459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33672" y="3950208"/>
            <a:ext cx="950976" cy="16459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33672" y="4242816"/>
            <a:ext cx="768096" cy="16459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1783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7"/>
                </a:solidFill>
                <a:latin typeface="Calibri"/>
              </a:rPr>
              <a:t>3 gelijke testimonial-kaarten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3611880"/>
            <a:ext cx="182880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40280" y="37216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11D48"/>
                </a:solidFill>
                <a:latin typeface="Calibri"/>
              </a:rPr>
              <a:t>gap
24px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16916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Review criteria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0" y="2240280"/>
            <a:ext cx="219456" cy="219456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84848" y="216712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Drie gelijke kaarten: consistente breedte en hoogte</a:t>
            </a:r>
          </a:p>
        </p:txBody>
      </p:sp>
      <p:sp>
        <p:nvSpPr>
          <p:cNvPr id="36" name="Oval 35"/>
          <p:cNvSpPr/>
          <p:nvPr/>
        </p:nvSpPr>
        <p:spPr>
          <a:xfrm>
            <a:off x="6400800" y="2898648"/>
            <a:ext cx="219456" cy="219456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84848" y="2825496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Avatar of initialen placeholder (cirkel)</a:t>
            </a:r>
          </a:p>
        </p:txBody>
      </p:sp>
      <p:sp>
        <p:nvSpPr>
          <p:cNvPr id="38" name="Oval 37"/>
          <p:cNvSpPr/>
          <p:nvPr/>
        </p:nvSpPr>
        <p:spPr>
          <a:xfrm>
            <a:off x="6400800" y="3557016"/>
            <a:ext cx="219456" cy="219456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84848" y="3483864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Naam en functie van de getuige</a:t>
            </a:r>
          </a:p>
        </p:txBody>
      </p:sp>
      <p:sp>
        <p:nvSpPr>
          <p:cNvPr id="40" name="Oval 39"/>
          <p:cNvSpPr/>
          <p:nvPr/>
        </p:nvSpPr>
        <p:spPr>
          <a:xfrm>
            <a:off x="6400800" y="4215384"/>
            <a:ext cx="219456" cy="219456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84848" y="414223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Quote tekst in italic, max 2-3 zinnen</a:t>
            </a:r>
          </a:p>
        </p:txBody>
      </p:sp>
      <p:sp>
        <p:nvSpPr>
          <p:cNvPr id="42" name="Oval 41"/>
          <p:cNvSpPr/>
          <p:nvPr/>
        </p:nvSpPr>
        <p:spPr>
          <a:xfrm>
            <a:off x="6400800" y="4873752"/>
            <a:ext cx="219456" cy="219456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84848" y="48006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Consistent gebruik van typografiestijlen</a:t>
            </a:r>
          </a:p>
        </p:txBody>
      </p:sp>
      <p:sp>
        <p:nvSpPr>
          <p:cNvPr id="44" name="Oval 43"/>
          <p:cNvSpPr/>
          <p:nvPr/>
        </p:nvSpPr>
        <p:spPr>
          <a:xfrm>
            <a:off x="6400800" y="5532120"/>
            <a:ext cx="219456" cy="219456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84848" y="545896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Witruimte tussen de kaarten: 24px of 32px gap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Peer review: hoe geef je goede feedback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98448"/>
            <a:ext cx="1828800" cy="73152"/>
          </a:xfrm>
          <a:prstGeom prst="rect">
            <a:avLst/>
          </a:prstGeom>
          <a:gradFill rotWithShape="1">
            <a:gsLst>
              <a:gs pos="0">
                <a:srgbClr val="E11D48"/>
              </a:gs>
              <a:gs pos="100000">
                <a:srgbClr val="FB718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C8D2"/>
                </a:solidFill>
                <a:latin typeface="Calibri"/>
              </a:rPr>
              <a:t>Gebruik het FIST-framework voor constructieve kritiek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10332720" cy="804672"/>
          </a:xfrm>
          <a:prstGeom prst="rect">
            <a:avLst/>
          </a:prstGeom>
          <a:solidFill>
            <a:srgbClr val="14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658368" cy="80467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19019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Feit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9072" y="2231136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4C3E1"/>
                </a:solidFill>
                <a:latin typeface="Calibri"/>
              </a:rPr>
              <a:t>Beschrijf wat je ziet zonder oordeel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0332720" cy="804672"/>
          </a:xfrm>
          <a:prstGeom prst="rect">
            <a:avLst/>
          </a:prstGeom>
          <a:solidFill>
            <a:srgbClr val="14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743200"/>
            <a:ext cx="658368" cy="8046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9072" y="28163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9072" y="3145536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4C3E1"/>
                </a:solidFill>
                <a:latin typeface="Calibri"/>
              </a:rPr>
              <a:t>Wat is het effect van deze designkeuze op de gebruiker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657600"/>
            <a:ext cx="10332720" cy="804672"/>
          </a:xfrm>
          <a:prstGeom prst="rect">
            <a:avLst/>
          </a:prstGeom>
          <a:solidFill>
            <a:srgbClr val="14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657600"/>
            <a:ext cx="658368" cy="8046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19072" y="37307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Suggestie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19072" y="4059936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4C3E1"/>
                </a:solidFill>
                <a:latin typeface="Calibri"/>
              </a:rPr>
              <a:t>Geef een concrete verbetering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572000"/>
            <a:ext cx="10332720" cy="804672"/>
          </a:xfrm>
          <a:prstGeom prst="rect">
            <a:avLst/>
          </a:prstGeom>
          <a:solidFill>
            <a:srgbClr val="14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572000"/>
            <a:ext cx="658368" cy="8046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754880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19072" y="46451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Toelichting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19072" y="4974336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4C3E1"/>
                </a:solidFill>
                <a:latin typeface="Calibri"/>
              </a:rPr>
              <a:t>Leg uit waarom jouw suggestie werkt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5650992"/>
            <a:ext cx="10332720" cy="585216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760720"/>
            <a:ext cx="9966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B7185"/>
                </a:solidFill>
                <a:latin typeface="Calibri"/>
              </a:rPr>
              <a:t>Koppel je feedback altijd aan designprincipes: whitespace, alignment, contrast, typografie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4B4C8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Figma: presenteren aan de klas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98448"/>
            <a:ext cx="1828800" cy="73152"/>
          </a:xfrm>
          <a:prstGeom prst="rect">
            <a:avLst/>
          </a:prstGeom>
          <a:gradFill rotWithShape="1">
            <a:gsLst>
              <a:gs pos="0">
                <a:srgbClr val="E11D48"/>
              </a:gs>
              <a:gs pos="100000">
                <a:srgbClr val="FB718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C8D2"/>
                </a:solidFill>
                <a:latin typeface="Calibri"/>
              </a:rPr>
              <a:t>Zet je ontwerp klaar voor de review-ronde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9601200" cy="685800"/>
          </a:xfrm>
          <a:prstGeom prst="rect">
            <a:avLst/>
          </a:prstGeom>
          <a:solidFill>
            <a:srgbClr val="14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585216" cy="6858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75104"/>
            <a:ext cx="5852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993392"/>
            <a:ext cx="87965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7F0"/>
                </a:solidFill>
                <a:latin typeface="Calibri"/>
              </a:rPr>
              <a:t>Zorg dat alle frames een naam hebben en in de juiste volgorde staan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606040"/>
            <a:ext cx="9601200" cy="685800"/>
          </a:xfrm>
          <a:prstGeom prst="rect">
            <a:avLst/>
          </a:prstGeom>
          <a:solidFill>
            <a:srgbClr val="14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606040"/>
            <a:ext cx="585216" cy="6858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52344"/>
            <a:ext cx="5852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770632"/>
            <a:ext cx="87965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7F0"/>
                </a:solidFill>
                <a:latin typeface="Calibri"/>
              </a:rPr>
              <a:t>Klik op het Present-icoontje (pijltje rechtsboven) of druk op Ctrl+Alt+Enter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383280"/>
            <a:ext cx="9601200" cy="685800"/>
          </a:xfrm>
          <a:prstGeom prst="rect">
            <a:avLst/>
          </a:prstGeom>
          <a:solidFill>
            <a:srgbClr val="14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383280"/>
            <a:ext cx="585216" cy="6858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29584"/>
            <a:ext cx="5852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547872"/>
            <a:ext cx="87965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7F0"/>
                </a:solidFill>
                <a:latin typeface="Calibri"/>
              </a:rPr>
              <a:t>Navigeer tussen frames met de pijltoetsen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160520"/>
            <a:ext cx="9601200" cy="685800"/>
          </a:xfrm>
          <a:prstGeom prst="rect">
            <a:avLst/>
          </a:prstGeom>
          <a:solidFill>
            <a:srgbClr val="14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4160520"/>
            <a:ext cx="585216" cy="6858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06824"/>
            <a:ext cx="5852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325112"/>
            <a:ext cx="87965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7F0"/>
                </a:solidFill>
                <a:latin typeface="Calibri"/>
              </a:rPr>
              <a:t>Gebruik de prototype-verbindingen voor een interactieve demo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937760"/>
            <a:ext cx="9601200" cy="685800"/>
          </a:xfrm>
          <a:prstGeom prst="rect">
            <a:avLst/>
          </a:prstGeom>
          <a:solidFill>
            <a:srgbClr val="14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4937760"/>
            <a:ext cx="585216" cy="6858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084064"/>
            <a:ext cx="5852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102352"/>
            <a:ext cx="87965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7F0"/>
                </a:solidFill>
                <a:latin typeface="Calibri"/>
              </a:rPr>
              <a:t>Deel de presentatielink zodat medestudenten kunnen meekijken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5897880"/>
            <a:ext cx="10332720" cy="658368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6025896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7185"/>
                </a:solidFill>
                <a:latin typeface="Calibri"/>
              </a:rPr>
              <a:t>Tip: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6025896"/>
            <a:ext cx="9418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4C3E1"/>
                </a:solidFill>
                <a:latin typeface="Calibri"/>
              </a:rPr>
              <a:t>Maak een aparte page 'presentatie' met alleen je definitieve schermen op volgorde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4B4C8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Beoordelingscriteria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E11D48"/>
              </a:gs>
              <a:gs pos="100000">
                <a:srgbClr val="FB718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7"/>
                </a:solidFill>
                <a:latin typeface="Calibri"/>
              </a:rPr>
              <a:t>Hoe wordt je goed doel website beoordeeld?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64208"/>
            <a:ext cx="3383280" cy="5120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28216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Design kwaliteit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719072"/>
            <a:ext cx="731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755648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11D48"/>
                </a:solidFill>
                <a:latin typeface="Calibri"/>
              </a:rPr>
              <a:t>40%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76272"/>
            <a:ext cx="3383280" cy="3877056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340864"/>
            <a:ext cx="309067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400">
                <a:solidFill>
                  <a:srgbClr val="334155"/>
                </a:solidFill>
                <a:latin typeface="Calibri"/>
              </a:rPr>
              <a:t>  •  Whitespace en alignment consequent toegepast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334155"/>
                </a:solidFill>
                <a:latin typeface="Calibri"/>
              </a:rPr>
              <a:t>  •  Typografie: type scale correct gebruikt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334155"/>
                </a:solidFill>
                <a:latin typeface="Calibri"/>
              </a:rPr>
              <a:t>  •  Kleur: palet en WCAG contrast kloppen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334155"/>
                </a:solidFill>
                <a:latin typeface="Calibri"/>
              </a:rPr>
              <a:t>  •  Principes uit alle 5 lessen zichtbaar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53128" y="1664208"/>
            <a:ext cx="3383280" cy="5120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1728216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Technische uitvoering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13448" y="1719072"/>
            <a:ext cx="731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13448" y="1755648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563EB"/>
                </a:solidFill>
                <a:latin typeface="Calibri"/>
              </a:rPr>
              <a:t>35%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3128" y="2176272"/>
            <a:ext cx="3383280" cy="3877056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2340864"/>
            <a:ext cx="309067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400">
                <a:solidFill>
                  <a:srgbClr val="334155"/>
                </a:solidFill>
                <a:latin typeface="Calibri"/>
              </a:rPr>
              <a:t>  •  Correcte Figma frame-structuur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334155"/>
                </a:solidFill>
                <a:latin typeface="Calibri"/>
              </a:rPr>
              <a:t>  •  Componenten en stijlen aangemaakt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334155"/>
                </a:solidFill>
                <a:latin typeface="Calibri"/>
              </a:rPr>
              <a:t>  •  Lagen correct benoemd en gegroepeerd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334155"/>
                </a:solidFill>
                <a:latin typeface="Calibri"/>
              </a:rPr>
              <a:t>  •  Auto Layout toegepast op componenten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0456" y="1664208"/>
            <a:ext cx="3383280" cy="5120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4" y="1728216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Compleetheid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80776" y="1719072"/>
            <a:ext cx="731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0776" y="1755648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9488"/>
                </a:solidFill>
                <a:latin typeface="Calibri"/>
              </a:rPr>
              <a:t>25%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0456" y="2176272"/>
            <a:ext cx="3383280" cy="3877056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2340864"/>
            <a:ext cx="309067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400">
                <a:solidFill>
                  <a:srgbClr val="334155"/>
                </a:solidFill>
                <a:latin typeface="Calibri"/>
              </a:rPr>
              <a:t>  •  Alle vereiste secties aanwezig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334155"/>
                </a:solidFill>
                <a:latin typeface="Calibri"/>
              </a:rPr>
              <a:t>  •  Opdrachten van alle lessen verwerkt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334155"/>
                </a:solidFill>
                <a:latin typeface="Calibri"/>
              </a:rPr>
              <a:t>  •  Figma link ingeleverd voor deadline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334155"/>
                </a:solidFill>
                <a:latin typeface="Calibri"/>
              </a:rPr>
              <a:t>  •  Presentatie afgerond tijdens les 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6254496"/>
            <a:ext cx="10789920" cy="438912"/>
          </a:xfrm>
          <a:prstGeom prst="rect">
            <a:avLst/>
          </a:prstGeom>
          <a:solidFill>
            <a:srgbClr val="F0F4FC"/>
          </a:solidFill>
          <a:ln w="9525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6345936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3A8A"/>
                </a:solidFill>
                <a:latin typeface="Calibri"/>
              </a:rPr>
              <a:t>Lever je Figma link in via de leeromgeving  |  Deadline: einde les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Tips voor je presentatie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E11D48"/>
              </a:gs>
              <a:gs pos="100000">
                <a:srgbClr val="FB718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7"/>
                </a:solidFill>
                <a:latin typeface="Calibri"/>
              </a:rPr>
              <a:t>Hoe vertel je het verhaal achter je ontwerp?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91640"/>
            <a:ext cx="10332720" cy="749808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691640"/>
            <a:ext cx="64008" cy="749808"/>
          </a:xfrm>
          <a:prstGeom prst="rect">
            <a:avLst/>
          </a:prstGeom>
          <a:gradFill rotWithShape="1">
            <a:gsLst>
              <a:gs pos="0">
                <a:srgbClr val="E11D48"/>
              </a:gs>
              <a:gs pos="100000">
                <a:srgbClr val="FB7185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1288" y="1856232"/>
            <a:ext cx="365760" cy="36576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187452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892808"/>
            <a:ext cx="9491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4155"/>
                </a:solidFill>
                <a:latin typeface="Calibri"/>
              </a:rPr>
              <a:t>Begin met: wat is het goed doel en wie is de doelgroep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569464"/>
            <a:ext cx="10332720" cy="749808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569464"/>
            <a:ext cx="64008" cy="74980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FB7185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1288" y="2734056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275234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770632"/>
            <a:ext cx="9491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4155"/>
                </a:solidFill>
                <a:latin typeface="Calibri"/>
              </a:rPr>
              <a:t>Leg uit waarom je deze kleuren en lettertypes hebt gekozen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447288"/>
            <a:ext cx="10332720" cy="749808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447288"/>
            <a:ext cx="64008" cy="749808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FB7185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61288" y="361188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36301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648456"/>
            <a:ext cx="9491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4155"/>
                </a:solidFill>
                <a:latin typeface="Calibri"/>
              </a:rPr>
              <a:t>Wijs de designkeuzes aan op het scherm: whitespace, alignment, contrast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325112"/>
            <a:ext cx="10332720" cy="749808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325112"/>
            <a:ext cx="64008" cy="749808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100000">
                <a:srgbClr val="FB7185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61288" y="4489704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7008" y="450799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526280"/>
            <a:ext cx="9491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4155"/>
                </a:solidFill>
                <a:latin typeface="Calibri"/>
              </a:rPr>
              <a:t>Vertel wat je lastig vond en hoe je het hebt opgelost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5202936"/>
            <a:ext cx="10332720" cy="749808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5202936"/>
            <a:ext cx="64008" cy="749808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FB7185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61288" y="536752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07008" y="538581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404104"/>
            <a:ext cx="9491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4155"/>
                </a:solidFill>
                <a:latin typeface="Calibri"/>
              </a:rPr>
              <a:t>Sluit af met wat je zou verbeteren als je meer tijd had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Bronnen voor zelfstudie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E11D48"/>
              </a:gs>
              <a:gs pos="100000">
                <a:srgbClr val="FB718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7"/>
                </a:solidFill>
                <a:latin typeface="Calibri"/>
              </a:rPr>
              <a:t>Verdiep je kennis buiten de 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64208"/>
            <a:ext cx="10332720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664208"/>
            <a:ext cx="64008" cy="822960"/>
          </a:xfrm>
          <a:prstGeom prst="rect">
            <a:avLst/>
          </a:prstGeom>
          <a:gradFill rotWithShape="1">
            <a:gsLst>
              <a:gs pos="0">
                <a:srgbClr val="E11D48"/>
              </a:gs>
              <a:gs pos="100000">
                <a:srgbClr val="FB7185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81051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Refactoring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828800"/>
            <a:ext cx="5376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Praktisch boek over UI design door de makers van Tailwind 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9872" y="199339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11D48"/>
                </a:solidFill>
                <a:latin typeface="Calibri"/>
              </a:rPr>
              <a:t>refactoringui.com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578608"/>
            <a:ext cx="10332720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578608"/>
            <a:ext cx="64008" cy="82296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FB7185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72491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Figma Best Practices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743200"/>
            <a:ext cx="5376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Officiele gidsen voor components, stijlen en Auto Layout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2" y="290779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563EB"/>
                </a:solidFill>
                <a:latin typeface="Calibri"/>
              </a:rPr>
              <a:t>figma.com/best-practices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493008"/>
            <a:ext cx="10332720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493008"/>
            <a:ext cx="64008" cy="82296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100000">
                <a:srgbClr val="FB7185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63931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Nielsen Norman 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657600"/>
            <a:ext cx="5376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Onderzoeksgebaseerde UX richtlijnen en artikelen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2" y="382219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6A34A"/>
                </a:solidFill>
                <a:latin typeface="Calibri"/>
              </a:rPr>
              <a:t>nngroup.com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407408"/>
            <a:ext cx="10332720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407408"/>
            <a:ext cx="64008" cy="82296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FB7185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55371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Designprincipes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572000"/>
            <a:ext cx="5376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Overzicht van alle bekende designprincipes met uitleg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473659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C3AED"/>
                </a:solidFill>
                <a:latin typeface="Calibri"/>
              </a:rPr>
              <a:t>principles.design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5321808"/>
            <a:ext cx="10332720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5321808"/>
            <a:ext cx="64008" cy="822960"/>
          </a:xfrm>
          <a:prstGeom prst="rect">
            <a:avLst/>
          </a:prstGeom>
          <a:gradFill rotWithShape="1">
            <a:gsLst>
              <a:gs pos="0">
                <a:srgbClr val="D97706"/>
              </a:gs>
              <a:gs pos="100000">
                <a:srgbClr val="FB7185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811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Awwwards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486400"/>
            <a:ext cx="5376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Inspiratie van de beste designsites ter wereld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9872" y="565099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97706"/>
                </a:solidFill>
                <a:latin typeface="Calibri"/>
              </a:rPr>
              <a:t>awwwards.com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gradFill rotWithShape="1">
            <a:gsLst>
              <a:gs pos="0">
                <a:srgbClr val="E11D48"/>
              </a:gs>
              <a:gs pos="100000">
                <a:srgbClr val="FB7185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4C3E6"/>
                </a:solidFill>
                <a:latin typeface="Calibri"/>
              </a:rPr>
              <a:t>Volgende periode: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87552"/>
            <a:ext cx="10058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Portfolio Website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2743200" cy="73152"/>
          </a:xfrm>
          <a:prstGeom prst="rect">
            <a:avLst/>
          </a:prstGeom>
          <a:gradFill rotWithShape="1">
            <a:gsLst>
              <a:gs pos="0">
                <a:srgbClr val="E11D48"/>
              </a:gs>
              <a:gs pos="100000">
                <a:srgbClr val="FB718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920240"/>
            <a:ext cx="4754880" cy="713232"/>
          </a:xfrm>
          <a:prstGeom prst="rect">
            <a:avLst/>
          </a:prstGeom>
          <a:solidFill>
            <a:srgbClr val="14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920240"/>
            <a:ext cx="73152" cy="713232"/>
          </a:xfrm>
          <a:prstGeom prst="rect">
            <a:avLst/>
          </a:prstGeom>
          <a:gradFill rotWithShape="1">
            <a:gsLst>
              <a:gs pos="0">
                <a:srgbClr val="E11D48"/>
              </a:gs>
              <a:gs pos="100000">
                <a:srgbClr val="FB7185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" y="2185416"/>
            <a:ext cx="182880" cy="18288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103120"/>
            <a:ext cx="41330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7F0"/>
                </a:solidFill>
                <a:latin typeface="Calibri"/>
              </a:rPr>
              <a:t>Responsive design en mobile 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920240"/>
            <a:ext cx="4754880" cy="713232"/>
          </a:xfrm>
          <a:prstGeom prst="rect">
            <a:avLst/>
          </a:prstGeom>
          <a:solidFill>
            <a:srgbClr val="14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920240"/>
            <a:ext cx="73152" cy="713232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FB7185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60" y="2185416"/>
            <a:ext cx="182880" cy="1828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2103120"/>
            <a:ext cx="41330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7F0"/>
                </a:solidFill>
                <a:latin typeface="Calibri"/>
              </a:rPr>
              <a:t>JavaScript slider en interactieve elementen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779776"/>
            <a:ext cx="4754880" cy="713232"/>
          </a:xfrm>
          <a:prstGeom prst="rect">
            <a:avLst/>
          </a:prstGeom>
          <a:solidFill>
            <a:srgbClr val="14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2779776"/>
            <a:ext cx="73152" cy="713232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FB7185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43000" y="3044952"/>
            <a:ext cx="182880" cy="1828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89888" y="2962656"/>
            <a:ext cx="41330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7F0"/>
                </a:solidFill>
                <a:latin typeface="Calibri"/>
              </a:rPr>
              <a:t>About pagina en projectenpagina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779776"/>
            <a:ext cx="4754880" cy="713232"/>
          </a:xfrm>
          <a:prstGeom prst="rect">
            <a:avLst/>
          </a:prstGeom>
          <a:solidFill>
            <a:srgbClr val="14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779776"/>
            <a:ext cx="73152" cy="713232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100000">
                <a:srgbClr val="FB7185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37960" y="3044952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84848" y="2962656"/>
            <a:ext cx="41330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7F0"/>
                </a:solidFill>
                <a:latin typeface="Calibri"/>
              </a:rPr>
              <a:t>Consistent stijlsysteem over meerdere paginas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895344"/>
            <a:ext cx="10332720" cy="530352"/>
          </a:xfrm>
          <a:prstGeom prst="rect">
            <a:avLst/>
          </a:prstGeom>
          <a:solidFill>
            <a:srgbClr val="0A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005072"/>
            <a:ext cx="9966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4C3E1"/>
                </a:solidFill>
                <a:latin typeface="Calibri"/>
              </a:rPr>
              <a:t>Periode 2 start over twee weken. Bekijk alvast portfoliosites van designers voor inspiratie.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4B4C8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gradFill rotWithShape="1">
            <a:gsLst>
              <a:gs pos="0">
                <a:srgbClr val="E11D48"/>
              </a:gs>
              <a:gs pos="100000">
                <a:srgbClr val="FB7185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777240"/>
            <a:ext cx="640080" cy="64008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7120" y="1645920"/>
            <a:ext cx="365760" cy="36576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40112" y="5468112"/>
            <a:ext cx="402336" cy="402336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Gefeliciteerd!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719072"/>
            <a:ext cx="3200400" cy="91440"/>
          </a:xfrm>
          <a:prstGeom prst="rect">
            <a:avLst/>
          </a:prstGeom>
          <a:gradFill rotWithShape="1">
            <a:gsLst>
              <a:gs pos="0">
                <a:srgbClr val="E11D48"/>
              </a:gs>
              <a:gs pos="100000">
                <a:srgbClr val="FB718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B7185"/>
                </a:solidFill>
                <a:latin typeface="Calibri"/>
              </a:rPr>
              <a:t>Je eerste professionele designproject is klaar.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2633472"/>
            <a:ext cx="219456" cy="219456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542032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2DCF5"/>
                </a:solidFill>
                <a:latin typeface="Calibri"/>
              </a:rPr>
              <a:t>Je hebt ontworpen met intentie, niet toevallig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200400"/>
            <a:ext cx="219456" cy="219456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108960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2DCF5"/>
                </a:solidFill>
                <a:latin typeface="Calibri"/>
              </a:rPr>
              <a:t>Je begrijpt whitespace, typografie, kleur en componenten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767328"/>
            <a:ext cx="219456" cy="219456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675888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2DCF5"/>
                </a:solidFill>
                <a:latin typeface="Calibri"/>
              </a:rPr>
              <a:t>Je Figma skills zijn een solide basis voor alles wat volgt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983480"/>
            <a:ext cx="10332720" cy="804672"/>
          </a:xfrm>
          <a:prstGeom prst="rect">
            <a:avLst/>
          </a:prstGeom>
          <a:solidFill>
            <a:srgbClr val="0F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4983480"/>
            <a:ext cx="91440" cy="804672"/>
          </a:xfrm>
          <a:prstGeom prst="rect">
            <a:avLst/>
          </a:prstGeom>
          <a:gradFill rotWithShape="1">
            <a:gsLst>
              <a:gs pos="0">
                <a:srgbClr val="E11D48"/>
              </a:gs>
              <a:gs pos="100000">
                <a:srgbClr val="FB7185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5129784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7185"/>
                </a:solidFill>
                <a:latin typeface="Calibri"/>
              </a:rPr>
              <a:t>Vraag: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5129784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ECDEB"/>
                </a:solidFill>
                <a:latin typeface="Calibri"/>
              </a:rPr>
              <a:t>Welk principe vond jij het moeilijkst te toepassen en waarom?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4B4C8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