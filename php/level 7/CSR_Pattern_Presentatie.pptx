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Controller  –  Service  – 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Calibri"/>
              </a:rPr>
              <a:t>Een gelaagde architectuur voor PHP webapplicaties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82395" y="4206240"/>
            <a:ext cx="329184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8555" y="4206240"/>
            <a:ext cx="32918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1E293B"/>
                </a:solidFill>
                <a:latin typeface="Calibri"/>
              </a:rPr>
              <a:t>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4715" y="4206240"/>
            <a:ext cx="329184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2796" y="438912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8956" y="438912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</a:rPr>
              <a:t>CSR Pattern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 drie lagen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4114800" cy="6217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Client  (browser)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0591" y="17007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1488" y="17190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HTTP request /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20824"/>
            <a:ext cx="4114800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591" y="26700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68833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methodeaanroep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90088"/>
            <a:ext cx="4114800" cy="6217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E293B"/>
                </a:solidFill>
                <a:latin typeface="Calibri"/>
              </a:rPr>
              <a:t>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1" y="36393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365760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methodeaanroep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59352"/>
            <a:ext cx="4114800" cy="6217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1" y="46085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462686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SQL query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928616"/>
            <a:ext cx="4114800" cy="6217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1143000"/>
            <a:ext cx="201168" cy="43891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1051560"/>
            <a:ext cx="6611112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1399031"/>
            <a:ext cx="661111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Stuurt HTTP-verzoeken naar de server (browser, app, Postman...)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112264"/>
            <a:ext cx="201168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2020824"/>
            <a:ext cx="6611112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2368296"/>
            <a:ext cx="661111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Ontvangt het verzoek, valideert de input, stuurt een HTTP-response terug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3081528"/>
            <a:ext cx="201168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2990088"/>
            <a:ext cx="6611112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337560"/>
            <a:ext cx="661111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Bevat de businesslogica — de regels die gelden voor de applicatie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4050791"/>
            <a:ext cx="201168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3959352"/>
            <a:ext cx="6611112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Repository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4306824"/>
            <a:ext cx="661111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Voert SQL-queries uit en zet databaserijen om naar objecten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5020056"/>
            <a:ext cx="201168" cy="43891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2120" y="4928616"/>
            <a:ext cx="6611112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5276088"/>
            <a:ext cx="661111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Bewaart alle data persistent (MySQL, SQLite, ...)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  <a:latin typeface="Calibri"/>
              </a:rPr>
              <a:t>We beginnen met...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51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3B82F6"/>
                </a:solidFill>
                <a:latin typeface="Calibri"/>
              </a:rPr>
              <a:t>de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04288"/>
            <a:ext cx="731520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DD3FC"/>
                </a:solidFill>
                <a:latin typeface="Calibri"/>
              </a:rPr>
              <a:t>Waarom hier starten?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43200"/>
            <a:ext cx="7132320" cy="228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CBD5E0"/>
                </a:solidFill>
                <a:latin typeface="Calibri"/>
              </a:rPr>
              <a:t>→  SQL kennen jullie al  —  de Repository is het meest herkenbaar</a:t>
            </a:r>
          </a:p>
          <a:p>
            <a:pPr>
              <a:spcBef>
                <a:spcPts val="1000"/>
              </a:spcBef>
            </a:pPr>
            <a:r>
              <a:rPr sz="1600" b="0" i="0">
                <a:solidFill>
                  <a:srgbClr val="CBD5E0"/>
                </a:solidFill>
                <a:latin typeface="Calibri"/>
              </a:rPr>
              <a:t>→  Meest concreet: een databaserij wordt omgezet naar een PHP-object</a:t>
            </a:r>
          </a:p>
          <a:p>
            <a:pPr>
              <a:spcBef>
                <a:spcPts val="1000"/>
              </a:spcBef>
            </a:pPr>
            <a:r>
              <a:rPr sz="1600" b="0" i="0">
                <a:solidFill>
                  <a:srgbClr val="CBD5E0"/>
                </a:solidFill>
                <a:latin typeface="Calibri"/>
              </a:rPr>
              <a:t>→  We bouwen van beneden naar boven: data eerst, logica daarna</a:t>
            </a:r>
          </a:p>
          <a:p>
            <a:pPr>
              <a:spcBef>
                <a:spcPts val="1000"/>
              </a:spcBef>
            </a:pPr>
            <a:r>
              <a:rPr sz="1600" b="0" i="0">
                <a:solidFill>
                  <a:srgbClr val="CBD5E0"/>
                </a:solidFill>
                <a:latin typeface="Calibri"/>
              </a:rPr>
              <a:t>→  Service en Controller worden pas duidelijk als Repository bekend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097280"/>
            <a:ext cx="3383280" cy="566928"/>
          </a:xfrm>
          <a:prstGeom prst="rect">
            <a:avLst/>
          </a:prstGeom>
          <a:solidFill>
            <a:srgbClr val="1C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6B7280"/>
                </a:solidFill>
                <a:latin typeface="Calibri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04120" y="1700784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C4E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938528"/>
            <a:ext cx="3383280" cy="566928"/>
          </a:xfrm>
          <a:prstGeom prst="rect">
            <a:avLst/>
          </a:prstGeom>
          <a:solidFill>
            <a:srgbClr val="1C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6B7280"/>
                </a:solidFill>
                <a:latin typeface="Calibri"/>
              </a:rPr>
              <a:t>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4120" y="2542032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C4E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779776"/>
            <a:ext cx="3383280" cy="566928"/>
          </a:xfrm>
          <a:prstGeom prst="rect">
            <a:avLst/>
          </a:prstGeom>
          <a:solidFill>
            <a:srgbClr val="1C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6B7280"/>
                </a:solidFill>
                <a:latin typeface="Calibri"/>
              </a:rPr>
              <a:t>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3383280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3621024"/>
            <a:ext cx="3383280" cy="5669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120" y="4224528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C4E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462272"/>
            <a:ext cx="3383280" cy="566928"/>
          </a:xfrm>
          <a:prstGeom prst="rect">
            <a:avLst/>
          </a:prstGeom>
          <a:solidFill>
            <a:srgbClr val="1C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6B7280"/>
                </a:solidFill>
                <a:latin typeface="Calibri"/>
              </a:rPr>
              <a:t>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E"/>
                </a:solidFill>
                <a:latin typeface="Calibri"/>
              </a:rPr>
              <a:t>Datalaag  —  de enige plek waar SQL staat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37160"/>
            <a:ext cx="804672" cy="3840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06456" y="137160"/>
            <a:ext cx="804672" cy="3840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65992" y="137160"/>
            <a:ext cx="804672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5440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Calibri"/>
              </a:rPr>
              <a:t>Verantwoordelijkheid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530352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 i="0">
                <a:solidFill>
                  <a:srgbClr val="1E293B"/>
                </a:solidFill>
                <a:latin typeface="Calibri"/>
              </a:rPr>
              <a:t>• Alle SQL uitvoeren (SELECT, INSERT, UPDATE, DELETE)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1E293B"/>
                </a:solidFill>
                <a:latin typeface="Calibri"/>
              </a:rPr>
              <a:t>• Rijen ophalen en omzetten naar PHP-objecten (hydration)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1E293B"/>
                </a:solidFill>
                <a:latin typeface="Calibri"/>
              </a:rPr>
              <a:t>• findAll()  ·  findById()  ·  save()  ·  delete()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1E293B"/>
                </a:solidFill>
                <a:latin typeface="Calibri"/>
              </a:rPr>
              <a:t>• De PDO-verbinding gebruiken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07792"/>
            <a:ext cx="5440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7A55"/>
                </a:solidFill>
                <a:latin typeface="Calibri"/>
              </a:rPr>
              <a:t>Wat hoort WEL hier?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55264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 i="0">
                <a:solidFill>
                  <a:srgbClr val="057A55"/>
                </a:solidFill>
                <a:latin typeface="Calibri"/>
              </a:rPr>
              <a:t>✓  hydrate(array $row): Message  →  row omzetten naar object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057A55"/>
                </a:solidFill>
                <a:latin typeface="Calibri"/>
              </a:rPr>
              <a:t>✓  PDO::prepare() en execute()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057A55"/>
                </a:solidFill>
                <a:latin typeface="Calibri"/>
              </a:rPr>
              <a:t>✓  lastInsertId() bij INSERT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352544"/>
            <a:ext cx="5440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91C1C"/>
                </a:solidFill>
                <a:latin typeface="Calibri"/>
              </a:rPr>
              <a:t>Wat hoort NIET hier?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0016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 i="0">
                <a:solidFill>
                  <a:srgbClr val="B91C1C"/>
                </a:solidFill>
                <a:latin typeface="Calibri"/>
              </a:rPr>
              <a:t>✗  Business rules  ("mag de user dit?")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B91C1C"/>
                </a:solidFill>
                <a:latin typeface="Calibri"/>
              </a:rPr>
              <a:t>✗  Inputvalidatie  ("is dit veld ingevuld?")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B91C1C"/>
                </a:solidFill>
                <a:latin typeface="Calibri"/>
              </a:rPr>
              <a:t>✗  HTTP-statuscodes of JSON-responses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51560"/>
            <a:ext cx="5943600" cy="5623560"/>
          </a:xfrm>
          <a:prstGeom prst="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1" y="1234439"/>
            <a:ext cx="5623560" cy="5303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// MessageRepository.php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public function findAll(): array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$stmt = $this-&gt;pdo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-&gt;prepare("SELECT * FROM messages");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$stmt-&gt;execute();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$rows = $stmt-&gt;fetchAll();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// Zet elke row om naar een Message-object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return array_map($this-&gt;hydrate(...), $rows);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private function hydrate(array $row): Message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return new Message(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id:        (int) $row['id'],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message:   $row['message'],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timestamp: new DateTimeImmutable(),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userId:    (int) $row['user_id']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);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Repository — Hydration &amp; Domain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E"/>
                </a:solidFill>
                <a:latin typeface="Calibri"/>
              </a:rPr>
              <a:t>Waarom geeft de Repository objecten terug en geen arrays?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37160"/>
            <a:ext cx="804672" cy="3840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06456" y="137160"/>
            <a:ext cx="804672" cy="3840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65992" y="137160"/>
            <a:ext cx="804672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52120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Calibri"/>
              </a:rPr>
              <a:t>Wat is hydration?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26464"/>
            <a:ext cx="5212080" cy="91440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49834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Een databaserij is een associatieve array: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49834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Consolas"/>
              </a:rPr>
              <a:t>['id'=&gt;1,  'message'=&gt;'Hallo!',  'user_id'=&gt;3]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29968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Hydration = die array omzetten naar een getypeerd PHP-object.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487168"/>
            <a:ext cx="52120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Calibri"/>
              </a:rPr>
              <a:t>Waarom Domain Objects en geen arrays?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52928"/>
            <a:ext cx="5074920" cy="19385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0" i="0">
                <a:solidFill>
                  <a:srgbClr val="1E293B"/>
                </a:solidFill>
                <a:latin typeface="Calibri"/>
              </a:rPr>
              <a:t>✓  Type safety  —  $msg-&gt;message  vs  $row['mesage']  (typo!)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1E293B"/>
                </a:solidFill>
                <a:latin typeface="Calibri"/>
              </a:rPr>
              <a:t>✓  IDE-autocomplete en type hints per property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1E293B"/>
                </a:solidFill>
                <a:latin typeface="Calibri"/>
              </a:rPr>
              <a:t>✓  Encapsulatie: service / controller weet niet hoe de DB eruitziet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1E293B"/>
                </a:solidFill>
                <a:latin typeface="Calibri"/>
              </a:rPr>
              <a:t>✓  Kolomnaam wijzigt? Alleen de Repository en het model aanpassen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1E293B"/>
                </a:solidFill>
                <a:latin typeface="Calibri"/>
              </a:rPr>
              <a:t>✓  Methoden op object mogelijk: $msg-&gt;isOwnedBy($user)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892040"/>
            <a:ext cx="5212080" cy="41148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46904"/>
            <a:ext cx="498348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Calibri"/>
              </a:rPr>
              <a:t>Gouden regel:  alleen de Repository kent de databasestructuur.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078992"/>
            <a:ext cx="6172200" cy="320040"/>
          </a:xfrm>
          <a:prstGeom prst="rect">
            <a:avLst/>
          </a:prstGeom>
          <a:solidFill>
            <a:srgbClr val="FFECEC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88736" y="109728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Calibri"/>
              </a:rPr>
              <a:t>Zonder hydration — kwetsbaar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399032"/>
            <a:ext cx="6172200" cy="1463040"/>
          </a:xfrm>
          <a:prstGeom prst="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25312" y="1581912"/>
            <a:ext cx="5852160" cy="1143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>$rows = $stmt-&gt;fetchAll();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>// Typo  →  PHP geeft géén foutmelding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>echo $rows[0]['mesage'];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>// Wat voor type is dit?  int?  string?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>echo $rows[0]['timestamp'];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953512"/>
            <a:ext cx="6172200" cy="320040"/>
          </a:xfrm>
          <a:prstGeom prst="rect">
            <a:avLst/>
          </a:prstGeom>
          <a:solidFill>
            <a:srgbClr val="ECFFEC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88736" y="2971800"/>
            <a:ext cx="5971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7A55"/>
                </a:solidFill>
                <a:latin typeface="Calibri"/>
              </a:rPr>
              <a:t>Met hydration — veilig en duidelijk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3273552"/>
            <a:ext cx="6172200" cy="2487168"/>
          </a:xfrm>
          <a:prstGeom prst="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3456432"/>
            <a:ext cx="5852160" cy="216712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>$messages = $this-&gt;repository-&gt;findAll();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>// IDE-autocomplete  +  volledig type-safe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>echo $messages[0]-&gt;message;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>// Altijd een DateTimeImmutable  —  nooit raden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>echo $messages[0]-&gt;timestamp-&gt;format('d-m-Y H:i');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>// Methoden op het object zijn mogelijk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E2E8F0"/>
                </a:solidFill>
                <a:latin typeface="Consolas"/>
              </a:rPr>
              <a:t>if ($message-&gt;isOwnedBy($currentUser)) { ...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Calibri"/>
              </a:rPr>
              <a:t>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83500"/>
                </a:solidFill>
                <a:latin typeface="Calibri"/>
              </a:rPr>
              <a:t>Businesslogica-laag  —  de regels van de applicatie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37160"/>
            <a:ext cx="804672" cy="3840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06456" y="137160"/>
            <a:ext cx="804672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65992" y="137160"/>
            <a:ext cx="804672" cy="3840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5440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83500"/>
                </a:solidFill>
                <a:latin typeface="Calibri"/>
              </a:rPr>
              <a:t>Verantwoordelijkheid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530352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 i="0">
                <a:solidFill>
                  <a:srgbClr val="1E293B"/>
                </a:solidFill>
                <a:latin typeface="Calibri"/>
              </a:rPr>
              <a:t>• Bevat de businesslogica van de applicatie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1E293B"/>
                </a:solidFill>
                <a:latin typeface="Calibri"/>
              </a:rPr>
              <a:t>• Stelt regels vast: "mag dit? klopt dit logisch?"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1E293B"/>
                </a:solidFill>
                <a:latin typeface="Calibri"/>
              </a:rPr>
              <a:t>• Coördineert aanroepen naar de repository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1E293B"/>
                </a:solidFill>
                <a:latin typeface="Calibri"/>
              </a:rPr>
              <a:t>• Geeft het resultaat terug aan de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07792"/>
            <a:ext cx="5440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7A55"/>
                </a:solidFill>
                <a:latin typeface="Calibri"/>
              </a:rPr>
              <a:t>Wat hoort WEL hier?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55264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 i="0">
                <a:solidFill>
                  <a:srgbClr val="057A55"/>
                </a:solidFill>
                <a:latin typeface="Calibri"/>
              </a:rPr>
              <a:t>✓  Autorisatiecheck  ("is dit jouw bericht?")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057A55"/>
                </a:solidFill>
                <a:latin typeface="Calibri"/>
              </a:rPr>
              <a:t>✓  password_hash()  —  business rule, niet opslag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057A55"/>
                </a:solidFill>
                <a:latin typeface="Calibri"/>
              </a:rPr>
              <a:t>✓  Aanroepen van repository-methoden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352544"/>
            <a:ext cx="5440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91C1C"/>
                </a:solidFill>
                <a:latin typeface="Calibri"/>
              </a:rPr>
              <a:t>Wat hoort NIET hier?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0016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 i="0">
                <a:solidFill>
                  <a:srgbClr val="B91C1C"/>
                </a:solidFill>
                <a:latin typeface="Calibri"/>
              </a:rPr>
              <a:t>✗  SQL-queries  (dat doet de repository)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B91C1C"/>
                </a:solidFill>
                <a:latin typeface="Calibri"/>
              </a:rPr>
              <a:t>✗  HTTP-statuscodes of json_encode()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B91C1C"/>
                </a:solidFill>
                <a:latin typeface="Calibri"/>
              </a:rPr>
              <a:t>✗  Directe inputvalidatie van raw user-input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51560"/>
            <a:ext cx="5943600" cy="5623560"/>
          </a:xfrm>
          <a:prstGeom prst="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1" y="1234439"/>
            <a:ext cx="5623560" cy="5303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// MessageService.php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public function delete(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int $id,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User $currentUser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): void {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// Repository haalt het bericht op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$msg = $this-&gt;repository-&gt;findById($id)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?? throw new RuntimeException(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       'Bericht niet gevonden', 404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   );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// Business rule: alleen eigenaar mag verwijderen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if ($msg-&gt;userId !== $currentUser-&gt;id)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throw new RuntimeException(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    'Niet jouw bericht!', 403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);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$this-&gt;repository-&gt;delete($id);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F3D0"/>
                </a:solidFill>
                <a:latin typeface="Calibri"/>
              </a:rPr>
              <a:t>HTTP-laag  —  het contactpunt met de buitenwereld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37160"/>
            <a:ext cx="804672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06456" y="137160"/>
            <a:ext cx="804672" cy="3840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65992" y="137160"/>
            <a:ext cx="804672" cy="3840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5440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73D"/>
                </a:solidFill>
                <a:latin typeface="Calibri"/>
              </a:rPr>
              <a:t>Verantwoordelijkheid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530352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 i="0">
                <a:solidFill>
                  <a:srgbClr val="1E293B"/>
                </a:solidFill>
                <a:latin typeface="Calibri"/>
              </a:rPr>
              <a:t>• Ontvangt het HTTP-verzoek (GET, POST, PUT, DELETE)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1E293B"/>
                </a:solidFill>
                <a:latin typeface="Calibri"/>
              </a:rPr>
              <a:t>• Leest de input (body, URL-parameters, querystring)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1E293B"/>
                </a:solidFill>
                <a:latin typeface="Calibri"/>
              </a:rPr>
              <a:t>• Valideert de invoer (lengte, verplicht veld, format)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1E293B"/>
                </a:solidFill>
                <a:latin typeface="Calibri"/>
              </a:rPr>
              <a:t>• Roept de juiste service-methode aan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1E293B"/>
                </a:solidFill>
                <a:latin typeface="Calibri"/>
              </a:rPr>
              <a:t>• Stuurt een HTTP-response terug (JSON + statuscode)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182112"/>
            <a:ext cx="5440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7A55"/>
                </a:solidFill>
                <a:latin typeface="Calibri"/>
              </a:rPr>
              <a:t>Wat hoort WEL hier?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29584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 i="0">
                <a:solidFill>
                  <a:srgbClr val="057A55"/>
                </a:solidFill>
                <a:latin typeface="Calibri"/>
              </a:rPr>
              <a:t>✓  Inputvalidatie  ("is het veld leeg? juiste lengte?")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057A55"/>
                </a:solidFill>
                <a:latin typeface="Calibri"/>
              </a:rPr>
              <a:t>✓  HTTP-statuscodes  (200, 201, 404, 422 ...)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057A55"/>
                </a:solidFill>
                <a:latin typeface="Calibri"/>
              </a:rPr>
              <a:t>✓  json_encode() en headers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626864"/>
            <a:ext cx="5440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91C1C"/>
                </a:solidFill>
                <a:latin typeface="Calibri"/>
              </a:rPr>
              <a:t>Wat hoort NIET hier?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974336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 i="0">
                <a:solidFill>
                  <a:srgbClr val="B91C1C"/>
                </a:solidFill>
                <a:latin typeface="Calibri"/>
              </a:rPr>
              <a:t>✗  SQL-queries of database-aanroepen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B91C1C"/>
                </a:solidFill>
                <a:latin typeface="Calibri"/>
              </a:rPr>
              <a:t>✗  Business rules  ("mag dit?", "klopt dit logisch?")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B91C1C"/>
                </a:solidFill>
                <a:latin typeface="Calibri"/>
              </a:rPr>
              <a:t>✗  Password hashing of andere domain logic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51560"/>
            <a:ext cx="5943600" cy="5623560"/>
          </a:xfrm>
          <a:prstGeom prst="rect">
            <a:avLst/>
          </a:prstGeom>
          <a:solidFill>
            <a:srgbClr val="1A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1" y="1234439"/>
            <a:ext cx="5623560" cy="5303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// MessageController.php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public function store(array $body): void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// 1. Valideer de invoer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$error = $this-&gt;validateMessage($body);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if ($error) {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$this-&gt;json(['error' =&gt; $error], 422);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return;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// 2. Service aanroepen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$now = new DateTimeImmutable();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$msg = $this-&gt;messageService-&gt;create(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    $body['message'], $now, $currentUser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);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// 3. HTTP-response sturen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    $this-&gt;json($msg, 201);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Samenwerking: POST /messages  (bericht plaatsen)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100" y="987552"/>
            <a:ext cx="192024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1.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1444752"/>
            <a:ext cx="1920240" cy="914400"/>
          </a:xfrm>
          <a:prstGeom prst="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" y="1536192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Stuurt POST
/messages met
berichttekst als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34056" y="1078992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67228" y="987552"/>
            <a:ext cx="19202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2. Controller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967228" y="1444752"/>
            <a:ext cx="1920240" cy="914400"/>
          </a:xfrm>
          <a:prstGeom prst="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8668" y="1536192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Valideert invoer
Roept messageService
.create() 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4" y="1078992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4356" y="987552"/>
            <a:ext cx="19202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E293B"/>
                </a:solidFill>
                <a:latin typeface="Calibri"/>
              </a:rPr>
              <a:t>3.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34356" y="1444752"/>
            <a:ext cx="1920240" cy="914400"/>
          </a:xfrm>
          <a:prstGeom prst="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5796" y="1536192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Controleert:
is user ingelogd?
Mag dit?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1078992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1484" y="987552"/>
            <a:ext cx="19202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4. Repository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1484" y="1444752"/>
            <a:ext cx="1920240" cy="914400"/>
          </a:xfrm>
          <a:prstGeom prst="rect">
            <a:avLst/>
          </a:prstGeom>
          <a:solidFill>
            <a:srgbClr val="F1F5F9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2924" y="1536192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Voert INSERT
INTO messages
uit via PDO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078992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8612" y="987552"/>
            <a:ext cx="192024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5. Database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8612" y="1444752"/>
            <a:ext cx="1920240" cy="914400"/>
          </a:xfrm>
          <a:prstGeom prst="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60052" y="1536192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Bewaart de
rij en geeft
lastInsertId terug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5420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  <a:latin typeface="Calibri"/>
              </a:rPr>
              <a:t>Response terugsturen (omgekeerd):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" y="2907792"/>
            <a:ext cx="1920240" cy="42062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" y="3328416"/>
            <a:ext cx="1920240" cy="621792"/>
          </a:xfrm>
          <a:prstGeom prst="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" y="3383280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Geeft rij terug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4056" y="2980944"/>
            <a:ext cx="256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67228" y="2907792"/>
            <a:ext cx="1920240" cy="4206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67228" y="3328416"/>
            <a:ext cx="1920240" cy="621792"/>
          </a:xfrm>
          <a:prstGeom prst="rect">
            <a:avLst/>
          </a:prstGeom>
          <a:solidFill>
            <a:srgbClr val="F1F5F9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8668" y="3383280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hydrate() →
Message object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1184" y="2980944"/>
            <a:ext cx="256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34356" y="2907792"/>
            <a:ext cx="1920240" cy="4206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"/>
              </a:rPr>
              <a:t>Service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34356" y="3328416"/>
            <a:ext cx="1920240" cy="621792"/>
          </a:xfrm>
          <a:prstGeom prst="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25796" y="3383280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Geeft Message
object terug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8312" y="2980944"/>
            <a:ext cx="256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01484" y="2907792"/>
            <a:ext cx="1920240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Controller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01484" y="3328416"/>
            <a:ext cx="1920240" cy="621792"/>
          </a:xfrm>
          <a:prstGeom prst="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92924" y="3383280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json_encode() +
status 201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2980944"/>
            <a:ext cx="25603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68612" y="2907792"/>
            <a:ext cx="1920240" cy="42062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68612" y="3328416"/>
            <a:ext cx="1920240" cy="621792"/>
          </a:xfrm>
          <a:prstGeom prst="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60052" y="3383280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Ontvangt JSON
met nieuw bericht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224528"/>
            <a:ext cx="11457432" cy="640080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4315968"/>
            <a:ext cx="11000232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5385"/>
                </a:solidFill>
                <a:latin typeface="Calibri"/>
              </a:rPr>
              <a:t>Elke laag kent alleen zijn buren.  De Controller kent geen SQL.  De Repository weet niets van HTTP.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047488"/>
            <a:ext cx="1145743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Controller  →  roept aan  →  Service  →  roept aan  →  Repository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Samenvatting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9264"/>
            <a:ext cx="182880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Laag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0280" y="969264"/>
            <a:ext cx="356616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Verantwoordelijkheid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969264"/>
            <a:ext cx="301752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Weet van...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6840" y="969264"/>
            <a:ext cx="292608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Weet NIET van...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1828800" cy="14173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164592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94767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Controller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444752"/>
            <a:ext cx="3566160" cy="14173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0008" y="1609344"/>
            <a:ext cx="3364991" cy="11612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HTTP-verzoek ontvangen, invoer valideren, JSON-response sturen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1444752"/>
            <a:ext cx="3017520" cy="141732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07608" y="1609344"/>
            <a:ext cx="2816351" cy="11612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57A55"/>
                </a:solidFill>
                <a:latin typeface="Calibri"/>
              </a:rPr>
              <a:t>✓  GET / POST / PUT / DELETE, status codes, json_encode()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444752"/>
            <a:ext cx="2926080" cy="1417320"/>
          </a:xfrm>
          <a:prstGeom prst="rect">
            <a:avLst/>
          </a:prstGeom>
          <a:solidFill>
            <a:srgbClr val="FFF1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7" y="1609344"/>
            <a:ext cx="2724912" cy="11612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91C1C"/>
                </a:solidFill>
                <a:latin typeface="Calibri"/>
              </a:rPr>
              <a:t>✗  SQL, business rules, password hashing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26080"/>
            <a:ext cx="1828800" cy="14173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16459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42900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2926080"/>
            <a:ext cx="3566160" cy="14173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0008" y="3090672"/>
            <a:ext cx="3364991" cy="11612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Businesslogica en domain rules uitvoeren, aanroepen van repository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97880" y="2926080"/>
            <a:ext cx="3017520" cy="141732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7608" y="3090672"/>
            <a:ext cx="2816351" cy="11612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57A55"/>
                </a:solidFill>
                <a:latin typeface="Calibri"/>
              </a:rPr>
              <a:t>✓  PHP-objecten, autorisatieregels, domain logic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2926080"/>
            <a:ext cx="2926080" cy="1417320"/>
          </a:xfrm>
          <a:prstGeom prst="rect">
            <a:avLst/>
          </a:prstGeom>
          <a:solidFill>
            <a:srgbClr val="FFF1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6567" y="3090672"/>
            <a:ext cx="2724912" cy="11612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91C1C"/>
                </a:solidFill>
                <a:latin typeface="Calibri"/>
              </a:rPr>
              <a:t>✗  SQL, HTTP, status codes, json_encode()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07408"/>
            <a:ext cx="1828800" cy="1417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407408"/>
            <a:ext cx="164592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4910328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Calibri"/>
              </a:rPr>
              <a:t>Repository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80" y="4407408"/>
            <a:ext cx="3566160" cy="141732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50008" y="4572000"/>
            <a:ext cx="3364991" cy="11612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SQL-queries uitvoeren, rijen ophalen en omzetten naar objecten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97880" y="4407408"/>
            <a:ext cx="3017520" cy="141732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07608" y="4572000"/>
            <a:ext cx="2816351" cy="11612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57A55"/>
                </a:solidFill>
                <a:latin typeface="Calibri"/>
              </a:rPr>
              <a:t>✓  Database, PDO, SQL, hydration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4407408"/>
            <a:ext cx="2926080" cy="1417320"/>
          </a:xfrm>
          <a:prstGeom prst="rect">
            <a:avLst/>
          </a:prstGeom>
          <a:solidFill>
            <a:srgbClr val="FFF1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16567" y="4572000"/>
            <a:ext cx="2724912" cy="11612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91C1C"/>
                </a:solidFill>
                <a:latin typeface="Calibri"/>
              </a:rPr>
              <a:t>✗  HTTP, business rules, inputvalidatie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236208"/>
            <a:ext cx="11548872" cy="475488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91072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75385"/>
                </a:solidFill>
                <a:latin typeface="Calibri"/>
              </a:rPr>
              <a:t>Separation of Concerns  —  één verantwoordelijkheid per laag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Cheatsheet  —  Controller · Service ·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02336"/>
            <a:ext cx="114300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Eén verantwoordelijkheid per laag  ·  Separation of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"/>
            <a:ext cx="3749039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7132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07008"/>
            <a:ext cx="3584447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73D"/>
                </a:solidFill>
                <a:latin typeface="Calibri"/>
              </a:rPr>
              <a:t>Taak: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417320"/>
            <a:ext cx="3584447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HTTP-verzoeken ontvangen en responses sturen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3749039" cy="274320"/>
          </a:xfrm>
          <a:prstGeom prst="rect">
            <a:avLst/>
          </a:prstGeom>
          <a:solidFill>
            <a:srgbClr val="F0FDF4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38528"/>
            <a:ext cx="3611879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7A55"/>
                </a:solidFill>
                <a:latin typeface="Calibri"/>
              </a:rPr>
              <a:t>✓  Hoort WEL hier: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2212848"/>
            <a:ext cx="3547871" cy="1481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 i="0">
                <a:solidFill>
                  <a:srgbClr val="1E293B"/>
                </a:solidFill>
                <a:latin typeface="Calibri"/>
              </a:rPr>
              <a:t>→  Invoer valideren (lengte, verplicht veld...)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E293B"/>
                </a:solidFill>
                <a:latin typeface="Calibri"/>
              </a:rPr>
              <a:t>→  HTTP status codes (200, 201, 404, 422...)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E293B"/>
                </a:solidFill>
                <a:latin typeface="Calibri"/>
              </a:rPr>
              <a:t>→  json_encode() + Content-Type header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E293B"/>
                </a:solidFill>
                <a:latin typeface="Calibri"/>
              </a:rPr>
              <a:t>→  Service-methode aanroepen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E293B"/>
                </a:solidFill>
                <a:latin typeface="Calibri"/>
              </a:rPr>
              <a:t>→  Request body en URL-params inlezen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21608"/>
            <a:ext cx="3749039" cy="274320"/>
          </a:xfrm>
          <a:prstGeom prst="rect">
            <a:avLst/>
          </a:prstGeom>
          <a:solidFill>
            <a:srgbClr val="FFF1F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39896"/>
            <a:ext cx="3611879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  <a:latin typeface="Calibri"/>
              </a:rPr>
              <a:t>✗  Hoort NIET hier: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4014215"/>
            <a:ext cx="3547871" cy="11704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 i="0">
                <a:solidFill>
                  <a:srgbClr val="B91C1C"/>
                </a:solidFill>
                <a:latin typeface="Calibri"/>
              </a:rPr>
              <a:t>→  SQL of database-aanroepen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91C1C"/>
                </a:solidFill>
                <a:latin typeface="Calibri"/>
              </a:rPr>
              <a:t>→  Business rules  ("mag dit?")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91C1C"/>
                </a:solidFill>
                <a:latin typeface="Calibri"/>
              </a:rPr>
              <a:t>→  Password hashing of domain logic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91C1C"/>
                </a:solidFill>
                <a:latin typeface="Calibri"/>
              </a:rPr>
              <a:t>→  Aanroepen van de repository direct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7" y="621792"/>
            <a:ext cx="3749039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1E293B"/>
                </a:solidFill>
                <a:latin typeface="Calibri"/>
              </a:rPr>
              <a:t>Service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7" y="1188720"/>
            <a:ext cx="3749039" cy="71323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5" y="1207008"/>
            <a:ext cx="3584447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3500"/>
                </a:solidFill>
                <a:latin typeface="Calibri"/>
              </a:rPr>
              <a:t>Taak: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5" y="1417320"/>
            <a:ext cx="3584447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Businesslogica en domain rules uitvoeren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7" y="1920240"/>
            <a:ext cx="3749039" cy="274320"/>
          </a:xfrm>
          <a:prstGeom prst="rect">
            <a:avLst/>
          </a:prstGeom>
          <a:solidFill>
            <a:srgbClr val="F0FDF4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7" y="1938528"/>
            <a:ext cx="3611879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7A55"/>
                </a:solidFill>
                <a:latin typeface="Calibri"/>
              </a:rPr>
              <a:t>✓  Hoort WEL hier: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3" y="2212848"/>
            <a:ext cx="3547871" cy="1481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 i="0">
                <a:solidFill>
                  <a:srgbClr val="1E293B"/>
                </a:solidFill>
                <a:latin typeface="Calibri"/>
              </a:rPr>
              <a:t>→  Autorisatiecheck  ("is dit jouw item?")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E293B"/>
                </a:solidFill>
                <a:latin typeface="Calibri"/>
              </a:rPr>
              <a:t>→  password_hash() / password_verify()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E293B"/>
                </a:solidFill>
                <a:latin typeface="Calibri"/>
              </a:rPr>
              <a:t>→  Domain rules en business logic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E293B"/>
                </a:solidFill>
                <a:latin typeface="Calibri"/>
              </a:rPr>
              <a:t>→  Repository-methoden aanroepen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4527" y="3721608"/>
            <a:ext cx="3749039" cy="274320"/>
          </a:xfrm>
          <a:prstGeom prst="rect">
            <a:avLst/>
          </a:prstGeom>
          <a:solidFill>
            <a:srgbClr val="FFF1F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7" y="3739896"/>
            <a:ext cx="3611879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  <a:latin typeface="Calibri"/>
              </a:rPr>
              <a:t>✗  Hoort NIET hier: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3" y="4014215"/>
            <a:ext cx="3547871" cy="11704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 i="0">
                <a:solidFill>
                  <a:srgbClr val="B91C1C"/>
                </a:solidFill>
                <a:latin typeface="Calibri"/>
              </a:rPr>
              <a:t>→  SQL of directe database-toegang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91C1C"/>
                </a:solidFill>
                <a:latin typeface="Calibri"/>
              </a:rPr>
              <a:t>→  HTTP status codes of headers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91C1C"/>
                </a:solidFill>
                <a:latin typeface="Calibri"/>
              </a:rPr>
              <a:t>→  json_encode()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91C1C"/>
                </a:solidFill>
                <a:latin typeface="Calibri"/>
              </a:rPr>
              <a:t>→  Raw userinput valideren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6" y="621792"/>
            <a:ext cx="3749039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74736" y="1188720"/>
            <a:ext cx="3749039" cy="7132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3" y="1207008"/>
            <a:ext cx="3584447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Taak: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1417320"/>
            <a:ext cx="3584447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SQL uitvoeren en rijen omzetten naar objecten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74736" y="1920240"/>
            <a:ext cx="3749039" cy="274320"/>
          </a:xfrm>
          <a:prstGeom prst="rect">
            <a:avLst/>
          </a:prstGeom>
          <a:solidFill>
            <a:srgbClr val="F0FDF4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6175" y="1938528"/>
            <a:ext cx="3611879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7A55"/>
                </a:solidFill>
                <a:latin typeface="Calibri"/>
              </a:rPr>
              <a:t>✓  Hoort WEL hier: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2212848"/>
            <a:ext cx="3547871" cy="1481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 i="0">
                <a:solidFill>
                  <a:srgbClr val="1E293B"/>
                </a:solidFill>
                <a:latin typeface="Calibri"/>
              </a:rPr>
              <a:t>→  SELECT / INSERT / UPDATE / DELETE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E293B"/>
                </a:solidFill>
                <a:latin typeface="Calibri"/>
              </a:rPr>
              <a:t>→  hydrate(array $row): DomainObject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E293B"/>
                </a:solidFill>
                <a:latin typeface="Calibri"/>
              </a:rPr>
              <a:t>→  findAll() · findById() · save() · delete()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E293B"/>
                </a:solidFill>
                <a:latin typeface="Calibri"/>
              </a:rPr>
              <a:t>→  PDO, prepare(), execute(), lastInsertId()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74736" y="3721608"/>
            <a:ext cx="3749039" cy="274320"/>
          </a:xfrm>
          <a:prstGeom prst="rect">
            <a:avLst/>
          </a:prstGeom>
          <a:solidFill>
            <a:srgbClr val="FFF1F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66175" y="3739896"/>
            <a:ext cx="3611879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  <a:latin typeface="Calibri"/>
              </a:rPr>
              <a:t>✗  Hoort NIET hier: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14215"/>
            <a:ext cx="3547871" cy="11704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 i="0">
                <a:solidFill>
                  <a:srgbClr val="B91C1C"/>
                </a:solidFill>
                <a:latin typeface="Calibri"/>
              </a:rPr>
              <a:t>→  Business rules of autorisatie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91C1C"/>
                </a:solidFill>
                <a:latin typeface="Calibri"/>
              </a:rPr>
              <a:t>→  HTTP status codes of JSON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91C1C"/>
                </a:solidFill>
                <a:latin typeface="Calibri"/>
              </a:rPr>
              <a:t>→  Inputvalidatie van userinput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91C1C"/>
                </a:solidFill>
                <a:latin typeface="Calibri"/>
              </a:rPr>
              <a:t>→  Aanroepen van services of controllers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239512"/>
            <a:ext cx="11640312" cy="18288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531266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Data flow: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4891" y="5312664"/>
            <a:ext cx="1005840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6452" y="534009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18204" y="5312664"/>
            <a:ext cx="1325880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Controller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9804" y="534009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91556" y="5312664"/>
            <a:ext cx="10058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Service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43116" y="534009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4868" y="5312664"/>
            <a:ext cx="1325880" cy="3291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6468" y="534009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18220" y="5312664"/>
            <a:ext cx="1005840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742432"/>
            <a:ext cx="11640312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581558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Calibri"/>
              </a:rPr>
              <a:t>Hydration: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815584"/>
            <a:ext cx="1026871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de Repository zet elke databaserij om naar een Domain Object (Message, User, ...).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" y="608990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Calibri"/>
              </a:rPr>
              <a:t>Gouden regel: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00200" y="6089904"/>
            <a:ext cx="1026871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alleen de Repository weet hoe de databasetabel eruitziet — service en controller werken uitsluitend met objecten.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